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B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2B8A6"/>
          </a:solidFill>
          <a:ln w="12700">
            <a:solidFill>
              <a:srgbClr val="12B8A6"/>
            </a:solidFill>
            <a:prstDash val="solid"/>
          </a:ln>
        </p:spPr>
      </p:sp>
      <p:sp>
        <p:nvSpPr>
          <p:cNvPr id="3" name="Text 1"/>
          <p:cNvSpPr/>
          <p:nvPr/>
        </p:nvSpPr>
        <p:spPr>
          <a:xfrm>
            <a:off x="411480" y="137160"/>
            <a:ext cx="2011680" cy="228600"/>
          </a:xfrm>
          <a:prstGeom prst="rect">
            <a:avLst/>
          </a:prstGeom>
          <a:noFill/>
          <a:ln/>
        </p:spPr>
        <p:txBody>
          <a:bodyPr wrap="square" lIns="0" tIns="0" rIns="0" bIns="0" rtlCol="0" anchor="ctr"/>
          <a:lstStyle/>
          <a:p>
            <a:pPr indent="0" marL="0">
              <a:buNone/>
            </a:pPr>
            <a:r>
              <a:rPr lang="en-US" sz="900" b="1" spc="140" kern="0" dirty="0">
                <a:solidFill>
                  <a:srgbClr val="0B4F5C"/>
                </a:solidFill>
                <a:latin typeface="Noto Sans" pitchFamily="34" charset="0"/>
                <a:ea typeface="Noto Sans" pitchFamily="34" charset="-122"/>
                <a:cs typeface="Noto Sans" pitchFamily="34" charset="-120"/>
              </a:rPr>
              <a:t>HEALTHVIBE AI</a:t>
            </a:r>
            <a:endParaRPr lang="en-US" sz="900" dirty="0"/>
          </a:p>
        </p:txBody>
      </p:sp>
      <p:sp>
        <p:nvSpPr>
          <p:cNvPr id="4" name="Text 2"/>
          <p:cNvSpPr/>
          <p:nvPr/>
        </p:nvSpPr>
        <p:spPr>
          <a:xfrm>
            <a:off x="7955280" y="137160"/>
            <a:ext cx="3794760" cy="228600"/>
          </a:xfrm>
          <a:prstGeom prst="rect">
            <a:avLst/>
          </a:prstGeom>
          <a:noFill/>
          <a:ln/>
        </p:spPr>
        <p:txBody>
          <a:bodyPr wrap="square" lIns="0" tIns="0" rIns="0" bIns="0" rtlCol="0" anchor="ctr"/>
          <a:lstStyle/>
          <a:p>
            <a:pPr algn="r" indent="0" marL="0">
              <a:buNone/>
            </a:pPr>
            <a:r>
              <a:rPr lang="en-US" sz="850" dirty="0">
                <a:solidFill>
                  <a:srgbClr val="6B7C93"/>
                </a:solidFill>
                <a:latin typeface="Noto Sans" pitchFamily="34" charset="0"/>
                <a:ea typeface="Noto Sans" pitchFamily="34" charset="-122"/>
                <a:cs typeface="Noto Sans" pitchFamily="34" charset="-120"/>
              </a:rPr>
              <a:t>Product Brainstorm • PRD v1.0 • 20 Sep 2026</a:t>
            </a:r>
            <a:endParaRPr lang="en-US" sz="850" dirty="0"/>
          </a:p>
        </p:txBody>
      </p:sp>
      <p:sp>
        <p:nvSpPr>
          <p:cNvPr id="5" name="Text 3"/>
          <p:cNvSpPr/>
          <p:nvPr/>
        </p:nvSpPr>
        <p:spPr>
          <a:xfrm>
            <a:off x="411480" y="6519672"/>
            <a:ext cx="3017520" cy="164592"/>
          </a:xfrm>
          <a:prstGeom prst="rect">
            <a:avLst/>
          </a:prstGeom>
          <a:noFill/>
          <a:ln/>
        </p:spPr>
        <p:txBody>
          <a:bodyPr wrap="square" lIns="0" tIns="0" rIns="0" bIns="0" rtlCol="0" anchor="ctr"/>
          <a:lstStyle/>
          <a:p>
            <a:pPr indent="0" marL="0">
              <a:buNone/>
            </a:pPr>
            <a:r>
              <a:rPr lang="en-US" sz="750" dirty="0">
                <a:solidFill>
                  <a:srgbClr val="8A97A6"/>
                </a:solidFill>
                <a:latin typeface="Noto Sans" pitchFamily="34" charset="0"/>
                <a:ea typeface="Noto Sans" pitchFamily="34" charset="-122"/>
                <a:cs typeface="Noto Sans" pitchFamily="34" charset="-120"/>
              </a:rPr>
              <a:t>CONFIDENTIAL • EDITABLE WORKING DECK</a:t>
            </a:r>
            <a:endParaRPr lang="en-US" sz="75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slideLayout" Target="../slideLayouts/slideLayout2.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svg"/><Relationship Id="rId15" Type="http://schemas.openxmlformats.org/officeDocument/2006/relationships/image" Target="../media/image-10-15.png"/><Relationship Id="rId16" Type="http://schemas.openxmlformats.org/officeDocument/2006/relationships/image" Target="../media/image-10-16.sv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image" Target="../media/image-12-15.png"/><Relationship Id="rId16" Type="http://schemas.openxmlformats.org/officeDocument/2006/relationships/image" Target="../media/image-12-16.svg"/><Relationship Id="rId17" Type="http://schemas.openxmlformats.org/officeDocument/2006/relationships/slideLayout" Target="../slideLayouts/slideLayout2.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image" Target="../media/image-13-13.png"/><Relationship Id="rId14" Type="http://schemas.openxmlformats.org/officeDocument/2006/relationships/image" Target="../media/image-13-14.svg"/><Relationship Id="rId15" Type="http://schemas.openxmlformats.org/officeDocument/2006/relationships/image" Target="../media/image-13-15.png"/><Relationship Id="rId16" Type="http://schemas.openxmlformats.org/officeDocument/2006/relationships/image" Target="../media/image-13-16.svg"/><Relationship Id="rId17" Type="http://schemas.openxmlformats.org/officeDocument/2006/relationships/image" Target="../media/image-13-17.png"/><Relationship Id="rId18" Type="http://schemas.openxmlformats.org/officeDocument/2006/relationships/image" Target="../media/image-13-18.svg"/><Relationship Id="rId19" Type="http://schemas.openxmlformats.org/officeDocument/2006/relationships/slideLayout" Target="../slideLayouts/slideLayout2.xml"/><Relationship Id="rId2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image" Target="../media/image-14-15.png"/><Relationship Id="rId16" Type="http://schemas.openxmlformats.org/officeDocument/2006/relationships/image" Target="../media/image-14-16.svg"/><Relationship Id="rId17" Type="http://schemas.openxmlformats.org/officeDocument/2006/relationships/slideLayout" Target="../slideLayouts/slideLayout2.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image" Target="../media/image-17-13.png"/><Relationship Id="rId14" Type="http://schemas.openxmlformats.org/officeDocument/2006/relationships/image" Target="../media/image-17-14.svg"/><Relationship Id="rId15" Type="http://schemas.openxmlformats.org/officeDocument/2006/relationships/image" Target="../media/image-17-15.png"/><Relationship Id="rId16" Type="http://schemas.openxmlformats.org/officeDocument/2006/relationships/image" Target="../media/image-17-16.svg"/><Relationship Id="rId17" Type="http://schemas.openxmlformats.org/officeDocument/2006/relationships/slideLayout" Target="../slideLayouts/slideLayout2.xml"/><Relationship Id="rId1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svg"/><Relationship Id="rId13" Type="http://schemas.openxmlformats.org/officeDocument/2006/relationships/image" Target="../media/image-18-13.png"/><Relationship Id="rId14" Type="http://schemas.openxmlformats.org/officeDocument/2006/relationships/image" Target="../media/image-18-14.svg"/><Relationship Id="rId15" Type="http://schemas.openxmlformats.org/officeDocument/2006/relationships/image" Target="../media/image-18-15.png"/><Relationship Id="rId16" Type="http://schemas.openxmlformats.org/officeDocument/2006/relationships/image" Target="../media/image-18-16.svg"/><Relationship Id="rId17" Type="http://schemas.openxmlformats.org/officeDocument/2006/relationships/image" Target="../media/image-18-17.png"/><Relationship Id="rId18" Type="http://schemas.openxmlformats.org/officeDocument/2006/relationships/image" Target="../media/image-18-18.svg"/><Relationship Id="rId19" Type="http://schemas.openxmlformats.org/officeDocument/2006/relationships/slideLayout" Target="../slideLayouts/slideLayout2.xml"/><Relationship Id="rId2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image" Target="../media/image-19-9.png"/><Relationship Id="rId10" Type="http://schemas.openxmlformats.org/officeDocument/2006/relationships/image" Target="../media/image-19-10.svg"/><Relationship Id="rId11" Type="http://schemas.openxmlformats.org/officeDocument/2006/relationships/image" Target="../media/image-19-11.png"/><Relationship Id="rId12" Type="http://schemas.openxmlformats.org/officeDocument/2006/relationships/image" Target="../media/image-19-12.svg"/><Relationship Id="rId13" Type="http://schemas.openxmlformats.org/officeDocument/2006/relationships/image" Target="../media/image-19-13.png"/><Relationship Id="rId14" Type="http://schemas.openxmlformats.org/officeDocument/2006/relationships/image" Target="../media/image-19-14.svg"/><Relationship Id="rId15" Type="http://schemas.openxmlformats.org/officeDocument/2006/relationships/image" Target="../media/image-19-15.png"/><Relationship Id="rId16" Type="http://schemas.openxmlformats.org/officeDocument/2006/relationships/image" Target="../media/image-19-16.svg"/><Relationship Id="rId17" Type="http://schemas.openxmlformats.org/officeDocument/2006/relationships/image" Target="../media/image-19-17.png"/><Relationship Id="rId18" Type="http://schemas.openxmlformats.org/officeDocument/2006/relationships/image" Target="../media/image-19-18.svg"/><Relationship Id="rId19" Type="http://schemas.openxmlformats.org/officeDocument/2006/relationships/image" Target="../media/image-19-19.png"/><Relationship Id="rId20" Type="http://schemas.openxmlformats.org/officeDocument/2006/relationships/image" Target="../media/image-19-20.svg"/><Relationship Id="rId21" Type="http://schemas.openxmlformats.org/officeDocument/2006/relationships/slideLayout" Target="../slideLayouts/slideLayout2.xml"/><Relationship Id="rId2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image" Target="../media/image-20-11.png"/><Relationship Id="rId12" Type="http://schemas.openxmlformats.org/officeDocument/2006/relationships/image" Target="../media/image-20-12.svg"/><Relationship Id="rId13" Type="http://schemas.openxmlformats.org/officeDocument/2006/relationships/image" Target="../media/image-20-13.png"/><Relationship Id="rId14" Type="http://schemas.openxmlformats.org/officeDocument/2006/relationships/image" Target="../media/image-20-14.svg"/><Relationship Id="rId15" Type="http://schemas.openxmlformats.org/officeDocument/2006/relationships/slideLayout" Target="../slideLayouts/slideLayout2.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image" Target="../media/image-25-5.png"/><Relationship Id="rId6" Type="http://schemas.openxmlformats.org/officeDocument/2006/relationships/image" Target="../media/image-25-6.svg"/><Relationship Id="rId7" Type="http://schemas.openxmlformats.org/officeDocument/2006/relationships/image" Target="../media/image-25-7.png"/><Relationship Id="rId8" Type="http://schemas.openxmlformats.org/officeDocument/2006/relationships/image" Target="../media/image-25-8.svg"/><Relationship Id="rId9" Type="http://schemas.openxmlformats.org/officeDocument/2006/relationships/image" Target="../media/image-25-9.png"/><Relationship Id="rId10" Type="http://schemas.openxmlformats.org/officeDocument/2006/relationships/image" Target="../media/image-25-10.svg"/><Relationship Id="rId11" Type="http://schemas.openxmlformats.org/officeDocument/2006/relationships/image" Target="../media/image-25-11.png"/><Relationship Id="rId12" Type="http://schemas.openxmlformats.org/officeDocument/2006/relationships/image" Target="../media/image-25-12.svg"/><Relationship Id="rId13" Type="http://schemas.openxmlformats.org/officeDocument/2006/relationships/image" Target="../media/image-25-13.png"/><Relationship Id="rId14" Type="http://schemas.openxmlformats.org/officeDocument/2006/relationships/image" Target="../media/image-25-14.svg"/><Relationship Id="rId15" Type="http://schemas.openxmlformats.org/officeDocument/2006/relationships/image" Target="../media/image-25-15.png"/><Relationship Id="rId16" Type="http://schemas.openxmlformats.org/officeDocument/2006/relationships/image" Target="../media/image-25-16.svg"/><Relationship Id="rId17" Type="http://schemas.openxmlformats.org/officeDocument/2006/relationships/slideLayout" Target="../slideLayouts/slideLayout2.xml"/><Relationship Id="rId1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7.png"/><Relationship Id="rId8" Type="http://schemas.openxmlformats.org/officeDocument/2006/relationships/image" Target="../media/image-26-8.svg"/><Relationship Id="rId9" Type="http://schemas.openxmlformats.org/officeDocument/2006/relationships/image" Target="../media/image-26-9.png"/><Relationship Id="rId10" Type="http://schemas.openxmlformats.org/officeDocument/2006/relationships/image" Target="../media/image-26-10.svg"/><Relationship Id="rId11" Type="http://schemas.openxmlformats.org/officeDocument/2006/relationships/image" Target="../media/image-26-11.png"/><Relationship Id="rId12" Type="http://schemas.openxmlformats.org/officeDocument/2006/relationships/image" Target="../media/image-26-12.svg"/><Relationship Id="rId13" Type="http://schemas.openxmlformats.org/officeDocument/2006/relationships/image" Target="../media/image-26-13.png"/><Relationship Id="rId14" Type="http://schemas.openxmlformats.org/officeDocument/2006/relationships/image" Target="../media/image-26-14.svg"/><Relationship Id="rId15" Type="http://schemas.openxmlformats.org/officeDocument/2006/relationships/image" Target="../media/image-26-15.png"/><Relationship Id="rId16" Type="http://schemas.openxmlformats.org/officeDocument/2006/relationships/image" Target="../media/image-26-16.svg"/><Relationship Id="rId17" Type="http://schemas.openxmlformats.org/officeDocument/2006/relationships/slideLayout" Target="../slideLayouts/slideLayout2.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7.png"/><Relationship Id="rId8" Type="http://schemas.openxmlformats.org/officeDocument/2006/relationships/image" Target="../media/image-29-8.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11.png"/><Relationship Id="rId12" Type="http://schemas.openxmlformats.org/officeDocument/2006/relationships/image" Target="../media/image-29-12.svg"/><Relationship Id="rId13" Type="http://schemas.openxmlformats.org/officeDocument/2006/relationships/image" Target="../media/image-29-13.png"/><Relationship Id="rId14" Type="http://schemas.openxmlformats.org/officeDocument/2006/relationships/image" Target="../media/image-29-14.svg"/><Relationship Id="rId15" Type="http://schemas.openxmlformats.org/officeDocument/2006/relationships/image" Target="../media/image-29-15.png"/><Relationship Id="rId16" Type="http://schemas.openxmlformats.org/officeDocument/2006/relationships/image" Target="../media/image-29-16.svg"/><Relationship Id="rId17" Type="http://schemas.openxmlformats.org/officeDocument/2006/relationships/image" Target="../media/image-29-17.png"/><Relationship Id="rId18" Type="http://schemas.openxmlformats.org/officeDocument/2006/relationships/image" Target="../media/image-29-18.svg"/><Relationship Id="rId19" Type="http://schemas.openxmlformats.org/officeDocument/2006/relationships/image" Target="../media/image-29-19.png"/><Relationship Id="rId20" Type="http://schemas.openxmlformats.org/officeDocument/2006/relationships/image" Target="../media/image-29-20.svg"/><Relationship Id="rId21" Type="http://schemas.openxmlformats.org/officeDocument/2006/relationships/image" Target="../media/image-29-21.png"/><Relationship Id="rId22" Type="http://schemas.openxmlformats.org/officeDocument/2006/relationships/image" Target="../media/image-29-22.svg"/><Relationship Id="rId23" Type="http://schemas.openxmlformats.org/officeDocument/2006/relationships/slideLayout" Target="../slideLayouts/slideLayout2.xml"/><Relationship Id="rId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B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2B33"/>
          </a:solidFill>
          <a:ln w="12700">
            <a:solidFill>
              <a:srgbClr val="092B33"/>
            </a:solidFill>
            <a:prstDash val="solid"/>
          </a:ln>
        </p:spPr>
      </p:sp>
      <p:sp>
        <p:nvSpPr>
          <p:cNvPr id="3" name="Shape 1"/>
          <p:cNvSpPr/>
          <p:nvPr/>
        </p:nvSpPr>
        <p:spPr>
          <a:xfrm rot="1200000">
            <a:off x="7955280" y="0"/>
            <a:ext cx="4023360" cy="4023360"/>
          </a:xfrm>
          <a:prstGeom prst="arc">
            <a:avLst/>
          </a:prstGeom>
          <a:solidFill>
            <a:srgbClr val="0F5362">
              <a:alpha val="90000"/>
            </a:srgbClr>
          </a:solidFill>
          <a:ln w="12700">
            <a:solidFill>
              <a:srgbClr val="0F5362">
                <a:alpha val="0"/>
              </a:srgbClr>
            </a:solidFill>
            <a:prstDash val="solid"/>
          </a:ln>
        </p:spPr>
      </p:sp>
      <p:sp>
        <p:nvSpPr>
          <p:cNvPr id="4" name="Shape 2"/>
          <p:cNvSpPr/>
          <p:nvPr/>
        </p:nvSpPr>
        <p:spPr>
          <a:xfrm>
            <a:off x="9784080" y="548640"/>
            <a:ext cx="1371600" cy="1371600"/>
          </a:xfrm>
          <a:prstGeom prst="ellipse">
            <a:avLst/>
          </a:prstGeom>
          <a:solidFill>
            <a:srgbClr val="143E49"/>
          </a:solidFill>
          <a:ln w="12700">
            <a:solidFill>
              <a:srgbClr val="143E49"/>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8128" y="932688"/>
            <a:ext cx="594360" cy="594360"/>
          </a:xfrm>
          <a:prstGeom prst="rect">
            <a:avLst/>
          </a:prstGeom>
        </p:spPr>
      </p:pic>
      <p:sp>
        <p:nvSpPr>
          <p:cNvPr id="6" name="Text 3"/>
          <p:cNvSpPr/>
          <p:nvPr/>
        </p:nvSpPr>
        <p:spPr>
          <a:xfrm>
            <a:off x="685800" y="1097280"/>
            <a:ext cx="5303520" cy="640080"/>
          </a:xfrm>
          <a:prstGeom prst="rect">
            <a:avLst/>
          </a:prstGeom>
          <a:noFill/>
          <a:ln/>
        </p:spPr>
        <p:txBody>
          <a:bodyPr wrap="square" lIns="0" tIns="0" rIns="0" bIns="0" rtlCol="0" anchor="ctr"/>
          <a:lstStyle/>
          <a:p>
            <a:pPr indent="0" marL="0">
              <a:buNone/>
            </a:pPr>
            <a:r>
              <a:rPr lang="en-US" sz="3400" b="1" dirty="0">
                <a:solidFill>
                  <a:srgbClr val="FFFFFF"/>
                </a:solidFill>
                <a:latin typeface="Noto Sans" pitchFamily="34" charset="0"/>
                <a:ea typeface="Noto Sans" pitchFamily="34" charset="-122"/>
                <a:cs typeface="Noto Sans" pitchFamily="34" charset="-120"/>
              </a:rPr>
              <a:t>HealthVibe AI</a:t>
            </a:r>
            <a:endParaRPr lang="en-US" sz="3400" dirty="0"/>
          </a:p>
        </p:txBody>
      </p:sp>
      <p:sp>
        <p:nvSpPr>
          <p:cNvPr id="7" name="Text 4"/>
          <p:cNvSpPr/>
          <p:nvPr/>
        </p:nvSpPr>
        <p:spPr>
          <a:xfrm>
            <a:off x="713232" y="1828800"/>
            <a:ext cx="6583680" cy="457200"/>
          </a:xfrm>
          <a:prstGeom prst="rect">
            <a:avLst/>
          </a:prstGeom>
          <a:noFill/>
          <a:ln/>
        </p:spPr>
        <p:txBody>
          <a:bodyPr wrap="square" lIns="0" tIns="0" rIns="0" bIns="0" rtlCol="0" anchor="ctr"/>
          <a:lstStyle/>
          <a:p>
            <a:pPr indent="0" marL="0">
              <a:buNone/>
            </a:pPr>
            <a:r>
              <a:rPr lang="en-US" sz="2000" b="1" dirty="0">
                <a:solidFill>
                  <a:srgbClr val="87E8DD"/>
                </a:solidFill>
                <a:latin typeface="Noto Sans" pitchFamily="34" charset="0"/>
                <a:ea typeface="Noto Sans" pitchFamily="34" charset="-122"/>
                <a:cs typeface="Noto Sans" pitchFamily="34" charset="-120"/>
              </a:rPr>
              <a:t>Product Brainstorm &amp; Alignment Deck</a:t>
            </a:r>
            <a:endParaRPr lang="en-US" sz="2000" dirty="0"/>
          </a:p>
        </p:txBody>
      </p:sp>
      <p:sp>
        <p:nvSpPr>
          <p:cNvPr id="8" name="Text 5"/>
          <p:cNvSpPr/>
          <p:nvPr/>
        </p:nvSpPr>
        <p:spPr>
          <a:xfrm>
            <a:off x="722376" y="2359152"/>
            <a:ext cx="6583680" cy="320040"/>
          </a:xfrm>
          <a:prstGeom prst="rect">
            <a:avLst/>
          </a:prstGeom>
          <a:noFill/>
          <a:ln/>
        </p:spPr>
        <p:txBody>
          <a:bodyPr wrap="square" lIns="0" tIns="0" rIns="0" bIns="0" rtlCol="0" anchor="ctr">
            <a:normAutofit/>
          </a:bodyPr>
          <a:lstStyle/>
          <a:p>
            <a:pPr indent="0" marL="0">
              <a:buNone/>
            </a:pPr>
            <a:r>
              <a:rPr lang="en-US" sz="1250" dirty="0">
                <a:solidFill>
                  <a:srgbClr val="C7D8DC"/>
                </a:solidFill>
                <a:latin typeface="Noto Sans Arabic" pitchFamily="34" charset="0"/>
                <a:ea typeface="Noto Sans Arabic" pitchFamily="34" charset="-122"/>
                <a:cs typeface="Noto Sans Arabic" pitchFamily="34" charset="-120"/>
              </a:rPr>
              <a:t>العصف الذهني للمشروع • Editable PowerPoint based on PRD v1.0</a:t>
            </a:r>
            <a:endParaRPr lang="en-US" sz="1250" dirty="0"/>
          </a:p>
        </p:txBody>
      </p:sp>
      <p:sp>
        <p:nvSpPr>
          <p:cNvPr id="9" name="Text 6"/>
          <p:cNvSpPr/>
          <p:nvPr/>
        </p:nvSpPr>
        <p:spPr>
          <a:xfrm>
            <a:off x="731520" y="3090672"/>
            <a:ext cx="7223760" cy="320040"/>
          </a:xfrm>
          <a:prstGeom prst="rect">
            <a:avLst/>
          </a:prstGeom>
          <a:noFill/>
          <a:ln/>
        </p:spPr>
        <p:txBody>
          <a:bodyPr wrap="square" lIns="0" tIns="0" rIns="0" bIns="0" rtlCol="0" anchor="ctr"/>
          <a:lstStyle/>
          <a:p>
            <a:pPr indent="0" marL="0">
              <a:buNone/>
            </a:pPr>
            <a:r>
              <a:rPr lang="en-US" sz="1050" b="1" spc="160" kern="0" dirty="0">
                <a:solidFill>
                  <a:srgbClr val="7D999F"/>
                </a:solidFill>
                <a:latin typeface="Noto Sans" pitchFamily="34" charset="0"/>
                <a:ea typeface="Noto Sans" pitchFamily="34" charset="-122"/>
                <a:cs typeface="Noto Sans" pitchFamily="34" charset="-120"/>
              </a:rPr>
              <a:t>VISION  →  USERS  →  MVP  →  AI/ML  →  SAFETY  →  DELIVERY</a:t>
            </a:r>
            <a:endParaRPr lang="en-US" sz="1050" dirty="0"/>
          </a:p>
        </p:txBody>
      </p:sp>
      <p:sp>
        <p:nvSpPr>
          <p:cNvPr id="10" name="Shape 7"/>
          <p:cNvSpPr/>
          <p:nvPr/>
        </p:nvSpPr>
        <p:spPr>
          <a:xfrm>
            <a:off x="731520" y="3703320"/>
            <a:ext cx="5212080" cy="0"/>
          </a:xfrm>
          <a:prstGeom prst="line">
            <a:avLst/>
          </a:prstGeom>
          <a:noFill/>
          <a:ln w="25400">
            <a:solidFill>
              <a:srgbClr val="36D6C2"/>
            </a:solidFill>
            <a:prstDash val="solid"/>
          </a:ln>
        </p:spPr>
      </p:sp>
      <p:sp>
        <p:nvSpPr>
          <p:cNvPr id="11" name="Text 8"/>
          <p:cNvSpPr/>
          <p:nvPr/>
        </p:nvSpPr>
        <p:spPr>
          <a:xfrm>
            <a:off x="731520" y="3931920"/>
            <a:ext cx="6309360" cy="502920"/>
          </a:xfrm>
          <a:prstGeom prst="rect">
            <a:avLst/>
          </a:prstGeom>
          <a:noFill/>
          <a:ln/>
        </p:spPr>
        <p:txBody>
          <a:bodyPr wrap="square" lIns="0" tIns="0" rIns="0" bIns="0" rtlCol="0" anchor="ctr">
            <a:normAutofit/>
          </a:bodyPr>
          <a:lstStyle/>
          <a:p>
            <a:pPr indent="0" marL="0">
              <a:buNone/>
            </a:pPr>
            <a:r>
              <a:rPr lang="en-US" sz="1400" dirty="0">
                <a:solidFill>
                  <a:srgbClr val="FFFFFF"/>
                </a:solidFill>
                <a:latin typeface="Noto Sans" pitchFamily="34" charset="0"/>
                <a:ea typeface="Noto Sans" pitchFamily="34" charset="-122"/>
                <a:cs typeface="Noto Sans" pitchFamily="34" charset="-120"/>
              </a:rPr>
              <a:t>Egypt-first • Mobile-first • Doctor-reviewed AI • Cloud-ready</a:t>
            </a:r>
            <a:endParaRPr lang="en-US" sz="1400" dirty="0"/>
          </a:p>
        </p:txBody>
      </p:sp>
      <p:sp>
        <p:nvSpPr>
          <p:cNvPr id="12" name="Text 9"/>
          <p:cNvSpPr/>
          <p:nvPr/>
        </p:nvSpPr>
        <p:spPr>
          <a:xfrm>
            <a:off x="731520" y="4846320"/>
            <a:ext cx="7040880" cy="402336"/>
          </a:xfrm>
          <a:prstGeom prst="rect">
            <a:avLst/>
          </a:prstGeom>
          <a:noFill/>
          <a:ln/>
        </p:spPr>
        <p:txBody>
          <a:bodyPr wrap="square" lIns="0" tIns="0" rIns="0" bIns="0" rtlCol="0" anchor="ctr">
            <a:normAutofit/>
          </a:bodyPr>
          <a:lstStyle/>
          <a:p>
            <a:pPr indent="0" marL="0">
              <a:buNone/>
            </a:pPr>
            <a:r>
              <a:rPr lang="en-US" sz="1030" dirty="0">
                <a:solidFill>
                  <a:srgbClr val="A9C0C5"/>
                </a:solidFill>
                <a:latin typeface="Noto Sans" pitchFamily="34" charset="0"/>
                <a:ea typeface="Noto Sans" pitchFamily="34" charset="-122"/>
                <a:cs typeface="Noto Sans" pitchFamily="34" charset="-120"/>
              </a:rPr>
              <a:t>Demo deadline 27 Sep 2026  •  Final presentation 20 Oct 2026  •  Team of 4  •  Budget 5,000 EGP</a:t>
            </a:r>
            <a:endParaRPr lang="en-US" sz="1030" dirty="0"/>
          </a:p>
        </p:txBody>
      </p:sp>
      <p:sp>
        <p:nvSpPr>
          <p:cNvPr id="13" name="Text 10"/>
          <p:cNvSpPr/>
          <p:nvPr/>
        </p:nvSpPr>
        <p:spPr>
          <a:xfrm>
            <a:off x="731520" y="6172200"/>
            <a:ext cx="3657600" cy="182880"/>
          </a:xfrm>
          <a:prstGeom prst="rect">
            <a:avLst/>
          </a:prstGeom>
          <a:noFill/>
          <a:ln/>
        </p:spPr>
        <p:txBody>
          <a:bodyPr wrap="square" lIns="0" tIns="0" rIns="0" bIns="0" rtlCol="0" anchor="ctr"/>
          <a:lstStyle/>
          <a:p>
            <a:pPr indent="0" marL="0">
              <a:buNone/>
            </a:pPr>
            <a:r>
              <a:rPr lang="en-US" sz="820" b="1" spc="140" kern="0" dirty="0">
                <a:solidFill>
                  <a:srgbClr val="6E8A91"/>
                </a:solidFill>
                <a:latin typeface="Noto Sans" pitchFamily="34" charset="0"/>
                <a:ea typeface="Noto Sans" pitchFamily="34" charset="-122"/>
                <a:cs typeface="Noto Sans" pitchFamily="34" charset="-120"/>
              </a:rPr>
              <a:t>CONFIDENTIAL • PROJECT PLANNING • EDITABLE</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North Star / Product Vision</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A single healthcare experience connecting patients, clinicians and care organizations.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VISION</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48640" y="1417320"/>
            <a:ext cx="4754880" cy="1965960"/>
          </a:xfrm>
          <a:prstGeom prst="roundRect">
            <a:avLst>
              <a:gd name="adj" fmla="val 3721"/>
            </a:avLst>
          </a:prstGeom>
          <a:solidFill>
            <a:srgbClr val="092B33"/>
          </a:solidFill>
          <a:ln w="13970">
            <a:solidFill>
              <a:srgbClr val="092B33"/>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713232" y="1581912"/>
            <a:ext cx="402336" cy="402336"/>
          </a:xfrm>
          <a:prstGeom prst="ellipse">
            <a:avLst/>
          </a:prstGeom>
          <a:solidFill>
            <a:srgbClr val="143F49"/>
          </a:solidFill>
          <a:ln w="12700">
            <a:solidFill>
              <a:srgbClr val="143F49"/>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3816" y="1682496"/>
            <a:ext cx="201168" cy="201168"/>
          </a:xfrm>
          <a:prstGeom prst="rect">
            <a:avLst/>
          </a:prstGeom>
        </p:spPr>
      </p:pic>
      <p:sp>
        <p:nvSpPr>
          <p:cNvPr id="10" name="Text 7"/>
          <p:cNvSpPr/>
          <p:nvPr/>
        </p:nvSpPr>
        <p:spPr>
          <a:xfrm>
            <a:off x="1207008" y="1591056"/>
            <a:ext cx="3931920" cy="310896"/>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Noto Sans" pitchFamily="34" charset="0"/>
                <a:ea typeface="Noto Sans" pitchFamily="34" charset="-122"/>
                <a:cs typeface="Noto Sans" pitchFamily="34" charset="-120"/>
              </a:rPr>
              <a:t>“A mobile hospital with you from A to Z”</a:t>
            </a:r>
            <a:endParaRPr lang="en-US" sz="1800" dirty="0"/>
          </a:p>
        </p:txBody>
      </p:sp>
      <p:sp>
        <p:nvSpPr>
          <p:cNvPr id="11" name="Text 8"/>
          <p:cNvSpPr/>
          <p:nvPr/>
        </p:nvSpPr>
        <p:spPr>
          <a:xfrm>
            <a:off x="731520" y="2103120"/>
            <a:ext cx="4389120" cy="1124712"/>
          </a:xfrm>
          <a:prstGeom prst="rect">
            <a:avLst/>
          </a:prstGeom>
          <a:noFill/>
          <a:ln/>
        </p:spPr>
        <p:txBody>
          <a:bodyPr wrap="square" lIns="254" tIns="254" rIns="254" bIns="254" rtlCol="0" anchor="t">
            <a:normAutofit/>
          </a:bodyPr>
          <a:lstStyle/>
          <a:p>
            <a:pPr indent="0" marL="0">
              <a:buNone/>
            </a:pPr>
            <a:r>
              <a:rPr lang="en-US" sz="1200" dirty="0">
                <a:solidFill>
                  <a:srgbClr val="D6E7EA"/>
                </a:solidFill>
                <a:latin typeface="Noto Sans" pitchFamily="34" charset="0"/>
                <a:ea typeface="Noto Sans" pitchFamily="34" charset="-122"/>
                <a:cs typeface="Noto Sans" pitchFamily="34" charset="-120"/>
              </a:rPr>
              <a:t>HealthVibe AI aims to accompany the user from onboarding and health assessment to doctor review, reporting, appointments and follow-up — starting in Egypt and designed to expand internationally.</a:t>
            </a:r>
            <a:endParaRPr lang="en-US" sz="1200" dirty="0"/>
          </a:p>
        </p:txBody>
      </p:sp>
      <p:sp>
        <p:nvSpPr>
          <p:cNvPr id="12" name="Shape 9"/>
          <p:cNvSpPr/>
          <p:nvPr/>
        </p:nvSpPr>
        <p:spPr>
          <a:xfrm>
            <a:off x="5532120" y="1417320"/>
            <a:ext cx="1874520" cy="1965960"/>
          </a:xfrm>
          <a:prstGeom prst="roundRect">
            <a:avLst>
              <a:gd name="adj" fmla="val 3902"/>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5696712" y="1581912"/>
            <a:ext cx="402336" cy="402336"/>
          </a:xfrm>
          <a:prstGeom prst="ellipse">
            <a:avLst/>
          </a:prstGeom>
          <a:solidFill>
            <a:srgbClr val="EAF2FF"/>
          </a:solidFill>
          <a:ln w="12700">
            <a:solidFill>
              <a:srgbClr val="EAF2FF"/>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7296" y="1682496"/>
            <a:ext cx="201168" cy="201168"/>
          </a:xfrm>
          <a:prstGeom prst="rect">
            <a:avLst/>
          </a:prstGeom>
        </p:spPr>
      </p:pic>
      <p:sp>
        <p:nvSpPr>
          <p:cNvPr id="15" name="Text 11"/>
          <p:cNvSpPr/>
          <p:nvPr/>
        </p:nvSpPr>
        <p:spPr>
          <a:xfrm>
            <a:off x="6190488" y="1591056"/>
            <a:ext cx="105156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Primary market</a:t>
            </a:r>
            <a:endParaRPr lang="en-US" sz="1400" dirty="0"/>
          </a:p>
        </p:txBody>
      </p:sp>
      <p:sp>
        <p:nvSpPr>
          <p:cNvPr id="16" name="Text 12"/>
          <p:cNvSpPr/>
          <p:nvPr/>
        </p:nvSpPr>
        <p:spPr>
          <a:xfrm>
            <a:off x="5715000" y="2103120"/>
            <a:ext cx="1508760" cy="1124712"/>
          </a:xfrm>
          <a:prstGeom prst="rect">
            <a:avLst/>
          </a:prstGeom>
          <a:noFill/>
          <a:ln/>
        </p:spPr>
        <p:txBody>
          <a:bodyPr wrap="square" lIns="254" tIns="254" rIns="254" bIns="254" rtlCol="0" anchor="t">
            <a:normAutofit/>
          </a:bodyPr>
          <a:lstStyle/>
          <a:p>
            <a:pPr indent="0" marL="0">
              <a:buNone/>
            </a:pPr>
            <a:r>
              <a:rPr lang="en-US" sz="1020" dirty="0">
                <a:solidFill>
                  <a:srgbClr val="5F7180"/>
                </a:solidFill>
                <a:latin typeface="Noto Sans" pitchFamily="34" charset="0"/>
                <a:ea typeface="Noto Sans" pitchFamily="34" charset="-122"/>
                <a:cs typeface="Noto Sans" pitchFamily="34" charset="-120"/>
              </a:rPr>
              <a:t>Egypt first</a:t>
            </a:r>
            <a:endParaRPr lang="en-US" sz="1020" dirty="0"/>
          </a:p>
          <a:p>
            <a:pPr indent="0" marL="0">
              <a:buNone/>
            </a:pPr>
            <a:endParaRPr lang="en-US" sz="1020" dirty="0"/>
          </a:p>
          <a:p>
            <a:pPr indent="0" marL="0">
              <a:buNone/>
            </a:pPr>
            <a:r>
              <a:rPr lang="en-US" sz="1020" dirty="0">
                <a:solidFill>
                  <a:srgbClr val="5F7180"/>
                </a:solidFill>
                <a:latin typeface="Noto Sans" pitchFamily="34" charset="0"/>
                <a:ea typeface="Noto Sans" pitchFamily="34" charset="-122"/>
                <a:cs typeface="Noto Sans" pitchFamily="34" charset="-120"/>
              </a:rPr>
              <a:t>International expansion later with localization, legal and professional-verification adaptation.</a:t>
            </a:r>
            <a:endParaRPr lang="en-US" sz="1020" dirty="0"/>
          </a:p>
        </p:txBody>
      </p:sp>
      <p:sp>
        <p:nvSpPr>
          <p:cNvPr id="17" name="Shape 13"/>
          <p:cNvSpPr/>
          <p:nvPr/>
        </p:nvSpPr>
        <p:spPr>
          <a:xfrm>
            <a:off x="7589520" y="1417320"/>
            <a:ext cx="1874520" cy="1965960"/>
          </a:xfrm>
          <a:prstGeom prst="roundRect">
            <a:avLst>
              <a:gd name="adj" fmla="val 3902"/>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7754112" y="1581912"/>
            <a:ext cx="402336" cy="402336"/>
          </a:xfrm>
          <a:prstGeom prst="ellipse">
            <a:avLst/>
          </a:prstGeom>
          <a:solidFill>
            <a:srgbClr val="E8F8F4"/>
          </a:solidFill>
          <a:ln w="12700">
            <a:solidFill>
              <a:srgbClr val="E8F8F4"/>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4696" y="1682496"/>
            <a:ext cx="201168" cy="201168"/>
          </a:xfrm>
          <a:prstGeom prst="rect">
            <a:avLst/>
          </a:prstGeom>
        </p:spPr>
      </p:pic>
      <p:sp>
        <p:nvSpPr>
          <p:cNvPr id="20" name="Text 15"/>
          <p:cNvSpPr/>
          <p:nvPr/>
        </p:nvSpPr>
        <p:spPr>
          <a:xfrm>
            <a:off x="8247888" y="1591056"/>
            <a:ext cx="105156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Platform</a:t>
            </a:r>
            <a:endParaRPr lang="en-US" sz="1400" dirty="0"/>
          </a:p>
        </p:txBody>
      </p:sp>
      <p:sp>
        <p:nvSpPr>
          <p:cNvPr id="21" name="Text 16"/>
          <p:cNvSpPr/>
          <p:nvPr/>
        </p:nvSpPr>
        <p:spPr>
          <a:xfrm>
            <a:off x="7772400" y="2103120"/>
            <a:ext cx="1508760" cy="1124712"/>
          </a:xfrm>
          <a:prstGeom prst="rect">
            <a:avLst/>
          </a:prstGeom>
          <a:noFill/>
          <a:ln/>
        </p:spPr>
        <p:txBody>
          <a:bodyPr wrap="square" lIns="254" tIns="254" rIns="254" bIns="254" rtlCol="0" anchor="t">
            <a:normAutofit/>
          </a:bodyPr>
          <a:lstStyle/>
          <a:p>
            <a:pPr indent="0" marL="0">
              <a:buNone/>
            </a:pPr>
            <a:r>
              <a:rPr lang="en-US" sz="1020" dirty="0">
                <a:solidFill>
                  <a:srgbClr val="5F7180"/>
                </a:solidFill>
                <a:latin typeface="Noto Sans" pitchFamily="34" charset="0"/>
                <a:ea typeface="Noto Sans" pitchFamily="34" charset="-122"/>
                <a:cs typeface="Noto Sans" pitchFamily="34" charset="-120"/>
              </a:rPr>
              <a:t>Mobile-first experience.</a:t>
            </a:r>
            <a:endParaRPr lang="en-US" sz="1020" dirty="0"/>
          </a:p>
          <a:p>
            <a:pPr indent="0" marL="0">
              <a:buNone/>
            </a:pPr>
            <a:endParaRPr lang="en-US" sz="1020" dirty="0"/>
          </a:p>
          <a:p>
            <a:pPr indent="0" marL="0">
              <a:buNone/>
            </a:pPr>
            <a:r>
              <a:rPr lang="en-US" sz="1020" dirty="0">
                <a:solidFill>
                  <a:srgbClr val="5F7180"/>
                </a:solidFill>
                <a:latin typeface="Noto Sans" pitchFamily="34" charset="0"/>
                <a:ea typeface="Noto Sans" pitchFamily="34" charset="-122"/>
                <a:cs typeface="Noto Sans" pitchFamily="34" charset="-120"/>
              </a:rPr>
              <a:t>Demo in Streamlit; production moves toward mobile / responsive web on cloud.</a:t>
            </a:r>
            <a:endParaRPr lang="en-US" sz="1020" dirty="0"/>
          </a:p>
        </p:txBody>
      </p:sp>
      <p:sp>
        <p:nvSpPr>
          <p:cNvPr id="22" name="Shape 17"/>
          <p:cNvSpPr/>
          <p:nvPr/>
        </p:nvSpPr>
        <p:spPr>
          <a:xfrm>
            <a:off x="9646920" y="1417320"/>
            <a:ext cx="1965960" cy="1965960"/>
          </a:xfrm>
          <a:prstGeom prst="roundRect">
            <a:avLst>
              <a:gd name="adj" fmla="val 372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9811512" y="1581912"/>
            <a:ext cx="402336" cy="402336"/>
          </a:xfrm>
          <a:prstGeom prst="ellipse">
            <a:avLst/>
          </a:prstGeom>
          <a:solidFill>
            <a:srgbClr val="FDECEF"/>
          </a:solidFill>
          <a:ln w="12700">
            <a:solidFill>
              <a:srgbClr val="FDECEF"/>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12096" y="1682496"/>
            <a:ext cx="201168" cy="201168"/>
          </a:xfrm>
          <a:prstGeom prst="rect">
            <a:avLst/>
          </a:prstGeom>
        </p:spPr>
      </p:pic>
      <p:sp>
        <p:nvSpPr>
          <p:cNvPr id="25" name="Text 19"/>
          <p:cNvSpPr/>
          <p:nvPr/>
        </p:nvSpPr>
        <p:spPr>
          <a:xfrm>
            <a:off x="10305288" y="1591056"/>
            <a:ext cx="114300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Core value</a:t>
            </a:r>
            <a:endParaRPr lang="en-US" sz="1400" dirty="0"/>
          </a:p>
        </p:txBody>
      </p:sp>
      <p:sp>
        <p:nvSpPr>
          <p:cNvPr id="26" name="Text 20"/>
          <p:cNvSpPr/>
          <p:nvPr/>
        </p:nvSpPr>
        <p:spPr>
          <a:xfrm>
            <a:off x="9829800" y="2103120"/>
            <a:ext cx="1600200" cy="1124712"/>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Save time • reduce transport burden • improve follow-up • centralize data • raise safety &amp; accuracy.</a:t>
            </a:r>
            <a:endParaRPr lang="en-US" sz="1000" dirty="0"/>
          </a:p>
        </p:txBody>
      </p:sp>
      <p:sp>
        <p:nvSpPr>
          <p:cNvPr id="27" name="Shape 21"/>
          <p:cNvSpPr/>
          <p:nvPr/>
        </p:nvSpPr>
        <p:spPr>
          <a:xfrm>
            <a:off x="731520" y="3977640"/>
            <a:ext cx="2423160" cy="1024128"/>
          </a:xfrm>
          <a:prstGeom prst="roundRect">
            <a:avLst>
              <a:gd name="adj" fmla="val 7143"/>
            </a:avLst>
          </a:prstGeom>
          <a:solidFill>
            <a:srgbClr val="FFFFFF"/>
          </a:solidFill>
          <a:ln w="12700">
            <a:solidFill>
              <a:srgbClr val="DDE7EA"/>
            </a:solidFill>
            <a:prstDash val="solid"/>
          </a:ln>
        </p:spPr>
      </p:sp>
      <p:sp>
        <p:nvSpPr>
          <p:cNvPr id="28" name="Text 22"/>
          <p:cNvSpPr/>
          <p:nvPr/>
        </p:nvSpPr>
        <p:spPr>
          <a:xfrm>
            <a:off x="868680" y="4133088"/>
            <a:ext cx="2148840" cy="320040"/>
          </a:xfrm>
          <a:prstGeom prst="rect">
            <a:avLst/>
          </a:prstGeom>
          <a:noFill/>
          <a:ln/>
        </p:spPr>
        <p:txBody>
          <a:bodyPr wrap="square" lIns="0" tIns="0" rIns="0" bIns="0" rtlCol="0" anchor="ctr">
            <a:normAutofit/>
          </a:bodyPr>
          <a:lstStyle/>
          <a:p>
            <a:pPr algn="ctr" indent="0" marL="0">
              <a:buNone/>
            </a:pPr>
            <a:r>
              <a:rPr lang="en-US" sz="2200" b="1" dirty="0">
                <a:solidFill>
                  <a:srgbClr val="12B8A6"/>
                </a:solidFill>
                <a:latin typeface="Noto Sans" pitchFamily="34" charset="0"/>
                <a:ea typeface="Noto Sans" pitchFamily="34" charset="-122"/>
                <a:cs typeface="Noto Sans" pitchFamily="34" charset="-120"/>
              </a:rPr>
              <a:t>4</a:t>
            </a:r>
            <a:endParaRPr lang="en-US" sz="2200" dirty="0"/>
          </a:p>
        </p:txBody>
      </p:sp>
      <p:sp>
        <p:nvSpPr>
          <p:cNvPr id="29" name="Text 23"/>
          <p:cNvSpPr/>
          <p:nvPr/>
        </p:nvSpPr>
        <p:spPr>
          <a:xfrm>
            <a:off x="841248" y="4526280"/>
            <a:ext cx="220370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TEAM</a:t>
            </a:r>
            <a:endParaRPr lang="en-US" sz="950" dirty="0"/>
          </a:p>
        </p:txBody>
      </p:sp>
      <p:sp>
        <p:nvSpPr>
          <p:cNvPr id="30" name="Text 24"/>
          <p:cNvSpPr/>
          <p:nvPr/>
        </p:nvSpPr>
        <p:spPr>
          <a:xfrm>
            <a:off x="841248" y="4745736"/>
            <a:ext cx="220370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people</a:t>
            </a:r>
            <a:endParaRPr lang="en-US" sz="790" dirty="0"/>
          </a:p>
        </p:txBody>
      </p:sp>
      <p:sp>
        <p:nvSpPr>
          <p:cNvPr id="31" name="Shape 25"/>
          <p:cNvSpPr/>
          <p:nvPr/>
        </p:nvSpPr>
        <p:spPr>
          <a:xfrm>
            <a:off x="3337560" y="3977640"/>
            <a:ext cx="2423160" cy="1024128"/>
          </a:xfrm>
          <a:prstGeom prst="roundRect">
            <a:avLst>
              <a:gd name="adj" fmla="val 7143"/>
            </a:avLst>
          </a:prstGeom>
          <a:solidFill>
            <a:srgbClr val="FFFFFF"/>
          </a:solidFill>
          <a:ln w="12700">
            <a:solidFill>
              <a:srgbClr val="DDE7EA"/>
            </a:solidFill>
            <a:prstDash val="solid"/>
          </a:ln>
        </p:spPr>
      </p:sp>
      <p:sp>
        <p:nvSpPr>
          <p:cNvPr id="32" name="Text 26"/>
          <p:cNvSpPr/>
          <p:nvPr/>
        </p:nvSpPr>
        <p:spPr>
          <a:xfrm>
            <a:off x="3474720" y="4133088"/>
            <a:ext cx="2148840" cy="320040"/>
          </a:xfrm>
          <a:prstGeom prst="rect">
            <a:avLst/>
          </a:prstGeom>
          <a:noFill/>
          <a:ln/>
        </p:spPr>
        <p:txBody>
          <a:bodyPr wrap="square" lIns="0" tIns="0" rIns="0" bIns="0" rtlCol="0" anchor="ctr">
            <a:normAutofit/>
          </a:bodyPr>
          <a:lstStyle/>
          <a:p>
            <a:pPr algn="ctr" indent="0" marL="0">
              <a:buNone/>
            </a:pPr>
            <a:r>
              <a:rPr lang="en-US" sz="2200" b="1" dirty="0">
                <a:solidFill>
                  <a:srgbClr val="F3B33D"/>
                </a:solidFill>
                <a:latin typeface="Noto Sans" pitchFamily="34" charset="0"/>
                <a:ea typeface="Noto Sans" pitchFamily="34" charset="-122"/>
                <a:cs typeface="Noto Sans" pitchFamily="34" charset="-120"/>
              </a:rPr>
              <a:t>5,000 EGP</a:t>
            </a:r>
            <a:endParaRPr lang="en-US" sz="2200" dirty="0"/>
          </a:p>
        </p:txBody>
      </p:sp>
      <p:sp>
        <p:nvSpPr>
          <p:cNvPr id="33" name="Text 27"/>
          <p:cNvSpPr/>
          <p:nvPr/>
        </p:nvSpPr>
        <p:spPr>
          <a:xfrm>
            <a:off x="3447288" y="4526280"/>
            <a:ext cx="220370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CURRENT BUDGET</a:t>
            </a:r>
            <a:endParaRPr lang="en-US" sz="950" dirty="0"/>
          </a:p>
        </p:txBody>
      </p:sp>
      <p:sp>
        <p:nvSpPr>
          <p:cNvPr id="34" name="Text 28"/>
          <p:cNvSpPr/>
          <p:nvPr/>
        </p:nvSpPr>
        <p:spPr>
          <a:xfrm>
            <a:off x="3447288" y="4745736"/>
            <a:ext cx="220370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project resources</a:t>
            </a:r>
            <a:endParaRPr lang="en-US" sz="790" dirty="0"/>
          </a:p>
        </p:txBody>
      </p:sp>
      <p:sp>
        <p:nvSpPr>
          <p:cNvPr id="35" name="Shape 29"/>
          <p:cNvSpPr/>
          <p:nvPr/>
        </p:nvSpPr>
        <p:spPr>
          <a:xfrm>
            <a:off x="5943600" y="3977640"/>
            <a:ext cx="2423160" cy="1024128"/>
          </a:xfrm>
          <a:prstGeom prst="roundRect">
            <a:avLst>
              <a:gd name="adj" fmla="val 7143"/>
            </a:avLst>
          </a:prstGeom>
          <a:solidFill>
            <a:srgbClr val="FFFFFF"/>
          </a:solidFill>
          <a:ln w="12700">
            <a:solidFill>
              <a:srgbClr val="DDE7EA"/>
            </a:solidFill>
            <a:prstDash val="solid"/>
          </a:ln>
        </p:spPr>
      </p:sp>
      <p:sp>
        <p:nvSpPr>
          <p:cNvPr id="36" name="Text 30"/>
          <p:cNvSpPr/>
          <p:nvPr/>
        </p:nvSpPr>
        <p:spPr>
          <a:xfrm>
            <a:off x="6080760" y="4133088"/>
            <a:ext cx="2148840" cy="320040"/>
          </a:xfrm>
          <a:prstGeom prst="rect">
            <a:avLst/>
          </a:prstGeom>
          <a:noFill/>
          <a:ln/>
        </p:spPr>
        <p:txBody>
          <a:bodyPr wrap="square" lIns="0" tIns="0" rIns="0" bIns="0" rtlCol="0" anchor="ctr">
            <a:normAutofit/>
          </a:bodyPr>
          <a:lstStyle/>
          <a:p>
            <a:pPr algn="ctr" indent="0" marL="0">
              <a:buNone/>
            </a:pPr>
            <a:r>
              <a:rPr lang="en-US" sz="2200" b="1" dirty="0">
                <a:solidFill>
                  <a:srgbClr val="2F80ED"/>
                </a:solidFill>
                <a:latin typeface="Noto Sans" pitchFamily="34" charset="0"/>
                <a:ea typeface="Noto Sans" pitchFamily="34" charset="-122"/>
                <a:cs typeface="Noto Sans" pitchFamily="34" charset="-120"/>
              </a:rPr>
              <a:t>27 Sep</a:t>
            </a:r>
            <a:endParaRPr lang="en-US" sz="2200" dirty="0"/>
          </a:p>
        </p:txBody>
      </p:sp>
      <p:sp>
        <p:nvSpPr>
          <p:cNvPr id="37" name="Text 31"/>
          <p:cNvSpPr/>
          <p:nvPr/>
        </p:nvSpPr>
        <p:spPr>
          <a:xfrm>
            <a:off x="6053328" y="4526280"/>
            <a:ext cx="220370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DEMO DEADLINE</a:t>
            </a:r>
            <a:endParaRPr lang="en-US" sz="950" dirty="0"/>
          </a:p>
        </p:txBody>
      </p:sp>
      <p:sp>
        <p:nvSpPr>
          <p:cNvPr id="38" name="Text 32"/>
          <p:cNvSpPr/>
          <p:nvPr/>
        </p:nvSpPr>
        <p:spPr>
          <a:xfrm>
            <a:off x="6053328" y="4745736"/>
            <a:ext cx="220370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2026</a:t>
            </a:r>
            <a:endParaRPr lang="en-US" sz="790" dirty="0"/>
          </a:p>
        </p:txBody>
      </p:sp>
      <p:sp>
        <p:nvSpPr>
          <p:cNvPr id="39" name="Shape 33"/>
          <p:cNvSpPr/>
          <p:nvPr/>
        </p:nvSpPr>
        <p:spPr>
          <a:xfrm>
            <a:off x="8549640" y="3977640"/>
            <a:ext cx="2423160" cy="1024128"/>
          </a:xfrm>
          <a:prstGeom prst="roundRect">
            <a:avLst>
              <a:gd name="adj" fmla="val 7143"/>
            </a:avLst>
          </a:prstGeom>
          <a:solidFill>
            <a:srgbClr val="FFFFFF"/>
          </a:solidFill>
          <a:ln w="12700">
            <a:solidFill>
              <a:srgbClr val="DDE7EA"/>
            </a:solidFill>
            <a:prstDash val="solid"/>
          </a:ln>
        </p:spPr>
      </p:sp>
      <p:sp>
        <p:nvSpPr>
          <p:cNvPr id="40" name="Text 34"/>
          <p:cNvSpPr/>
          <p:nvPr/>
        </p:nvSpPr>
        <p:spPr>
          <a:xfrm>
            <a:off x="8686800" y="4133088"/>
            <a:ext cx="2148840" cy="320040"/>
          </a:xfrm>
          <a:prstGeom prst="rect">
            <a:avLst/>
          </a:prstGeom>
          <a:noFill/>
          <a:ln/>
        </p:spPr>
        <p:txBody>
          <a:bodyPr wrap="square" lIns="0" tIns="0" rIns="0" bIns="0" rtlCol="0" anchor="ctr">
            <a:normAutofit/>
          </a:bodyPr>
          <a:lstStyle/>
          <a:p>
            <a:pPr algn="ctr" indent="0" marL="0">
              <a:buNone/>
            </a:pPr>
            <a:r>
              <a:rPr lang="en-US" sz="2200" b="1" dirty="0">
                <a:solidFill>
                  <a:srgbClr val="6C63FF"/>
                </a:solidFill>
                <a:latin typeface="Noto Sans" pitchFamily="34" charset="0"/>
                <a:ea typeface="Noto Sans" pitchFamily="34" charset="-122"/>
                <a:cs typeface="Noto Sans" pitchFamily="34" charset="-120"/>
              </a:rPr>
              <a:t>20 Oct</a:t>
            </a:r>
            <a:endParaRPr lang="en-US" sz="2200" dirty="0"/>
          </a:p>
        </p:txBody>
      </p:sp>
      <p:sp>
        <p:nvSpPr>
          <p:cNvPr id="41" name="Text 35"/>
          <p:cNvSpPr/>
          <p:nvPr/>
        </p:nvSpPr>
        <p:spPr>
          <a:xfrm>
            <a:off x="8659368" y="4526280"/>
            <a:ext cx="220370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FINAL BUILD</a:t>
            </a:r>
            <a:endParaRPr lang="en-US" sz="950" dirty="0"/>
          </a:p>
        </p:txBody>
      </p:sp>
      <p:sp>
        <p:nvSpPr>
          <p:cNvPr id="42" name="Text 36"/>
          <p:cNvSpPr/>
          <p:nvPr/>
        </p:nvSpPr>
        <p:spPr>
          <a:xfrm>
            <a:off x="8659368" y="4745736"/>
            <a:ext cx="220370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2026</a:t>
            </a:r>
            <a:endParaRPr lang="en-US" sz="790" dirty="0"/>
          </a:p>
        </p:txBody>
      </p:sp>
      <p:sp>
        <p:nvSpPr>
          <p:cNvPr id="43" name="Text 37"/>
          <p:cNvSpPr/>
          <p:nvPr/>
        </p:nvSpPr>
        <p:spPr>
          <a:xfrm>
            <a:off x="731520" y="5349240"/>
            <a:ext cx="10424160" cy="457200"/>
          </a:xfrm>
          <a:prstGeom prst="rect">
            <a:avLst/>
          </a:prstGeom>
          <a:noFill/>
          <a:ln/>
        </p:spPr>
        <p:txBody>
          <a:bodyPr wrap="square" lIns="0" tIns="0" rIns="0" bIns="0" rtlCol="0" anchor="ctr"/>
          <a:lstStyle/>
          <a:p>
            <a:pPr algn="ctr" indent="0" marL="0">
              <a:buNone/>
            </a:pPr>
            <a:r>
              <a:rPr lang="en-US" sz="1700" b="1" dirty="0">
                <a:solidFill>
                  <a:srgbClr val="0B3D4B"/>
                </a:solidFill>
                <a:latin typeface="Noto Sans" pitchFamily="34" charset="0"/>
                <a:ea typeface="Noto Sans" pitchFamily="34" charset="-122"/>
                <a:cs typeface="Noto Sans" pitchFamily="34" charset="-120"/>
              </a:rPr>
              <a:t>Guiding priority: medical accuracy before feature speed.</a:t>
            </a:r>
            <a:endParaRPr lang="en-US" sz="170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Problem Space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PRD groups the product around access, continuity, fragmented data and safe decision support.</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PROBLEM</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48640" y="1371600"/>
            <a:ext cx="2148840" cy="1828800"/>
          </a:xfrm>
          <a:prstGeom prst="roundRect">
            <a:avLst>
              <a:gd name="adj" fmla="val 4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713232" y="1536192"/>
            <a:ext cx="402336" cy="402336"/>
          </a:xfrm>
          <a:prstGeom prst="ellipse">
            <a:avLst/>
          </a:prstGeom>
          <a:solidFill>
            <a:srgbClr val="FFF6E5"/>
          </a:solidFill>
          <a:ln w="12700">
            <a:solidFill>
              <a:srgbClr val="FFF6E5"/>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3816" y="1636776"/>
            <a:ext cx="201168" cy="201168"/>
          </a:xfrm>
          <a:prstGeom prst="rect">
            <a:avLst/>
          </a:prstGeom>
        </p:spPr>
      </p:pic>
      <p:sp>
        <p:nvSpPr>
          <p:cNvPr id="10" name="Text 7"/>
          <p:cNvSpPr/>
          <p:nvPr/>
        </p:nvSpPr>
        <p:spPr>
          <a:xfrm>
            <a:off x="1207008" y="1545336"/>
            <a:ext cx="1325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Access &amp; Time</a:t>
            </a:r>
            <a:endParaRPr lang="en-US" sz="1400" dirty="0"/>
          </a:p>
        </p:txBody>
      </p:sp>
      <p:sp>
        <p:nvSpPr>
          <p:cNvPr id="11" name="Text 8"/>
          <p:cNvSpPr/>
          <p:nvPr/>
        </p:nvSpPr>
        <p:spPr>
          <a:xfrm>
            <a:off x="731520" y="2057400"/>
            <a:ext cx="1783080" cy="987552"/>
          </a:xfrm>
          <a:prstGeom prst="rect">
            <a:avLst/>
          </a:prstGeom>
          <a:noFill/>
          <a:ln/>
        </p:spPr>
        <p:txBody>
          <a:bodyPr wrap="square" lIns="254" tIns="254" rIns="254" bIns="254" rtlCol="0" anchor="t">
            <a:normAutofit/>
          </a:bodyPr>
          <a:lstStyle/>
          <a:p>
            <a:pPr indent="0" marL="0">
              <a:buNone/>
            </a:pPr>
            <a:r>
              <a:rPr lang="en-US" sz="1050" dirty="0">
                <a:solidFill>
                  <a:srgbClr val="5F7180"/>
                </a:solidFill>
                <a:latin typeface="Noto Sans" pitchFamily="34" charset="0"/>
                <a:ea typeface="Noto Sans" pitchFamily="34" charset="-122"/>
                <a:cs typeface="Noto Sans" pitchFamily="34" charset="-120"/>
              </a:rPr>
              <a:t>• Long waiting times</a:t>
            </a:r>
            <a:endParaRPr lang="en-US" sz="1050" dirty="0"/>
          </a:p>
          <a:p>
            <a:pPr indent="0" marL="0">
              <a:buNone/>
            </a:pPr>
            <a:r>
              <a:rPr lang="en-US" sz="1050" dirty="0">
                <a:solidFill>
                  <a:srgbClr val="5F7180"/>
                </a:solidFill>
                <a:latin typeface="Noto Sans" pitchFamily="34" charset="0"/>
                <a:ea typeface="Noto Sans" pitchFamily="34" charset="-122"/>
                <a:cs typeface="Noto Sans" pitchFamily="34" charset="-120"/>
              </a:rPr>
              <a:t>• Transportation burden</a:t>
            </a:r>
            <a:endParaRPr lang="en-US" sz="1050" dirty="0"/>
          </a:p>
          <a:p>
            <a:pPr indent="0" marL="0">
              <a:buNone/>
            </a:pPr>
            <a:r>
              <a:rPr lang="en-US" sz="1050" dirty="0">
                <a:solidFill>
                  <a:srgbClr val="5F7180"/>
                </a:solidFill>
                <a:latin typeface="Noto Sans" pitchFamily="34" charset="0"/>
                <a:ea typeface="Noto Sans" pitchFamily="34" charset="-122"/>
                <a:cs typeface="Noto Sans" pitchFamily="34" charset="-120"/>
              </a:rPr>
              <a:t>• Limited specialist access in some regions</a:t>
            </a:r>
            <a:endParaRPr lang="en-US" sz="1050" dirty="0"/>
          </a:p>
        </p:txBody>
      </p:sp>
      <p:sp>
        <p:nvSpPr>
          <p:cNvPr id="12" name="Shape 9"/>
          <p:cNvSpPr/>
          <p:nvPr/>
        </p:nvSpPr>
        <p:spPr>
          <a:xfrm>
            <a:off x="2834640" y="1371600"/>
            <a:ext cx="2148840" cy="1828800"/>
          </a:xfrm>
          <a:prstGeom prst="roundRect">
            <a:avLst>
              <a:gd name="adj" fmla="val 4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2999232" y="1536192"/>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9816" y="1636776"/>
            <a:ext cx="201168" cy="201168"/>
          </a:xfrm>
          <a:prstGeom prst="rect">
            <a:avLst/>
          </a:prstGeom>
        </p:spPr>
      </p:pic>
      <p:sp>
        <p:nvSpPr>
          <p:cNvPr id="15" name="Text 11"/>
          <p:cNvSpPr/>
          <p:nvPr/>
        </p:nvSpPr>
        <p:spPr>
          <a:xfrm>
            <a:off x="3493008" y="1545336"/>
            <a:ext cx="1325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Follow-up</a:t>
            </a:r>
            <a:endParaRPr lang="en-US" sz="1400" dirty="0"/>
          </a:p>
        </p:txBody>
      </p:sp>
      <p:sp>
        <p:nvSpPr>
          <p:cNvPr id="16" name="Text 12"/>
          <p:cNvSpPr/>
          <p:nvPr/>
        </p:nvSpPr>
        <p:spPr>
          <a:xfrm>
            <a:off x="3017520" y="2057400"/>
            <a:ext cx="1783080" cy="987552"/>
          </a:xfrm>
          <a:prstGeom prst="rect">
            <a:avLst/>
          </a:prstGeom>
          <a:noFill/>
          <a:ln/>
        </p:spPr>
        <p:txBody>
          <a:bodyPr wrap="square" lIns="254" tIns="254" rIns="254" bIns="254" rtlCol="0" anchor="t">
            <a:normAutofit/>
          </a:bodyPr>
          <a:lstStyle/>
          <a:p>
            <a:pPr indent="0" marL="0">
              <a:buNone/>
            </a:pPr>
            <a:r>
              <a:rPr lang="en-US" sz="1050" dirty="0">
                <a:solidFill>
                  <a:srgbClr val="5F7180"/>
                </a:solidFill>
                <a:latin typeface="Noto Sans" pitchFamily="34" charset="0"/>
                <a:ea typeface="Noto Sans" pitchFamily="34" charset="-122"/>
                <a:cs typeface="Noto Sans" pitchFamily="34" charset="-120"/>
              </a:rPr>
              <a:t>• Weak continuous follow-up</a:t>
            </a:r>
            <a:endParaRPr lang="en-US" sz="1050" dirty="0"/>
          </a:p>
          <a:p>
            <a:pPr indent="0" marL="0">
              <a:buNone/>
            </a:pPr>
            <a:r>
              <a:rPr lang="en-US" sz="1050" dirty="0">
                <a:solidFill>
                  <a:srgbClr val="5F7180"/>
                </a:solidFill>
                <a:latin typeface="Noto Sans" pitchFamily="34" charset="0"/>
                <a:ea typeface="Noto Sans" pitchFamily="34" charset="-122"/>
                <a:cs typeface="Noto Sans" pitchFamily="34" charset="-120"/>
              </a:rPr>
              <a:t>• Gaps between visits</a:t>
            </a:r>
            <a:endParaRPr lang="en-US" sz="1050" dirty="0"/>
          </a:p>
          <a:p>
            <a:pPr indent="0" marL="0">
              <a:buNone/>
            </a:pPr>
            <a:r>
              <a:rPr lang="en-US" sz="1050" dirty="0">
                <a:solidFill>
                  <a:srgbClr val="5F7180"/>
                </a:solidFill>
                <a:latin typeface="Noto Sans" pitchFamily="34" charset="0"/>
                <a:ea typeface="Noto Sans" pitchFamily="34" charset="-122"/>
                <a:cs typeface="Noto Sans" pitchFamily="34" charset="-120"/>
              </a:rPr>
              <a:t>• Hard to keep care connected</a:t>
            </a:r>
            <a:endParaRPr lang="en-US" sz="1050" dirty="0"/>
          </a:p>
        </p:txBody>
      </p:sp>
      <p:sp>
        <p:nvSpPr>
          <p:cNvPr id="17" name="Shape 13"/>
          <p:cNvSpPr/>
          <p:nvPr/>
        </p:nvSpPr>
        <p:spPr>
          <a:xfrm>
            <a:off x="5120640" y="1371600"/>
            <a:ext cx="2148840" cy="1828800"/>
          </a:xfrm>
          <a:prstGeom prst="roundRect">
            <a:avLst>
              <a:gd name="adj" fmla="val 4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5285232" y="1536192"/>
            <a:ext cx="402336" cy="402336"/>
          </a:xfrm>
          <a:prstGeom prst="ellipse">
            <a:avLst/>
          </a:prstGeom>
          <a:solidFill>
            <a:srgbClr val="EAF2FF"/>
          </a:solidFill>
          <a:ln w="12700">
            <a:solidFill>
              <a:srgbClr val="EAF2FF"/>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5816" y="1636776"/>
            <a:ext cx="201168" cy="201168"/>
          </a:xfrm>
          <a:prstGeom prst="rect">
            <a:avLst/>
          </a:prstGeom>
        </p:spPr>
      </p:pic>
      <p:sp>
        <p:nvSpPr>
          <p:cNvPr id="20" name="Text 15"/>
          <p:cNvSpPr/>
          <p:nvPr/>
        </p:nvSpPr>
        <p:spPr>
          <a:xfrm>
            <a:off x="5779008" y="1545336"/>
            <a:ext cx="1325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Fragmented Data</a:t>
            </a:r>
            <a:endParaRPr lang="en-US" sz="1400" dirty="0"/>
          </a:p>
        </p:txBody>
      </p:sp>
      <p:sp>
        <p:nvSpPr>
          <p:cNvPr id="21" name="Text 16"/>
          <p:cNvSpPr/>
          <p:nvPr/>
        </p:nvSpPr>
        <p:spPr>
          <a:xfrm>
            <a:off x="5303520" y="2057400"/>
            <a:ext cx="1783080" cy="987552"/>
          </a:xfrm>
          <a:prstGeom prst="rect">
            <a:avLst/>
          </a:prstGeom>
          <a:noFill/>
          <a:ln/>
        </p:spPr>
        <p:txBody>
          <a:bodyPr wrap="square" lIns="254" tIns="254" rIns="254" bIns="254" rtlCol="0" anchor="t">
            <a:normAutofit/>
          </a:bodyPr>
          <a:lstStyle/>
          <a:p>
            <a:pPr indent="0" marL="0">
              <a:buNone/>
            </a:pPr>
            <a:r>
              <a:rPr lang="en-US" sz="1040" dirty="0">
                <a:solidFill>
                  <a:srgbClr val="5F7180"/>
                </a:solidFill>
                <a:latin typeface="Noto Sans" pitchFamily="34" charset="0"/>
                <a:ea typeface="Noto Sans" pitchFamily="34" charset="-122"/>
                <a:cs typeface="Noto Sans" pitchFamily="34" charset="-120"/>
              </a:rPr>
              <a:t>• History scattered across places</a:t>
            </a:r>
            <a:endParaRPr lang="en-US" sz="1040" dirty="0"/>
          </a:p>
          <a:p>
            <a:pPr indent="0" marL="0">
              <a:buNone/>
            </a:pPr>
            <a:r>
              <a:rPr lang="en-US" sz="1040" dirty="0">
                <a:solidFill>
                  <a:srgbClr val="5F7180"/>
                </a:solidFill>
                <a:latin typeface="Noto Sans" pitchFamily="34" charset="0"/>
                <a:ea typeface="Noto Sans" pitchFamily="34" charset="-122"/>
                <a:cs typeface="Noto Sans" pitchFamily="34" charset="-120"/>
              </a:rPr>
              <a:t>• Hard to track reports, tests and medications</a:t>
            </a:r>
            <a:endParaRPr lang="en-US" sz="1040" dirty="0"/>
          </a:p>
        </p:txBody>
      </p:sp>
      <p:sp>
        <p:nvSpPr>
          <p:cNvPr id="22" name="Shape 17"/>
          <p:cNvSpPr/>
          <p:nvPr/>
        </p:nvSpPr>
        <p:spPr>
          <a:xfrm>
            <a:off x="7406640" y="1371600"/>
            <a:ext cx="2148840" cy="1828800"/>
          </a:xfrm>
          <a:prstGeom prst="roundRect">
            <a:avLst>
              <a:gd name="adj" fmla="val 4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7571232" y="1536192"/>
            <a:ext cx="402336" cy="402336"/>
          </a:xfrm>
          <a:prstGeom prst="ellipse">
            <a:avLst/>
          </a:prstGeom>
          <a:solidFill>
            <a:srgbClr val="F0EFFF"/>
          </a:solidFill>
          <a:ln w="12700">
            <a:solidFill>
              <a:srgbClr val="F0EFFF"/>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71816" y="1636776"/>
            <a:ext cx="201168" cy="201168"/>
          </a:xfrm>
          <a:prstGeom prst="rect">
            <a:avLst/>
          </a:prstGeom>
        </p:spPr>
      </p:pic>
      <p:sp>
        <p:nvSpPr>
          <p:cNvPr id="25" name="Text 19"/>
          <p:cNvSpPr/>
          <p:nvPr/>
        </p:nvSpPr>
        <p:spPr>
          <a:xfrm>
            <a:off x="8065008" y="1545336"/>
            <a:ext cx="1325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Patient Clarity</a:t>
            </a:r>
            <a:endParaRPr lang="en-US" sz="1400" dirty="0"/>
          </a:p>
        </p:txBody>
      </p:sp>
      <p:sp>
        <p:nvSpPr>
          <p:cNvPr id="26" name="Text 20"/>
          <p:cNvSpPr/>
          <p:nvPr/>
        </p:nvSpPr>
        <p:spPr>
          <a:xfrm>
            <a:off x="7589520" y="2057400"/>
            <a:ext cx="1783080" cy="987552"/>
          </a:xfrm>
          <a:prstGeom prst="rect">
            <a:avLst/>
          </a:prstGeom>
          <a:noFill/>
          <a:ln/>
        </p:spPr>
        <p:txBody>
          <a:bodyPr wrap="square" lIns="254" tIns="254" rIns="254" bIns="254" rtlCol="0" anchor="t">
            <a:normAutofit/>
          </a:bodyPr>
          <a:lstStyle/>
          <a:p>
            <a:pPr indent="0" marL="0">
              <a:buNone/>
            </a:pPr>
            <a:r>
              <a:rPr lang="en-US" sz="1020" dirty="0">
                <a:solidFill>
                  <a:srgbClr val="5F7180"/>
                </a:solidFill>
                <a:latin typeface="Noto Sans" pitchFamily="34" charset="0"/>
                <a:ea typeface="Noto Sans" pitchFamily="34" charset="-122"/>
                <a:cs typeface="Noto Sans" pitchFamily="34" charset="-120"/>
              </a:rPr>
              <a:t>• Users may struggle to understand health status</a:t>
            </a:r>
            <a:endParaRPr lang="en-US" sz="1020" dirty="0"/>
          </a:p>
          <a:p>
            <a:pPr indent="0" marL="0">
              <a:buNone/>
            </a:pPr>
            <a:r>
              <a:rPr lang="en-US" sz="1020" dirty="0">
                <a:solidFill>
                  <a:srgbClr val="5F7180"/>
                </a:solidFill>
                <a:latin typeface="Noto Sans" pitchFamily="34" charset="0"/>
                <a:ea typeface="Noto Sans" pitchFamily="34" charset="-122"/>
                <a:cs typeface="Noto Sans" pitchFamily="34" charset="-120"/>
              </a:rPr>
              <a:t>• Results need simple presentation</a:t>
            </a:r>
            <a:endParaRPr lang="en-US" sz="1020" dirty="0"/>
          </a:p>
        </p:txBody>
      </p:sp>
      <p:sp>
        <p:nvSpPr>
          <p:cNvPr id="27" name="Shape 21"/>
          <p:cNvSpPr/>
          <p:nvPr/>
        </p:nvSpPr>
        <p:spPr>
          <a:xfrm>
            <a:off x="9692640" y="1371600"/>
            <a:ext cx="1965960" cy="1828800"/>
          </a:xfrm>
          <a:prstGeom prst="roundRect">
            <a:avLst>
              <a:gd name="adj" fmla="val 4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9857232" y="1536192"/>
            <a:ext cx="402336" cy="402336"/>
          </a:xfrm>
          <a:prstGeom prst="ellipse">
            <a:avLst/>
          </a:prstGeom>
          <a:solidFill>
            <a:srgbClr val="FDECEF"/>
          </a:solidFill>
          <a:ln w="12700">
            <a:solidFill>
              <a:srgbClr val="FDECEF"/>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57816" y="1636776"/>
            <a:ext cx="201168" cy="201168"/>
          </a:xfrm>
          <a:prstGeom prst="rect">
            <a:avLst/>
          </a:prstGeom>
        </p:spPr>
      </p:pic>
      <p:sp>
        <p:nvSpPr>
          <p:cNvPr id="30" name="Text 23"/>
          <p:cNvSpPr/>
          <p:nvPr/>
        </p:nvSpPr>
        <p:spPr>
          <a:xfrm>
            <a:off x="10351008" y="1545336"/>
            <a:ext cx="114300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Safety &amp; Accuracy</a:t>
            </a:r>
            <a:endParaRPr lang="en-US" sz="1400" dirty="0"/>
          </a:p>
        </p:txBody>
      </p:sp>
      <p:sp>
        <p:nvSpPr>
          <p:cNvPr id="31" name="Text 24"/>
          <p:cNvSpPr/>
          <p:nvPr/>
        </p:nvSpPr>
        <p:spPr>
          <a:xfrm>
            <a:off x="9875520" y="2057400"/>
            <a:ext cx="1600200" cy="987552"/>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 Wrong AI outputs are the biggest project risk</a:t>
            </a:r>
            <a:endParaRPr lang="en-US" sz="1000" dirty="0"/>
          </a:p>
          <a:p>
            <a:pPr indent="0" marL="0">
              <a:buNone/>
            </a:pPr>
            <a:r>
              <a:rPr lang="en-US" sz="1000" dirty="0">
                <a:solidFill>
                  <a:srgbClr val="5F7180"/>
                </a:solidFill>
                <a:latin typeface="Noto Sans" pitchFamily="34" charset="0"/>
                <a:ea typeface="Noto Sans" pitchFamily="34" charset="-122"/>
                <a:cs typeface="Noto Sans" pitchFamily="34" charset="-120"/>
              </a:rPr>
              <a:t>• Doctor review is mandatory in MVP</a:t>
            </a:r>
            <a:endParaRPr lang="en-US" sz="1000" dirty="0"/>
          </a:p>
        </p:txBody>
      </p:sp>
      <p:sp>
        <p:nvSpPr>
          <p:cNvPr id="32" name="Text 25"/>
          <p:cNvSpPr/>
          <p:nvPr/>
        </p:nvSpPr>
        <p:spPr>
          <a:xfrm>
            <a:off x="640080" y="3703320"/>
            <a:ext cx="10972800" cy="411480"/>
          </a:xfrm>
          <a:prstGeom prst="rect">
            <a:avLst/>
          </a:prstGeom>
          <a:noFill/>
          <a:ln/>
        </p:spPr>
        <p:txBody>
          <a:bodyPr wrap="square" lIns="0" tIns="0" rIns="0" bIns="0" rtlCol="0" anchor="ctr"/>
          <a:lstStyle/>
          <a:p>
            <a:pPr algn="ctr" indent="0" marL="0">
              <a:buNone/>
            </a:pPr>
            <a:r>
              <a:rPr lang="en-US" sz="1800" b="1" dirty="0">
                <a:solidFill>
                  <a:srgbClr val="142A37"/>
                </a:solidFill>
                <a:latin typeface="Noto Sans" pitchFamily="34" charset="0"/>
                <a:ea typeface="Noto Sans" pitchFamily="34" charset="-122"/>
                <a:cs typeface="Noto Sans" pitchFamily="34" charset="-120"/>
              </a:rPr>
              <a:t>How might HealthVibe reduce friction without pretending to replace the clinician?</a:t>
            </a:r>
            <a:endParaRPr lang="en-US" sz="1800" dirty="0"/>
          </a:p>
        </p:txBody>
      </p:sp>
      <p:sp>
        <p:nvSpPr>
          <p:cNvPr id="33" name="Shape 26"/>
          <p:cNvSpPr/>
          <p:nvPr/>
        </p:nvSpPr>
        <p:spPr>
          <a:xfrm rot="-120000">
            <a:off x="1051560" y="4572000"/>
            <a:ext cx="1508760" cy="960120"/>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34" name="Text 27"/>
          <p:cNvSpPr/>
          <p:nvPr/>
        </p:nvSpPr>
        <p:spPr>
          <a:xfrm rot="-120000">
            <a:off x="1170432" y="4681728"/>
            <a:ext cx="1271016" cy="7406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Time</a:t>
            </a:r>
            <a:endParaRPr lang="en-US" sz="1020" dirty="0"/>
          </a:p>
        </p:txBody>
      </p:sp>
      <p:sp>
        <p:nvSpPr>
          <p:cNvPr id="35" name="Shape 28"/>
          <p:cNvSpPr/>
          <p:nvPr/>
        </p:nvSpPr>
        <p:spPr>
          <a:xfrm rot="120000">
            <a:off x="3200400" y="4572000"/>
            <a:ext cx="1508760" cy="960120"/>
          </a:xfrm>
          <a:prstGeom prst="rect">
            <a:avLst/>
          </a:prstGeom>
          <a:solidFill>
            <a:srgbClr val="FFE4B7"/>
          </a:solidFill>
          <a:ln w="12700">
            <a:solidFill>
              <a:srgbClr val="FFE4B7"/>
            </a:solidFill>
            <a:prstDash val="solid"/>
          </a:ln>
          <a:effectLst>
            <a:outerShdw sx="100000" sy="100000" kx="0" ky="0" algn="bl" rotWithShape="0" blurRad="12700" dist="50800" dir="2700000">
              <a:srgbClr val="8596A0">
                <a:alpha val="15000"/>
              </a:srgbClr>
            </a:outerShdw>
          </a:effectLst>
        </p:spPr>
      </p:sp>
      <p:sp>
        <p:nvSpPr>
          <p:cNvPr id="36" name="Text 29"/>
          <p:cNvSpPr/>
          <p:nvPr/>
        </p:nvSpPr>
        <p:spPr>
          <a:xfrm rot="120000">
            <a:off x="3319272" y="4681728"/>
            <a:ext cx="1271016" cy="7406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Transport</a:t>
            </a:r>
            <a:endParaRPr lang="en-US" sz="1020" dirty="0"/>
          </a:p>
        </p:txBody>
      </p:sp>
      <p:sp>
        <p:nvSpPr>
          <p:cNvPr id="37" name="Shape 30"/>
          <p:cNvSpPr/>
          <p:nvPr/>
        </p:nvSpPr>
        <p:spPr>
          <a:xfrm rot="-120000">
            <a:off x="5349240" y="4572000"/>
            <a:ext cx="1508760" cy="960120"/>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38" name="Text 31"/>
          <p:cNvSpPr/>
          <p:nvPr/>
        </p:nvSpPr>
        <p:spPr>
          <a:xfrm rot="-120000">
            <a:off x="5468112" y="4681728"/>
            <a:ext cx="1271016" cy="7406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Follow-up</a:t>
            </a:r>
            <a:endParaRPr lang="en-US" sz="1020" dirty="0"/>
          </a:p>
        </p:txBody>
      </p:sp>
      <p:sp>
        <p:nvSpPr>
          <p:cNvPr id="39" name="Shape 32"/>
          <p:cNvSpPr/>
          <p:nvPr/>
        </p:nvSpPr>
        <p:spPr>
          <a:xfrm rot="120000">
            <a:off x="7498080" y="4572000"/>
            <a:ext cx="1508760" cy="960120"/>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40" name="Text 33"/>
          <p:cNvSpPr/>
          <p:nvPr/>
        </p:nvSpPr>
        <p:spPr>
          <a:xfrm rot="120000">
            <a:off x="7616952" y="4681728"/>
            <a:ext cx="1271016" cy="7406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Data</a:t>
            </a:r>
            <a:endParaRPr lang="en-US" sz="1020" dirty="0"/>
          </a:p>
        </p:txBody>
      </p:sp>
      <p:sp>
        <p:nvSpPr>
          <p:cNvPr id="41" name="Shape 34"/>
          <p:cNvSpPr/>
          <p:nvPr/>
        </p:nvSpPr>
        <p:spPr>
          <a:xfrm rot="-120000">
            <a:off x="9646920" y="4572000"/>
            <a:ext cx="1508760" cy="960120"/>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42" name="Text 35"/>
          <p:cNvSpPr/>
          <p:nvPr/>
        </p:nvSpPr>
        <p:spPr>
          <a:xfrm rot="-120000">
            <a:off x="9765792" y="4681728"/>
            <a:ext cx="1271016" cy="7406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Accuracy</a:t>
            </a:r>
            <a:endParaRPr lang="en-US" sz="102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Audience &amp; Care Ecosystem</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Primary MVP users are Patient, Doctor and Admin; institutions are part of the broader product model.</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AUDIENCE</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4800600" y="1965960"/>
            <a:ext cx="2560320" cy="2560320"/>
          </a:xfrm>
          <a:prstGeom prst="ellipse">
            <a:avLst/>
          </a:prstGeom>
          <a:solidFill>
            <a:srgbClr val="092B33"/>
          </a:solidFill>
          <a:ln w="12700">
            <a:solidFill>
              <a:srgbClr val="092B33"/>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2704" y="2487168"/>
            <a:ext cx="868680" cy="868680"/>
          </a:xfrm>
          <a:prstGeom prst="rect">
            <a:avLst/>
          </a:prstGeom>
        </p:spPr>
      </p:pic>
      <p:sp>
        <p:nvSpPr>
          <p:cNvPr id="9" name="Text 6"/>
          <p:cNvSpPr/>
          <p:nvPr/>
        </p:nvSpPr>
        <p:spPr>
          <a:xfrm>
            <a:off x="5230368" y="3383280"/>
            <a:ext cx="1737360" cy="65836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Noto Sans" pitchFamily="34" charset="0"/>
                <a:ea typeface="Noto Sans" pitchFamily="34" charset="-122"/>
                <a:cs typeface="Noto Sans" pitchFamily="34" charset="-120"/>
              </a:rPr>
              <a:t>HealthVibe</a:t>
            </a:r>
            <a:endParaRPr lang="en-US" sz="1900" dirty="0"/>
          </a:p>
          <a:p>
            <a:pPr algn="ctr" indent="0" marL="0">
              <a:buNone/>
            </a:pPr>
            <a:r>
              <a:rPr lang="en-US" sz="1900" b="1" dirty="0">
                <a:solidFill>
                  <a:srgbClr val="FFFFFF"/>
                </a:solidFill>
                <a:latin typeface="Noto Sans" pitchFamily="34" charset="0"/>
                <a:ea typeface="Noto Sans" pitchFamily="34" charset="-122"/>
                <a:cs typeface="Noto Sans" pitchFamily="34" charset="-120"/>
              </a:rPr>
              <a:t>AI</a:t>
            </a:r>
            <a:endParaRPr lang="en-US" sz="1900" dirty="0"/>
          </a:p>
        </p:txBody>
      </p:sp>
      <p:sp>
        <p:nvSpPr>
          <p:cNvPr id="10" name="Shape 7"/>
          <p:cNvSpPr/>
          <p:nvPr/>
        </p:nvSpPr>
        <p:spPr>
          <a:xfrm>
            <a:off x="685800" y="1463040"/>
            <a:ext cx="242316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1" name="Shape 8"/>
          <p:cNvSpPr/>
          <p:nvPr/>
        </p:nvSpPr>
        <p:spPr>
          <a:xfrm>
            <a:off x="850392" y="1627632"/>
            <a:ext cx="402336" cy="402336"/>
          </a:xfrm>
          <a:prstGeom prst="ellipse">
            <a:avLst/>
          </a:prstGeom>
          <a:solidFill>
            <a:srgbClr val="E8F8F4"/>
          </a:solidFill>
          <a:ln w="12700">
            <a:solidFill>
              <a:srgbClr val="E8F8F4"/>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976" y="1728216"/>
            <a:ext cx="201168" cy="201168"/>
          </a:xfrm>
          <a:prstGeom prst="rect">
            <a:avLst/>
          </a:prstGeom>
        </p:spPr>
      </p:pic>
      <p:sp>
        <p:nvSpPr>
          <p:cNvPr id="13" name="Text 9"/>
          <p:cNvSpPr/>
          <p:nvPr/>
        </p:nvSpPr>
        <p:spPr>
          <a:xfrm>
            <a:off x="1344168" y="1636776"/>
            <a:ext cx="1600200"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Patient</a:t>
            </a:r>
            <a:endParaRPr lang="en-US" sz="1320" dirty="0"/>
          </a:p>
        </p:txBody>
      </p:sp>
      <p:sp>
        <p:nvSpPr>
          <p:cNvPr id="14" name="Text 10"/>
          <p:cNvSpPr/>
          <p:nvPr/>
        </p:nvSpPr>
        <p:spPr>
          <a:xfrm>
            <a:off x="868680" y="2148840"/>
            <a:ext cx="2057400" cy="48463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Own profile • modules • approved results • history • doctor • appointments</a:t>
            </a:r>
            <a:endParaRPr lang="en-US" sz="910" dirty="0"/>
          </a:p>
        </p:txBody>
      </p:sp>
      <p:sp>
        <p:nvSpPr>
          <p:cNvPr id="15" name="Shape 11"/>
          <p:cNvSpPr/>
          <p:nvPr/>
        </p:nvSpPr>
        <p:spPr>
          <a:xfrm>
            <a:off x="9098280" y="1463040"/>
            <a:ext cx="242316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6" name="Shape 12"/>
          <p:cNvSpPr/>
          <p:nvPr/>
        </p:nvSpPr>
        <p:spPr>
          <a:xfrm>
            <a:off x="9262872" y="1627632"/>
            <a:ext cx="402336" cy="402336"/>
          </a:xfrm>
          <a:prstGeom prst="ellipse">
            <a:avLst/>
          </a:prstGeom>
          <a:solidFill>
            <a:srgbClr val="E8F8F4"/>
          </a:solidFill>
          <a:ln w="12700">
            <a:solidFill>
              <a:srgbClr val="E8F8F4"/>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63456" y="1728216"/>
            <a:ext cx="201168" cy="201168"/>
          </a:xfrm>
          <a:prstGeom prst="rect">
            <a:avLst/>
          </a:prstGeom>
        </p:spPr>
      </p:pic>
      <p:sp>
        <p:nvSpPr>
          <p:cNvPr id="18" name="Text 13"/>
          <p:cNvSpPr/>
          <p:nvPr/>
        </p:nvSpPr>
        <p:spPr>
          <a:xfrm>
            <a:off x="9756648" y="1636776"/>
            <a:ext cx="1600200"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Doctor</a:t>
            </a:r>
            <a:endParaRPr lang="en-US" sz="1320" dirty="0"/>
          </a:p>
        </p:txBody>
      </p:sp>
      <p:sp>
        <p:nvSpPr>
          <p:cNvPr id="19" name="Text 14"/>
          <p:cNvSpPr/>
          <p:nvPr/>
        </p:nvSpPr>
        <p:spPr>
          <a:xfrm>
            <a:off x="9281160" y="2148840"/>
            <a:ext cx="2057400" cy="48463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Assigned patients • review AI • approve/reject • notes • reports</a:t>
            </a:r>
            <a:endParaRPr lang="en-US" sz="910" dirty="0"/>
          </a:p>
        </p:txBody>
      </p:sp>
      <p:sp>
        <p:nvSpPr>
          <p:cNvPr id="20" name="Shape 15"/>
          <p:cNvSpPr/>
          <p:nvPr/>
        </p:nvSpPr>
        <p:spPr>
          <a:xfrm>
            <a:off x="685800" y="4206240"/>
            <a:ext cx="242316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1" name="Shape 16"/>
          <p:cNvSpPr/>
          <p:nvPr/>
        </p:nvSpPr>
        <p:spPr>
          <a:xfrm>
            <a:off x="850392" y="4370832"/>
            <a:ext cx="402336" cy="402336"/>
          </a:xfrm>
          <a:prstGeom prst="ellipse">
            <a:avLst/>
          </a:prstGeom>
          <a:solidFill>
            <a:srgbClr val="E8F8F4"/>
          </a:solidFill>
          <a:ln w="12700">
            <a:solidFill>
              <a:srgbClr val="E8F8F4"/>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0976" y="4471416"/>
            <a:ext cx="201168" cy="201168"/>
          </a:xfrm>
          <a:prstGeom prst="rect">
            <a:avLst/>
          </a:prstGeom>
        </p:spPr>
      </p:pic>
      <p:sp>
        <p:nvSpPr>
          <p:cNvPr id="23" name="Text 17"/>
          <p:cNvSpPr/>
          <p:nvPr/>
        </p:nvSpPr>
        <p:spPr>
          <a:xfrm>
            <a:off x="1344168" y="4379976"/>
            <a:ext cx="1600200"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Admin</a:t>
            </a:r>
            <a:endParaRPr lang="en-US" sz="1320" dirty="0"/>
          </a:p>
        </p:txBody>
      </p:sp>
      <p:sp>
        <p:nvSpPr>
          <p:cNvPr id="24" name="Text 18"/>
          <p:cNvSpPr/>
          <p:nvPr/>
        </p:nvSpPr>
        <p:spPr>
          <a:xfrm>
            <a:off x="868680" y="4892040"/>
            <a:ext cx="2057400" cy="48463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Users • doctors • branches • AI metrics • content • operations</a:t>
            </a:r>
            <a:endParaRPr lang="en-US" sz="910" dirty="0"/>
          </a:p>
        </p:txBody>
      </p:sp>
      <p:sp>
        <p:nvSpPr>
          <p:cNvPr id="25" name="Shape 19"/>
          <p:cNvSpPr/>
          <p:nvPr/>
        </p:nvSpPr>
        <p:spPr>
          <a:xfrm>
            <a:off x="9098280" y="4206240"/>
            <a:ext cx="242316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6" name="Shape 20"/>
          <p:cNvSpPr/>
          <p:nvPr/>
        </p:nvSpPr>
        <p:spPr>
          <a:xfrm>
            <a:off x="9262872" y="4370832"/>
            <a:ext cx="402336" cy="402336"/>
          </a:xfrm>
          <a:prstGeom prst="ellipse">
            <a:avLst/>
          </a:prstGeom>
          <a:solidFill>
            <a:srgbClr val="E8F8F4"/>
          </a:solidFill>
          <a:ln w="12700">
            <a:solidFill>
              <a:srgbClr val="E8F8F4"/>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63456" y="4471416"/>
            <a:ext cx="201168" cy="201168"/>
          </a:xfrm>
          <a:prstGeom prst="rect">
            <a:avLst/>
          </a:prstGeom>
        </p:spPr>
      </p:pic>
      <p:sp>
        <p:nvSpPr>
          <p:cNvPr id="28" name="Text 21"/>
          <p:cNvSpPr/>
          <p:nvPr/>
        </p:nvSpPr>
        <p:spPr>
          <a:xfrm>
            <a:off x="9756648" y="4379976"/>
            <a:ext cx="1600200"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Clinic / Hospital</a:t>
            </a:r>
            <a:endParaRPr lang="en-US" sz="1320" dirty="0"/>
          </a:p>
        </p:txBody>
      </p:sp>
      <p:sp>
        <p:nvSpPr>
          <p:cNvPr id="29" name="Text 22"/>
          <p:cNvSpPr/>
          <p:nvPr/>
        </p:nvSpPr>
        <p:spPr>
          <a:xfrm>
            <a:off x="9281160" y="4892040"/>
            <a:ext cx="2057400" cy="48463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Institution-level doctors, branches, appointments and future integrations</a:t>
            </a:r>
            <a:endParaRPr lang="en-US" sz="910" dirty="0"/>
          </a:p>
        </p:txBody>
      </p:sp>
      <p:sp>
        <p:nvSpPr>
          <p:cNvPr id="30" name="Shape 23"/>
          <p:cNvSpPr/>
          <p:nvPr/>
        </p:nvSpPr>
        <p:spPr>
          <a:xfrm>
            <a:off x="3154680" y="2057400"/>
            <a:ext cx="1645920" cy="685800"/>
          </a:xfrm>
          <a:prstGeom prst="line">
            <a:avLst/>
          </a:prstGeom>
          <a:noFill/>
          <a:ln w="21590">
            <a:solidFill>
              <a:srgbClr val="12B8A6"/>
            </a:solidFill>
            <a:prstDash val="solid"/>
            <a:headEnd type="none"/>
            <a:tailEnd type="triangle"/>
          </a:ln>
        </p:spPr>
      </p:sp>
      <p:sp>
        <p:nvSpPr>
          <p:cNvPr id="31" name="Shape 24"/>
          <p:cNvSpPr/>
          <p:nvPr/>
        </p:nvSpPr>
        <p:spPr>
          <a:xfrm>
            <a:off x="9052560" y="2057400"/>
            <a:ext cx="-1691640" cy="685800"/>
          </a:xfrm>
          <a:prstGeom prst="line">
            <a:avLst/>
          </a:prstGeom>
          <a:noFill/>
          <a:ln w="21590">
            <a:solidFill>
              <a:srgbClr val="12B8A6"/>
            </a:solidFill>
            <a:prstDash val="solid"/>
            <a:headEnd type="none"/>
            <a:tailEnd type="triangle"/>
          </a:ln>
        </p:spPr>
      </p:sp>
      <p:sp>
        <p:nvSpPr>
          <p:cNvPr id="32" name="Shape 25"/>
          <p:cNvSpPr/>
          <p:nvPr/>
        </p:nvSpPr>
        <p:spPr>
          <a:xfrm>
            <a:off x="3154680" y="4572000"/>
            <a:ext cx="1645920" cy="-685800"/>
          </a:xfrm>
          <a:prstGeom prst="line">
            <a:avLst/>
          </a:prstGeom>
          <a:noFill/>
          <a:ln w="21590">
            <a:solidFill>
              <a:srgbClr val="12B8A6"/>
            </a:solidFill>
            <a:prstDash val="solid"/>
            <a:headEnd type="none"/>
            <a:tailEnd type="triangle"/>
          </a:ln>
        </p:spPr>
      </p:sp>
      <p:sp>
        <p:nvSpPr>
          <p:cNvPr id="33" name="Shape 26"/>
          <p:cNvSpPr/>
          <p:nvPr/>
        </p:nvSpPr>
        <p:spPr>
          <a:xfrm>
            <a:off x="9052560" y="4572000"/>
            <a:ext cx="-1691640" cy="-685800"/>
          </a:xfrm>
          <a:prstGeom prst="line">
            <a:avLst/>
          </a:prstGeom>
          <a:noFill/>
          <a:ln w="21590">
            <a:solidFill>
              <a:srgbClr val="12B8A6"/>
            </a:solidFill>
            <a:prstDash val="solid"/>
            <a:headEnd type="none"/>
            <a:tailEnd type="triangle"/>
          </a:ln>
        </p:spPr>
      </p:sp>
      <p:sp>
        <p:nvSpPr>
          <p:cNvPr id="34" name="Text 27"/>
          <p:cNvSpPr/>
          <p:nvPr/>
        </p:nvSpPr>
        <p:spPr>
          <a:xfrm>
            <a:off x="5166360" y="4892040"/>
            <a:ext cx="1828800" cy="237744"/>
          </a:xfrm>
          <a:prstGeom prst="rect">
            <a:avLst/>
          </a:prstGeom>
          <a:noFill/>
          <a:ln/>
        </p:spPr>
        <p:txBody>
          <a:bodyPr wrap="square" lIns="0" tIns="0" rIns="0" bIns="0" rtlCol="0" anchor="ctr"/>
          <a:lstStyle/>
          <a:p>
            <a:pPr algn="ctr" indent="0" marL="0">
              <a:buNone/>
            </a:pPr>
            <a:r>
              <a:rPr lang="en-US" sz="900" b="1" dirty="0">
                <a:solidFill>
                  <a:srgbClr val="5F7180"/>
                </a:solidFill>
                <a:latin typeface="Noto Sans" pitchFamily="34" charset="0"/>
                <a:ea typeface="Noto Sans" pitchFamily="34" charset="-122"/>
                <a:cs typeface="Noto Sans" pitchFamily="34" charset="-120"/>
              </a:rPr>
              <a:t>MVP focus</a:t>
            </a:r>
            <a:endParaRPr lang="en-US" sz="900" dirty="0"/>
          </a:p>
        </p:txBody>
      </p:sp>
      <p:sp>
        <p:nvSpPr>
          <p:cNvPr id="35" name="Shape 28"/>
          <p:cNvSpPr/>
          <p:nvPr/>
        </p:nvSpPr>
        <p:spPr>
          <a:xfrm>
            <a:off x="5001768" y="5193792"/>
            <a:ext cx="868680" cy="329184"/>
          </a:xfrm>
          <a:prstGeom prst="roundRect">
            <a:avLst>
              <a:gd name="adj" fmla="val 38889"/>
            </a:avLst>
          </a:prstGeom>
          <a:solidFill>
            <a:srgbClr val="E8F8F4"/>
          </a:solidFill>
          <a:ln w="12700">
            <a:solidFill>
              <a:srgbClr val="E8F8F4"/>
            </a:solidFill>
            <a:prstDash val="solid"/>
          </a:ln>
        </p:spPr>
      </p:sp>
      <p:sp>
        <p:nvSpPr>
          <p:cNvPr id="36" name="Text 29"/>
          <p:cNvSpPr/>
          <p:nvPr/>
        </p:nvSpPr>
        <p:spPr>
          <a:xfrm>
            <a:off x="5074920" y="5266944"/>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Patient</a:t>
            </a:r>
            <a:endParaRPr lang="en-US" sz="870" dirty="0"/>
          </a:p>
        </p:txBody>
      </p:sp>
      <p:sp>
        <p:nvSpPr>
          <p:cNvPr id="37" name="Shape 30"/>
          <p:cNvSpPr/>
          <p:nvPr/>
        </p:nvSpPr>
        <p:spPr>
          <a:xfrm>
            <a:off x="5925312" y="5193792"/>
            <a:ext cx="868680" cy="329184"/>
          </a:xfrm>
          <a:prstGeom prst="roundRect">
            <a:avLst>
              <a:gd name="adj" fmla="val 38889"/>
            </a:avLst>
          </a:prstGeom>
          <a:solidFill>
            <a:srgbClr val="EAF2FF"/>
          </a:solidFill>
          <a:ln w="12700">
            <a:solidFill>
              <a:srgbClr val="EAF2FF"/>
            </a:solidFill>
            <a:prstDash val="solid"/>
          </a:ln>
        </p:spPr>
      </p:sp>
      <p:sp>
        <p:nvSpPr>
          <p:cNvPr id="38" name="Text 31"/>
          <p:cNvSpPr/>
          <p:nvPr/>
        </p:nvSpPr>
        <p:spPr>
          <a:xfrm>
            <a:off x="5998464" y="5266944"/>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Doctor</a:t>
            </a:r>
            <a:endParaRPr lang="en-US" sz="870" dirty="0"/>
          </a:p>
        </p:txBody>
      </p:sp>
      <p:sp>
        <p:nvSpPr>
          <p:cNvPr id="39" name="Shape 32"/>
          <p:cNvSpPr/>
          <p:nvPr/>
        </p:nvSpPr>
        <p:spPr>
          <a:xfrm>
            <a:off x="6848856" y="5193792"/>
            <a:ext cx="777240" cy="329184"/>
          </a:xfrm>
          <a:prstGeom prst="roundRect">
            <a:avLst>
              <a:gd name="adj" fmla="val 38889"/>
            </a:avLst>
          </a:prstGeom>
          <a:solidFill>
            <a:srgbClr val="F0EFFF"/>
          </a:solidFill>
          <a:ln w="12700">
            <a:solidFill>
              <a:srgbClr val="F0EFFF"/>
            </a:solidFill>
            <a:prstDash val="solid"/>
          </a:ln>
        </p:spPr>
      </p:sp>
      <p:sp>
        <p:nvSpPr>
          <p:cNvPr id="40" name="Text 33"/>
          <p:cNvSpPr/>
          <p:nvPr/>
        </p:nvSpPr>
        <p:spPr>
          <a:xfrm>
            <a:off x="6922008" y="5266944"/>
            <a:ext cx="630936" cy="146304"/>
          </a:xfrm>
          <a:prstGeom prst="rect">
            <a:avLst/>
          </a:prstGeom>
          <a:noFill/>
          <a:ln/>
        </p:spPr>
        <p:txBody>
          <a:bodyPr wrap="square" lIns="0" tIns="0" rIns="0" bIns="0" rtlCol="0" anchor="ctr">
            <a:normAutofit/>
          </a:bodyPr>
          <a:lstStyle/>
          <a:p>
            <a:pPr algn="ctr" indent="0" marL="0">
              <a:buNone/>
            </a:pPr>
            <a:r>
              <a:rPr lang="en-US" sz="870" b="1" dirty="0">
                <a:solidFill>
                  <a:srgbClr val="6C63FF"/>
                </a:solidFill>
                <a:latin typeface="Noto Sans" pitchFamily="34" charset="0"/>
                <a:ea typeface="Noto Sans" pitchFamily="34" charset="-122"/>
                <a:cs typeface="Noto Sans" pitchFamily="34" charset="-120"/>
              </a:rPr>
              <a:t>Admin</a:t>
            </a:r>
            <a:endParaRPr lang="en-US" sz="87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Success Definition &amp; Product Principles</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PRD treats accuracy, safety and simple UX as product principles — not optional polish.</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PRINCIPLES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40080" y="141732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804672" y="1581912"/>
            <a:ext cx="402336" cy="402336"/>
          </a:xfrm>
          <a:prstGeom prst="ellipse">
            <a:avLst/>
          </a:prstGeom>
          <a:solidFill>
            <a:srgbClr val="FDECEF"/>
          </a:solidFill>
          <a:ln w="12700">
            <a:solidFill>
              <a:srgbClr val="FDECE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5256" y="1682496"/>
            <a:ext cx="201168" cy="201168"/>
          </a:xfrm>
          <a:prstGeom prst="rect">
            <a:avLst/>
          </a:prstGeom>
        </p:spPr>
      </p:pic>
      <p:sp>
        <p:nvSpPr>
          <p:cNvPr id="10" name="Text 7"/>
          <p:cNvSpPr/>
          <p:nvPr/>
        </p:nvSpPr>
        <p:spPr>
          <a:xfrm>
            <a:off x="1298448" y="159105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Safety First</a:t>
            </a:r>
            <a:endParaRPr lang="en-US" sz="1350" dirty="0"/>
          </a:p>
        </p:txBody>
      </p:sp>
      <p:sp>
        <p:nvSpPr>
          <p:cNvPr id="11" name="Text 8"/>
          <p:cNvSpPr/>
          <p:nvPr/>
        </p:nvSpPr>
        <p:spPr>
          <a:xfrm>
            <a:off x="822960" y="210312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AI supports risk assessment / decision support; it does not act as an independent diagnosis in the MVP.</a:t>
            </a:r>
            <a:endParaRPr lang="en-US" sz="980" dirty="0"/>
          </a:p>
        </p:txBody>
      </p:sp>
      <p:sp>
        <p:nvSpPr>
          <p:cNvPr id="12" name="Shape 9"/>
          <p:cNvSpPr/>
          <p:nvPr/>
        </p:nvSpPr>
        <p:spPr>
          <a:xfrm>
            <a:off x="4389120" y="141732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4553712" y="1581912"/>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4296" y="1682496"/>
            <a:ext cx="201168" cy="201168"/>
          </a:xfrm>
          <a:prstGeom prst="rect">
            <a:avLst/>
          </a:prstGeom>
        </p:spPr>
      </p:pic>
      <p:sp>
        <p:nvSpPr>
          <p:cNvPr id="15" name="Text 11"/>
          <p:cNvSpPr/>
          <p:nvPr/>
        </p:nvSpPr>
        <p:spPr>
          <a:xfrm>
            <a:off x="5047488" y="159105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Medical Accuracy</a:t>
            </a:r>
            <a:endParaRPr lang="en-US" sz="1350" dirty="0"/>
          </a:p>
        </p:txBody>
      </p:sp>
      <p:sp>
        <p:nvSpPr>
          <p:cNvPr id="16" name="Text 12"/>
          <p:cNvSpPr/>
          <p:nvPr/>
        </p:nvSpPr>
        <p:spPr>
          <a:xfrm>
            <a:off x="4572000" y="210312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Validation, measurable model quality and clinician review matter more than shipping many features.</a:t>
            </a:r>
            <a:endParaRPr lang="en-US" sz="980" dirty="0"/>
          </a:p>
        </p:txBody>
      </p:sp>
      <p:sp>
        <p:nvSpPr>
          <p:cNvPr id="17" name="Shape 13"/>
          <p:cNvSpPr/>
          <p:nvPr/>
        </p:nvSpPr>
        <p:spPr>
          <a:xfrm>
            <a:off x="8138160" y="141732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8302752" y="1581912"/>
            <a:ext cx="402336" cy="402336"/>
          </a:xfrm>
          <a:prstGeom prst="ellipse">
            <a:avLst/>
          </a:prstGeom>
          <a:solidFill>
            <a:srgbClr val="FFF6E5"/>
          </a:solidFill>
          <a:ln w="12700">
            <a:solidFill>
              <a:srgbClr val="FFF6E5"/>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03336" y="1682496"/>
            <a:ext cx="201168" cy="201168"/>
          </a:xfrm>
          <a:prstGeom prst="rect">
            <a:avLst/>
          </a:prstGeom>
        </p:spPr>
      </p:pic>
      <p:sp>
        <p:nvSpPr>
          <p:cNvPr id="20" name="Text 15"/>
          <p:cNvSpPr/>
          <p:nvPr/>
        </p:nvSpPr>
        <p:spPr>
          <a:xfrm>
            <a:off x="8796528" y="159105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Simple UX</a:t>
            </a:r>
            <a:endParaRPr lang="en-US" sz="1350" dirty="0"/>
          </a:p>
        </p:txBody>
      </p:sp>
      <p:sp>
        <p:nvSpPr>
          <p:cNvPr id="21" name="Text 16"/>
          <p:cNvSpPr/>
          <p:nvPr/>
        </p:nvSpPr>
        <p:spPr>
          <a:xfrm>
            <a:off x="8321040" y="210312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Clear, mobile-first patient flows with the fewest reasonable steps from login to result.</a:t>
            </a:r>
            <a:endParaRPr lang="en-US" sz="980" dirty="0"/>
          </a:p>
        </p:txBody>
      </p:sp>
      <p:sp>
        <p:nvSpPr>
          <p:cNvPr id="22" name="Shape 17"/>
          <p:cNvSpPr/>
          <p:nvPr/>
        </p:nvSpPr>
        <p:spPr>
          <a:xfrm>
            <a:off x="640080" y="338328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804672" y="3547872"/>
            <a:ext cx="402336" cy="402336"/>
          </a:xfrm>
          <a:prstGeom prst="ellipse">
            <a:avLst/>
          </a:prstGeom>
          <a:solidFill>
            <a:srgbClr val="EAF2FF"/>
          </a:solidFill>
          <a:ln w="12700">
            <a:solidFill>
              <a:srgbClr val="EAF2FF"/>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5256" y="3648456"/>
            <a:ext cx="201168" cy="201168"/>
          </a:xfrm>
          <a:prstGeom prst="rect">
            <a:avLst/>
          </a:prstGeom>
        </p:spPr>
      </p:pic>
      <p:sp>
        <p:nvSpPr>
          <p:cNvPr id="25" name="Text 19"/>
          <p:cNvSpPr/>
          <p:nvPr/>
        </p:nvSpPr>
        <p:spPr>
          <a:xfrm>
            <a:off x="1298448" y="355701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Privacy by Design</a:t>
            </a:r>
            <a:endParaRPr lang="en-US" sz="1350" dirty="0"/>
          </a:p>
        </p:txBody>
      </p:sp>
      <p:sp>
        <p:nvSpPr>
          <p:cNvPr id="26" name="Text 20"/>
          <p:cNvSpPr/>
          <p:nvPr/>
        </p:nvSpPr>
        <p:spPr>
          <a:xfrm>
            <a:off x="822960" y="406908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Consent, RBAC, encryption, auditability and deletion workflows are built into the product.</a:t>
            </a:r>
            <a:endParaRPr lang="en-US" sz="980" dirty="0"/>
          </a:p>
        </p:txBody>
      </p:sp>
      <p:sp>
        <p:nvSpPr>
          <p:cNvPr id="27" name="Shape 21"/>
          <p:cNvSpPr/>
          <p:nvPr/>
        </p:nvSpPr>
        <p:spPr>
          <a:xfrm>
            <a:off x="4389120" y="338328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4553712" y="3547872"/>
            <a:ext cx="402336" cy="402336"/>
          </a:xfrm>
          <a:prstGeom prst="ellipse">
            <a:avLst/>
          </a:prstGeom>
          <a:solidFill>
            <a:srgbClr val="F0EFFF"/>
          </a:solidFill>
          <a:ln w="12700">
            <a:solidFill>
              <a:srgbClr val="F0EFFF"/>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54296" y="3648456"/>
            <a:ext cx="201168" cy="201168"/>
          </a:xfrm>
          <a:prstGeom prst="rect">
            <a:avLst/>
          </a:prstGeom>
        </p:spPr>
      </p:pic>
      <p:sp>
        <p:nvSpPr>
          <p:cNvPr id="30" name="Text 23"/>
          <p:cNvSpPr/>
          <p:nvPr/>
        </p:nvSpPr>
        <p:spPr>
          <a:xfrm>
            <a:off x="5047488" y="355701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Scale Later</a:t>
            </a:r>
            <a:endParaRPr lang="en-US" sz="1350" dirty="0"/>
          </a:p>
        </p:txBody>
      </p:sp>
      <p:sp>
        <p:nvSpPr>
          <p:cNvPr id="31" name="Text 24"/>
          <p:cNvSpPr/>
          <p:nvPr/>
        </p:nvSpPr>
        <p:spPr>
          <a:xfrm>
            <a:off x="4572000" y="406908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Start narrow in Streamlit; separate frontend/backend and production data infrastructure later.</a:t>
            </a:r>
            <a:endParaRPr lang="en-US" sz="980" dirty="0"/>
          </a:p>
        </p:txBody>
      </p:sp>
      <p:sp>
        <p:nvSpPr>
          <p:cNvPr id="32" name="Shape 25"/>
          <p:cNvSpPr/>
          <p:nvPr/>
        </p:nvSpPr>
        <p:spPr>
          <a:xfrm>
            <a:off x="8138160" y="3383280"/>
            <a:ext cx="3429000" cy="1554480"/>
          </a:xfrm>
          <a:prstGeom prst="roundRect">
            <a:avLst>
              <a:gd name="adj" fmla="val 470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8302752" y="3547872"/>
            <a:ext cx="402336" cy="402336"/>
          </a:xfrm>
          <a:prstGeom prst="ellipse">
            <a:avLst/>
          </a:prstGeom>
          <a:solidFill>
            <a:srgbClr val="EAF8F2"/>
          </a:solidFill>
          <a:ln w="12700">
            <a:solidFill>
              <a:srgbClr val="EAF8F2"/>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03336" y="3648456"/>
            <a:ext cx="201168" cy="201168"/>
          </a:xfrm>
          <a:prstGeom prst="rect">
            <a:avLst/>
          </a:prstGeom>
        </p:spPr>
      </p:pic>
      <p:sp>
        <p:nvSpPr>
          <p:cNvPr id="35" name="Text 27"/>
          <p:cNvSpPr/>
          <p:nvPr/>
        </p:nvSpPr>
        <p:spPr>
          <a:xfrm>
            <a:off x="8796528" y="3557016"/>
            <a:ext cx="2606040" cy="310896"/>
          </a:xfrm>
          <a:prstGeom prst="rect">
            <a:avLst/>
          </a:prstGeom>
          <a:noFill/>
          <a:ln/>
        </p:spPr>
        <p:txBody>
          <a:bodyPr wrap="square" lIns="0" tIns="0" rIns="0" bIns="0" rtlCol="0" anchor="ctr">
            <a:normAutofit/>
          </a:bodyPr>
          <a:lstStyle/>
          <a:p>
            <a:pPr indent="0" marL="0">
              <a:buNone/>
            </a:pPr>
            <a:r>
              <a:rPr lang="en-US" sz="1350" b="1" dirty="0">
                <a:solidFill>
                  <a:srgbClr val="142A37"/>
                </a:solidFill>
                <a:latin typeface="Noto Sans" pitchFamily="34" charset="0"/>
                <a:ea typeface="Noto Sans" pitchFamily="34" charset="-122"/>
                <a:cs typeface="Noto Sans" pitchFamily="34" charset="-120"/>
              </a:rPr>
              <a:t>Success =</a:t>
            </a:r>
            <a:endParaRPr lang="en-US" sz="1350" dirty="0"/>
          </a:p>
        </p:txBody>
      </p:sp>
      <p:sp>
        <p:nvSpPr>
          <p:cNvPr id="36" name="Text 28"/>
          <p:cNvSpPr/>
          <p:nvPr/>
        </p:nvSpPr>
        <p:spPr>
          <a:xfrm>
            <a:off x="8321040" y="4069080"/>
            <a:ext cx="3063240" cy="71323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#1 user satisfaction &amp; usable experience</a:t>
            </a:r>
            <a:endParaRPr lang="en-US" sz="980" dirty="0"/>
          </a:p>
          <a:p>
            <a:pPr indent="0" marL="0">
              <a:buNone/>
            </a:pPr>
            <a:r>
              <a:rPr lang="en-US" sz="980" dirty="0">
                <a:solidFill>
                  <a:srgbClr val="5F7180"/>
                </a:solidFill>
                <a:latin typeface="Noto Sans" pitchFamily="34" charset="0"/>
                <a:ea typeface="Noto Sans" pitchFamily="34" charset="-122"/>
                <a:cs typeface="Noto Sans" pitchFamily="34" charset="-120"/>
              </a:rPr>
              <a:t>#2 measurable medical/statistical accuracy</a:t>
            </a:r>
            <a:endParaRPr lang="en-US" sz="980" dirty="0"/>
          </a:p>
          <a:p>
            <a:pPr indent="0" marL="0">
              <a:buNone/>
            </a:pPr>
            <a:r>
              <a:rPr lang="en-US" sz="980" dirty="0">
                <a:solidFill>
                  <a:srgbClr val="5F7180"/>
                </a:solidFill>
                <a:latin typeface="Noto Sans" pitchFamily="34" charset="0"/>
                <a:ea typeface="Noto Sans" pitchFamily="34" charset="-122"/>
                <a:cs typeface="Noto Sans" pitchFamily="34" charset="-120"/>
              </a:rPr>
              <a:t>#3 doctor-reviewed outputs</a:t>
            </a:r>
            <a:endParaRPr lang="en-US" sz="980" dirty="0"/>
          </a:p>
          <a:p>
            <a:pPr indent="0" marL="0">
              <a:buNone/>
            </a:pPr>
            <a:r>
              <a:rPr lang="en-US" sz="980" dirty="0">
                <a:solidFill>
                  <a:srgbClr val="5F7180"/>
                </a:solidFill>
                <a:latin typeface="Noto Sans" pitchFamily="34" charset="0"/>
                <a:ea typeface="Noto Sans" pitchFamily="34" charset="-122"/>
                <a:cs typeface="Noto Sans" pitchFamily="34" charset="-120"/>
              </a:rPr>
              <a:t>#4 demo readiness on time</a:t>
            </a:r>
            <a:endParaRPr lang="en-US" sz="980" dirty="0"/>
          </a:p>
          <a:p>
            <a:pPr indent="0" marL="0">
              <a:buNone/>
            </a:pPr>
            <a:r>
              <a:rPr lang="en-US" sz="980" dirty="0">
                <a:solidFill>
                  <a:srgbClr val="5F7180"/>
                </a:solidFill>
                <a:latin typeface="Noto Sans" pitchFamily="34" charset="0"/>
                <a:ea typeface="Noto Sans" pitchFamily="34" charset="-122"/>
                <a:cs typeface="Noto Sans" pitchFamily="34" charset="-120"/>
              </a:rPr>
              <a:t>#5 one-month trial after presentation</a:t>
            </a:r>
            <a:endParaRPr lang="en-US" sz="98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Role-Based Access Model</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Access should be explicit by role; doctor visibility is limited to assigned patients.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ROLES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40080" y="1417320"/>
            <a:ext cx="1554480" cy="502920"/>
          </a:xfrm>
          <a:prstGeom prst="rect">
            <a:avLst/>
          </a:prstGeom>
          <a:solidFill>
            <a:srgbClr val="0B3D4B"/>
          </a:solidFill>
          <a:ln w="12700">
            <a:solidFill>
              <a:srgbClr val="0B3D4B"/>
            </a:solidFill>
            <a:prstDash val="solid"/>
          </a:ln>
        </p:spPr>
      </p:sp>
      <p:sp>
        <p:nvSpPr>
          <p:cNvPr id="8" name="Text 6"/>
          <p:cNvSpPr/>
          <p:nvPr/>
        </p:nvSpPr>
        <p:spPr>
          <a:xfrm>
            <a:off x="731520" y="1572768"/>
            <a:ext cx="137160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Role</a:t>
            </a:r>
            <a:endParaRPr lang="en-US" sz="1050" dirty="0"/>
          </a:p>
        </p:txBody>
      </p:sp>
      <p:sp>
        <p:nvSpPr>
          <p:cNvPr id="9" name="Shape 7"/>
          <p:cNvSpPr/>
          <p:nvPr/>
        </p:nvSpPr>
        <p:spPr>
          <a:xfrm>
            <a:off x="2377440" y="1417320"/>
            <a:ext cx="5029200" cy="502920"/>
          </a:xfrm>
          <a:prstGeom prst="rect">
            <a:avLst/>
          </a:prstGeom>
          <a:solidFill>
            <a:srgbClr val="0B3D4B"/>
          </a:solidFill>
          <a:ln w="12700">
            <a:solidFill>
              <a:srgbClr val="0B3D4B"/>
            </a:solidFill>
            <a:prstDash val="solid"/>
          </a:ln>
        </p:spPr>
      </p:sp>
      <p:sp>
        <p:nvSpPr>
          <p:cNvPr id="10" name="Text 8"/>
          <p:cNvSpPr/>
          <p:nvPr/>
        </p:nvSpPr>
        <p:spPr>
          <a:xfrm>
            <a:off x="2468880" y="1572768"/>
            <a:ext cx="4846320" cy="164592"/>
          </a:xfrm>
          <a:prstGeom prst="rect">
            <a:avLst/>
          </a:prstGeom>
          <a:noFill/>
          <a:ln/>
        </p:spPr>
        <p:txBody>
          <a:bodyPr wrap="square" lIns="0" tIns="0" rIns="0" bIns="0" rtlCol="0" anchor="ctr"/>
          <a:lstStyle/>
          <a:p>
            <a:pPr algn="l" indent="0" marL="0">
              <a:buNone/>
            </a:pPr>
            <a:r>
              <a:rPr lang="en-US" sz="1050" b="1" dirty="0">
                <a:solidFill>
                  <a:srgbClr val="FFFFFF"/>
                </a:solidFill>
                <a:latin typeface="Noto Sans" pitchFamily="34" charset="0"/>
                <a:ea typeface="Noto Sans" pitchFamily="34" charset="-122"/>
                <a:cs typeface="Noto Sans" pitchFamily="34" charset="-120"/>
              </a:rPr>
              <a:t>Core Capabilities</a:t>
            </a:r>
            <a:endParaRPr lang="en-US" sz="1050" dirty="0"/>
          </a:p>
        </p:txBody>
      </p:sp>
      <p:sp>
        <p:nvSpPr>
          <p:cNvPr id="11" name="Shape 9"/>
          <p:cNvSpPr/>
          <p:nvPr/>
        </p:nvSpPr>
        <p:spPr>
          <a:xfrm>
            <a:off x="7635240" y="1417320"/>
            <a:ext cx="3749040" cy="502920"/>
          </a:xfrm>
          <a:prstGeom prst="rect">
            <a:avLst/>
          </a:prstGeom>
          <a:solidFill>
            <a:srgbClr val="0B3D4B"/>
          </a:solidFill>
          <a:ln w="12700">
            <a:solidFill>
              <a:srgbClr val="0B3D4B"/>
            </a:solidFill>
            <a:prstDash val="solid"/>
          </a:ln>
        </p:spPr>
      </p:sp>
      <p:sp>
        <p:nvSpPr>
          <p:cNvPr id="12" name="Text 10"/>
          <p:cNvSpPr/>
          <p:nvPr/>
        </p:nvSpPr>
        <p:spPr>
          <a:xfrm>
            <a:off x="7726680" y="1572768"/>
            <a:ext cx="3566160" cy="164592"/>
          </a:xfrm>
          <a:prstGeom prst="rect">
            <a:avLst/>
          </a:prstGeom>
          <a:noFill/>
          <a:ln/>
        </p:spPr>
        <p:txBody>
          <a:bodyPr wrap="square" lIns="0" tIns="0" rIns="0" bIns="0" rtlCol="0" anchor="ctr"/>
          <a:lstStyle/>
          <a:p>
            <a:pPr algn="l" indent="0" marL="0">
              <a:buNone/>
            </a:pPr>
            <a:r>
              <a:rPr lang="en-US" sz="1050" b="1" dirty="0">
                <a:solidFill>
                  <a:srgbClr val="FFFFFF"/>
                </a:solidFill>
                <a:latin typeface="Noto Sans" pitchFamily="34" charset="0"/>
                <a:ea typeface="Noto Sans" pitchFamily="34" charset="-122"/>
                <a:cs typeface="Noto Sans" pitchFamily="34" charset="-120"/>
              </a:rPr>
              <a:t>Access Boundary</a:t>
            </a:r>
            <a:endParaRPr lang="en-US" sz="1050" dirty="0"/>
          </a:p>
        </p:txBody>
      </p:sp>
      <p:sp>
        <p:nvSpPr>
          <p:cNvPr id="13" name="Shape 11"/>
          <p:cNvSpPr/>
          <p:nvPr/>
        </p:nvSpPr>
        <p:spPr>
          <a:xfrm>
            <a:off x="640080" y="1920240"/>
            <a:ext cx="1554480" cy="932688"/>
          </a:xfrm>
          <a:prstGeom prst="rect">
            <a:avLst/>
          </a:prstGeom>
          <a:solidFill>
            <a:srgbClr val="FFFFFF"/>
          </a:solidFill>
          <a:ln w="10160">
            <a:solidFill>
              <a:srgbClr val="DDE7EA"/>
            </a:solidFill>
            <a:prstDash val="solid"/>
          </a:ln>
        </p:spPr>
      </p:sp>
      <p:sp>
        <p:nvSpPr>
          <p:cNvPr id="14" name="Shape 12"/>
          <p:cNvSpPr/>
          <p:nvPr/>
        </p:nvSpPr>
        <p:spPr>
          <a:xfrm>
            <a:off x="2377440" y="1920240"/>
            <a:ext cx="5029200" cy="932688"/>
          </a:xfrm>
          <a:prstGeom prst="rect">
            <a:avLst/>
          </a:prstGeom>
          <a:solidFill>
            <a:srgbClr val="FFFFFF"/>
          </a:solidFill>
          <a:ln w="10160">
            <a:solidFill>
              <a:srgbClr val="DDE7EA"/>
            </a:solidFill>
            <a:prstDash val="solid"/>
          </a:ln>
        </p:spPr>
      </p:sp>
      <p:sp>
        <p:nvSpPr>
          <p:cNvPr id="15" name="Shape 13"/>
          <p:cNvSpPr/>
          <p:nvPr/>
        </p:nvSpPr>
        <p:spPr>
          <a:xfrm>
            <a:off x="7635240" y="1920240"/>
            <a:ext cx="3749040" cy="932688"/>
          </a:xfrm>
          <a:prstGeom prst="rect">
            <a:avLst/>
          </a:prstGeom>
          <a:solidFill>
            <a:srgbClr val="FFFFFF"/>
          </a:solidFill>
          <a:ln w="10160">
            <a:solidFill>
              <a:srgbClr val="DDE7EA"/>
            </a:solidFill>
            <a:prstDash val="solid"/>
          </a:ln>
        </p:spPr>
      </p:sp>
      <p:sp>
        <p:nvSpPr>
          <p:cNvPr id="16" name="Text 14"/>
          <p:cNvSpPr/>
          <p:nvPr/>
        </p:nvSpPr>
        <p:spPr>
          <a:xfrm>
            <a:off x="713232" y="2203704"/>
            <a:ext cx="1408176" cy="228600"/>
          </a:xfrm>
          <a:prstGeom prst="rect">
            <a:avLst/>
          </a:prstGeom>
          <a:noFill/>
          <a:ln/>
        </p:spPr>
        <p:txBody>
          <a:bodyPr wrap="square" lIns="0" tIns="0" rIns="0" bIns="0" rtlCol="0" anchor="ctr">
            <a:normAutofit/>
          </a:bodyPr>
          <a:lstStyle/>
          <a:p>
            <a:pPr algn="ctr" indent="0" marL="0">
              <a:buNone/>
            </a:pPr>
            <a:r>
              <a:rPr lang="en-US" sz="1100" b="1" dirty="0">
                <a:solidFill>
                  <a:srgbClr val="0B3D4B"/>
                </a:solidFill>
                <a:latin typeface="Noto Sans" pitchFamily="34" charset="0"/>
                <a:ea typeface="Noto Sans" pitchFamily="34" charset="-122"/>
                <a:cs typeface="Noto Sans" pitchFamily="34" charset="-120"/>
              </a:rPr>
              <a:t>Patient</a:t>
            </a:r>
            <a:endParaRPr lang="en-US" sz="1100" dirty="0"/>
          </a:p>
        </p:txBody>
      </p:sp>
      <p:sp>
        <p:nvSpPr>
          <p:cNvPr id="17" name="Text 15"/>
          <p:cNvSpPr/>
          <p:nvPr/>
        </p:nvSpPr>
        <p:spPr>
          <a:xfrm>
            <a:off x="2487168" y="2066544"/>
            <a:ext cx="4809744" cy="640080"/>
          </a:xfrm>
          <a:prstGeom prst="rect">
            <a:avLst/>
          </a:prstGeom>
          <a:noFill/>
          <a:ln/>
        </p:spPr>
        <p:txBody>
          <a:bodyPr wrap="square" lIns="0" tIns="0" rIns="0" bIns="0" rtlCol="0" anchor="ctr">
            <a:normAutofit/>
          </a:bodyPr>
          <a:lstStyle/>
          <a:p>
            <a:pPr indent="0" marL="0">
              <a:buNone/>
            </a:pPr>
            <a:r>
              <a:rPr lang="en-US" sz="920" dirty="0">
                <a:solidFill>
                  <a:srgbClr val="142A37"/>
                </a:solidFill>
                <a:latin typeface="Noto Sans" pitchFamily="34" charset="0"/>
                <a:ea typeface="Noto Sans" pitchFamily="34" charset="-122"/>
                <a:cs typeface="Noto Sans" pitchFamily="34" charset="-120"/>
              </a:rPr>
              <a:t>Medical profile • choose module • submit data • approved results • history • doctor • appointments</a:t>
            </a:r>
            <a:endParaRPr lang="en-US" sz="920" dirty="0"/>
          </a:p>
        </p:txBody>
      </p:sp>
      <p:sp>
        <p:nvSpPr>
          <p:cNvPr id="18" name="Text 16"/>
          <p:cNvSpPr/>
          <p:nvPr/>
        </p:nvSpPr>
        <p:spPr>
          <a:xfrm>
            <a:off x="7744968" y="2066544"/>
            <a:ext cx="3529584" cy="640080"/>
          </a:xfrm>
          <a:prstGeom prst="rect">
            <a:avLst/>
          </a:prstGeom>
          <a:noFill/>
          <a:ln/>
        </p:spPr>
        <p:txBody>
          <a:bodyPr wrap="square" lIns="0" tIns="0" rIns="0" bIns="0" rtlCol="0" anchor="ctr">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Own data, own results, own doctors</a:t>
            </a:r>
            <a:endParaRPr lang="en-US" sz="920" dirty="0"/>
          </a:p>
        </p:txBody>
      </p:sp>
      <p:sp>
        <p:nvSpPr>
          <p:cNvPr id="19" name="Shape 17"/>
          <p:cNvSpPr/>
          <p:nvPr/>
        </p:nvSpPr>
        <p:spPr>
          <a:xfrm>
            <a:off x="640080" y="2852928"/>
            <a:ext cx="1554480" cy="932688"/>
          </a:xfrm>
          <a:prstGeom prst="rect">
            <a:avLst/>
          </a:prstGeom>
          <a:solidFill>
            <a:srgbClr val="F1F7F8"/>
          </a:solidFill>
          <a:ln w="10160">
            <a:solidFill>
              <a:srgbClr val="DDE7EA"/>
            </a:solidFill>
            <a:prstDash val="solid"/>
          </a:ln>
        </p:spPr>
      </p:sp>
      <p:sp>
        <p:nvSpPr>
          <p:cNvPr id="20" name="Shape 18"/>
          <p:cNvSpPr/>
          <p:nvPr/>
        </p:nvSpPr>
        <p:spPr>
          <a:xfrm>
            <a:off x="2377440" y="2852928"/>
            <a:ext cx="5029200" cy="932688"/>
          </a:xfrm>
          <a:prstGeom prst="rect">
            <a:avLst/>
          </a:prstGeom>
          <a:solidFill>
            <a:srgbClr val="F1F7F8"/>
          </a:solidFill>
          <a:ln w="10160">
            <a:solidFill>
              <a:srgbClr val="DDE7EA"/>
            </a:solidFill>
            <a:prstDash val="solid"/>
          </a:ln>
        </p:spPr>
      </p:sp>
      <p:sp>
        <p:nvSpPr>
          <p:cNvPr id="21" name="Shape 19"/>
          <p:cNvSpPr/>
          <p:nvPr/>
        </p:nvSpPr>
        <p:spPr>
          <a:xfrm>
            <a:off x="7635240" y="2852928"/>
            <a:ext cx="3749040" cy="932688"/>
          </a:xfrm>
          <a:prstGeom prst="rect">
            <a:avLst/>
          </a:prstGeom>
          <a:solidFill>
            <a:srgbClr val="F1F7F8"/>
          </a:solidFill>
          <a:ln w="10160">
            <a:solidFill>
              <a:srgbClr val="DDE7EA"/>
            </a:solidFill>
            <a:prstDash val="solid"/>
          </a:ln>
        </p:spPr>
      </p:sp>
      <p:sp>
        <p:nvSpPr>
          <p:cNvPr id="22" name="Text 20"/>
          <p:cNvSpPr/>
          <p:nvPr/>
        </p:nvSpPr>
        <p:spPr>
          <a:xfrm>
            <a:off x="713232" y="3136392"/>
            <a:ext cx="1408176" cy="228600"/>
          </a:xfrm>
          <a:prstGeom prst="rect">
            <a:avLst/>
          </a:prstGeom>
          <a:noFill/>
          <a:ln/>
        </p:spPr>
        <p:txBody>
          <a:bodyPr wrap="square" lIns="0" tIns="0" rIns="0" bIns="0" rtlCol="0" anchor="ctr">
            <a:normAutofit/>
          </a:bodyPr>
          <a:lstStyle/>
          <a:p>
            <a:pPr algn="ctr" indent="0" marL="0">
              <a:buNone/>
            </a:pPr>
            <a:r>
              <a:rPr lang="en-US" sz="1100" b="1" dirty="0">
                <a:solidFill>
                  <a:srgbClr val="0B3D4B"/>
                </a:solidFill>
                <a:latin typeface="Noto Sans" pitchFamily="34" charset="0"/>
                <a:ea typeface="Noto Sans" pitchFamily="34" charset="-122"/>
                <a:cs typeface="Noto Sans" pitchFamily="34" charset="-120"/>
              </a:rPr>
              <a:t>Doctor</a:t>
            </a:r>
            <a:endParaRPr lang="en-US" sz="1100" dirty="0"/>
          </a:p>
        </p:txBody>
      </p:sp>
      <p:sp>
        <p:nvSpPr>
          <p:cNvPr id="23" name="Text 21"/>
          <p:cNvSpPr/>
          <p:nvPr/>
        </p:nvSpPr>
        <p:spPr>
          <a:xfrm>
            <a:off x="2487168" y="2999232"/>
            <a:ext cx="4809744" cy="640080"/>
          </a:xfrm>
          <a:prstGeom prst="rect">
            <a:avLst/>
          </a:prstGeom>
          <a:noFill/>
          <a:ln/>
        </p:spPr>
        <p:txBody>
          <a:bodyPr wrap="square" lIns="0" tIns="0" rIns="0" bIns="0" rtlCol="0" anchor="ctr">
            <a:normAutofit/>
          </a:bodyPr>
          <a:lstStyle/>
          <a:p>
            <a:pPr indent="0" marL="0">
              <a:buNone/>
            </a:pPr>
            <a:r>
              <a:rPr lang="en-US" sz="920" dirty="0">
                <a:solidFill>
                  <a:srgbClr val="142A37"/>
                </a:solidFill>
                <a:latin typeface="Noto Sans" pitchFamily="34" charset="0"/>
                <a:ea typeface="Noto Sans" pitchFamily="34" charset="-122"/>
                <a:cs typeface="Noto Sans" pitchFamily="34" charset="-120"/>
              </a:rPr>
              <a:t>Assigned-patient dashboard • review AI • approve / reject • notes • history • reports</a:t>
            </a:r>
            <a:endParaRPr lang="en-US" sz="920" dirty="0"/>
          </a:p>
        </p:txBody>
      </p:sp>
      <p:sp>
        <p:nvSpPr>
          <p:cNvPr id="24" name="Text 22"/>
          <p:cNvSpPr/>
          <p:nvPr/>
        </p:nvSpPr>
        <p:spPr>
          <a:xfrm>
            <a:off x="7744968" y="2999232"/>
            <a:ext cx="3529584" cy="640080"/>
          </a:xfrm>
          <a:prstGeom prst="rect">
            <a:avLst/>
          </a:prstGeom>
          <a:noFill/>
          <a:ln/>
        </p:spPr>
        <p:txBody>
          <a:bodyPr wrap="square" lIns="0" tIns="0" rIns="0" bIns="0" rtlCol="0" anchor="ctr">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Assigned patients only</a:t>
            </a:r>
            <a:endParaRPr lang="en-US" sz="920" dirty="0"/>
          </a:p>
        </p:txBody>
      </p:sp>
      <p:sp>
        <p:nvSpPr>
          <p:cNvPr id="25" name="Shape 23"/>
          <p:cNvSpPr/>
          <p:nvPr/>
        </p:nvSpPr>
        <p:spPr>
          <a:xfrm>
            <a:off x="640080" y="3785616"/>
            <a:ext cx="1554480" cy="932688"/>
          </a:xfrm>
          <a:prstGeom prst="rect">
            <a:avLst/>
          </a:prstGeom>
          <a:solidFill>
            <a:srgbClr val="FFFFFF"/>
          </a:solidFill>
          <a:ln w="10160">
            <a:solidFill>
              <a:srgbClr val="DDE7EA"/>
            </a:solidFill>
            <a:prstDash val="solid"/>
          </a:ln>
        </p:spPr>
      </p:sp>
      <p:sp>
        <p:nvSpPr>
          <p:cNvPr id="26" name="Shape 24"/>
          <p:cNvSpPr/>
          <p:nvPr/>
        </p:nvSpPr>
        <p:spPr>
          <a:xfrm>
            <a:off x="2377440" y="3785616"/>
            <a:ext cx="5029200" cy="932688"/>
          </a:xfrm>
          <a:prstGeom prst="rect">
            <a:avLst/>
          </a:prstGeom>
          <a:solidFill>
            <a:srgbClr val="FFFFFF"/>
          </a:solidFill>
          <a:ln w="10160">
            <a:solidFill>
              <a:srgbClr val="DDE7EA"/>
            </a:solidFill>
            <a:prstDash val="solid"/>
          </a:ln>
        </p:spPr>
      </p:sp>
      <p:sp>
        <p:nvSpPr>
          <p:cNvPr id="27" name="Shape 25"/>
          <p:cNvSpPr/>
          <p:nvPr/>
        </p:nvSpPr>
        <p:spPr>
          <a:xfrm>
            <a:off x="7635240" y="3785616"/>
            <a:ext cx="3749040" cy="932688"/>
          </a:xfrm>
          <a:prstGeom prst="rect">
            <a:avLst/>
          </a:prstGeom>
          <a:solidFill>
            <a:srgbClr val="FFFFFF"/>
          </a:solidFill>
          <a:ln w="10160">
            <a:solidFill>
              <a:srgbClr val="DDE7EA"/>
            </a:solidFill>
            <a:prstDash val="solid"/>
          </a:ln>
        </p:spPr>
      </p:sp>
      <p:sp>
        <p:nvSpPr>
          <p:cNvPr id="28" name="Text 26"/>
          <p:cNvSpPr/>
          <p:nvPr/>
        </p:nvSpPr>
        <p:spPr>
          <a:xfrm>
            <a:off x="713232" y="4069080"/>
            <a:ext cx="1408176" cy="228600"/>
          </a:xfrm>
          <a:prstGeom prst="rect">
            <a:avLst/>
          </a:prstGeom>
          <a:noFill/>
          <a:ln/>
        </p:spPr>
        <p:txBody>
          <a:bodyPr wrap="square" lIns="0" tIns="0" rIns="0" bIns="0" rtlCol="0" anchor="ctr">
            <a:normAutofit/>
          </a:bodyPr>
          <a:lstStyle/>
          <a:p>
            <a:pPr algn="ctr" indent="0" marL="0">
              <a:buNone/>
            </a:pPr>
            <a:r>
              <a:rPr lang="en-US" sz="1100" b="1" dirty="0">
                <a:solidFill>
                  <a:srgbClr val="0B3D4B"/>
                </a:solidFill>
                <a:latin typeface="Noto Sans" pitchFamily="34" charset="0"/>
                <a:ea typeface="Noto Sans" pitchFamily="34" charset="-122"/>
                <a:cs typeface="Noto Sans" pitchFamily="34" charset="-120"/>
              </a:rPr>
              <a:t>Admin</a:t>
            </a:r>
            <a:endParaRPr lang="en-US" sz="1100" dirty="0"/>
          </a:p>
        </p:txBody>
      </p:sp>
      <p:sp>
        <p:nvSpPr>
          <p:cNvPr id="29" name="Text 27"/>
          <p:cNvSpPr/>
          <p:nvPr/>
        </p:nvSpPr>
        <p:spPr>
          <a:xfrm>
            <a:off x="2487168" y="3931920"/>
            <a:ext cx="4809744" cy="640080"/>
          </a:xfrm>
          <a:prstGeom prst="rect">
            <a:avLst/>
          </a:prstGeom>
          <a:noFill/>
          <a:ln/>
        </p:spPr>
        <p:txBody>
          <a:bodyPr wrap="square" lIns="0" tIns="0" rIns="0" bIns="0" rtlCol="0" anchor="ctr">
            <a:normAutofit/>
          </a:bodyPr>
          <a:lstStyle/>
          <a:p>
            <a:pPr indent="0" marL="0">
              <a:buNone/>
            </a:pPr>
            <a:r>
              <a:rPr lang="en-US" sz="920" dirty="0">
                <a:solidFill>
                  <a:srgbClr val="142A37"/>
                </a:solidFill>
                <a:latin typeface="Noto Sans" pitchFamily="34" charset="0"/>
                <a:ea typeface="Noto Sans" pitchFamily="34" charset="-122"/>
                <a:cs typeface="Noto Sans" pitchFamily="34" charset="-120"/>
              </a:rPr>
              <a:t>Users • doctors • branches • model metrics • reports • content • model versions</a:t>
            </a:r>
            <a:endParaRPr lang="en-US" sz="920" dirty="0"/>
          </a:p>
        </p:txBody>
      </p:sp>
      <p:sp>
        <p:nvSpPr>
          <p:cNvPr id="30" name="Text 28"/>
          <p:cNvSpPr/>
          <p:nvPr/>
        </p:nvSpPr>
        <p:spPr>
          <a:xfrm>
            <a:off x="7744968" y="3931920"/>
            <a:ext cx="3529584" cy="640080"/>
          </a:xfrm>
          <a:prstGeom prst="rect">
            <a:avLst/>
          </a:prstGeom>
          <a:noFill/>
          <a:ln/>
        </p:spPr>
        <p:txBody>
          <a:bodyPr wrap="square" lIns="0" tIns="0" rIns="0" bIns="0" rtlCol="0" anchor="ctr">
            <a:normAutofit/>
          </a:bodyPr>
          <a:lstStyle/>
          <a:p>
            <a:pPr indent="0" marL="0">
              <a:buNone/>
            </a:pPr>
            <a:r>
              <a:rPr lang="en-US" sz="920" b="1" dirty="0">
                <a:solidFill>
                  <a:srgbClr val="E65B66"/>
                </a:solidFill>
                <a:latin typeface="Noto Sans" pitchFamily="34" charset="0"/>
                <a:ea typeface="Noto Sans" pitchFamily="34" charset="-122"/>
                <a:cs typeface="Noto Sans" pitchFamily="34" charset="-120"/>
              </a:rPr>
              <a:t>Current PRD allows broad access; production must restrict via least privilege</a:t>
            </a:r>
            <a:endParaRPr lang="en-US" sz="920" dirty="0"/>
          </a:p>
        </p:txBody>
      </p:sp>
      <p:sp>
        <p:nvSpPr>
          <p:cNvPr id="31" name="Shape 29"/>
          <p:cNvSpPr/>
          <p:nvPr/>
        </p:nvSpPr>
        <p:spPr>
          <a:xfrm>
            <a:off x="640080" y="4718304"/>
            <a:ext cx="1554480" cy="932688"/>
          </a:xfrm>
          <a:prstGeom prst="rect">
            <a:avLst/>
          </a:prstGeom>
          <a:solidFill>
            <a:srgbClr val="F1F7F8"/>
          </a:solidFill>
          <a:ln w="10160">
            <a:solidFill>
              <a:srgbClr val="DDE7EA"/>
            </a:solidFill>
            <a:prstDash val="solid"/>
          </a:ln>
        </p:spPr>
      </p:sp>
      <p:sp>
        <p:nvSpPr>
          <p:cNvPr id="32" name="Shape 30"/>
          <p:cNvSpPr/>
          <p:nvPr/>
        </p:nvSpPr>
        <p:spPr>
          <a:xfrm>
            <a:off x="2377440" y="4718304"/>
            <a:ext cx="5029200" cy="932688"/>
          </a:xfrm>
          <a:prstGeom prst="rect">
            <a:avLst/>
          </a:prstGeom>
          <a:solidFill>
            <a:srgbClr val="F1F7F8"/>
          </a:solidFill>
          <a:ln w="10160">
            <a:solidFill>
              <a:srgbClr val="DDE7EA"/>
            </a:solidFill>
            <a:prstDash val="solid"/>
          </a:ln>
        </p:spPr>
      </p:sp>
      <p:sp>
        <p:nvSpPr>
          <p:cNvPr id="33" name="Shape 31"/>
          <p:cNvSpPr/>
          <p:nvPr/>
        </p:nvSpPr>
        <p:spPr>
          <a:xfrm>
            <a:off x="7635240" y="4718304"/>
            <a:ext cx="3749040" cy="932688"/>
          </a:xfrm>
          <a:prstGeom prst="rect">
            <a:avLst/>
          </a:prstGeom>
          <a:solidFill>
            <a:srgbClr val="F1F7F8"/>
          </a:solidFill>
          <a:ln w="10160">
            <a:solidFill>
              <a:srgbClr val="DDE7EA"/>
            </a:solidFill>
            <a:prstDash val="solid"/>
          </a:ln>
        </p:spPr>
      </p:sp>
      <p:sp>
        <p:nvSpPr>
          <p:cNvPr id="34" name="Text 32"/>
          <p:cNvSpPr/>
          <p:nvPr/>
        </p:nvSpPr>
        <p:spPr>
          <a:xfrm>
            <a:off x="713232" y="5001768"/>
            <a:ext cx="1408176" cy="228600"/>
          </a:xfrm>
          <a:prstGeom prst="rect">
            <a:avLst/>
          </a:prstGeom>
          <a:noFill/>
          <a:ln/>
        </p:spPr>
        <p:txBody>
          <a:bodyPr wrap="square" lIns="0" tIns="0" rIns="0" bIns="0" rtlCol="0" anchor="ctr">
            <a:normAutofit/>
          </a:bodyPr>
          <a:lstStyle/>
          <a:p>
            <a:pPr algn="ctr" indent="0" marL="0">
              <a:buNone/>
            </a:pPr>
            <a:r>
              <a:rPr lang="en-US" sz="1100" b="1" dirty="0">
                <a:solidFill>
                  <a:srgbClr val="0B3D4B"/>
                </a:solidFill>
                <a:latin typeface="Noto Sans" pitchFamily="34" charset="0"/>
                <a:ea typeface="Noto Sans" pitchFamily="34" charset="-122"/>
                <a:cs typeface="Noto Sans" pitchFamily="34" charset="-120"/>
              </a:rPr>
              <a:t>Clinic / Hospital</a:t>
            </a:r>
            <a:endParaRPr lang="en-US" sz="1100" dirty="0"/>
          </a:p>
        </p:txBody>
      </p:sp>
      <p:sp>
        <p:nvSpPr>
          <p:cNvPr id="35" name="Text 33"/>
          <p:cNvSpPr/>
          <p:nvPr/>
        </p:nvSpPr>
        <p:spPr>
          <a:xfrm>
            <a:off x="2487168" y="4864608"/>
            <a:ext cx="4809744" cy="640080"/>
          </a:xfrm>
          <a:prstGeom prst="rect">
            <a:avLst/>
          </a:prstGeom>
          <a:noFill/>
          <a:ln/>
        </p:spPr>
        <p:txBody>
          <a:bodyPr wrap="square" lIns="0" tIns="0" rIns="0" bIns="0" rtlCol="0" anchor="ctr">
            <a:normAutofit/>
          </a:bodyPr>
          <a:lstStyle/>
          <a:p>
            <a:pPr indent="0" marL="0">
              <a:buNone/>
            </a:pPr>
            <a:r>
              <a:rPr lang="en-US" sz="920" dirty="0">
                <a:solidFill>
                  <a:srgbClr val="142A37"/>
                </a:solidFill>
                <a:latin typeface="Noto Sans" pitchFamily="34" charset="0"/>
                <a:ea typeface="Noto Sans" pitchFamily="34" charset="-122"/>
                <a:cs typeface="Noto Sans" pitchFamily="34" charset="-120"/>
              </a:rPr>
              <a:t>Doctors • branches • appointments • future institutional integrations</a:t>
            </a:r>
            <a:endParaRPr lang="en-US" sz="920" dirty="0"/>
          </a:p>
        </p:txBody>
      </p:sp>
      <p:sp>
        <p:nvSpPr>
          <p:cNvPr id="36" name="Text 34"/>
          <p:cNvSpPr/>
          <p:nvPr/>
        </p:nvSpPr>
        <p:spPr>
          <a:xfrm>
            <a:off x="7744968" y="4864608"/>
            <a:ext cx="3529584" cy="640080"/>
          </a:xfrm>
          <a:prstGeom prst="rect">
            <a:avLst/>
          </a:prstGeom>
          <a:noFill/>
          <a:ln/>
        </p:spPr>
        <p:txBody>
          <a:bodyPr wrap="square" lIns="0" tIns="0" rIns="0" bIns="0" rtlCol="0" anchor="ctr">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Institution scope only; details deferred</a:t>
            </a:r>
            <a:endParaRPr lang="en-US" sz="920" dirty="0"/>
          </a:p>
        </p:txBody>
      </p:sp>
      <p:sp>
        <p:nvSpPr>
          <p:cNvPr id="37" name="Shape 35"/>
          <p:cNvSpPr/>
          <p:nvPr/>
        </p:nvSpPr>
        <p:spPr>
          <a:xfrm>
            <a:off x="777240" y="5806440"/>
            <a:ext cx="1920240" cy="329184"/>
          </a:xfrm>
          <a:prstGeom prst="roundRect">
            <a:avLst>
              <a:gd name="adj" fmla="val 38889"/>
            </a:avLst>
          </a:prstGeom>
          <a:solidFill>
            <a:srgbClr val="FFF6E5"/>
          </a:solidFill>
          <a:ln w="12700">
            <a:solidFill>
              <a:srgbClr val="FFF6E5"/>
            </a:solidFill>
            <a:prstDash val="solid"/>
          </a:ln>
        </p:spPr>
      </p:sp>
      <p:sp>
        <p:nvSpPr>
          <p:cNvPr id="38" name="Text 36"/>
          <p:cNvSpPr/>
          <p:nvPr/>
        </p:nvSpPr>
        <p:spPr>
          <a:xfrm>
            <a:off x="850392" y="5879592"/>
            <a:ext cx="177393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Doctor verification</a:t>
            </a:r>
            <a:endParaRPr lang="en-US" sz="870" dirty="0"/>
          </a:p>
        </p:txBody>
      </p:sp>
      <p:sp>
        <p:nvSpPr>
          <p:cNvPr id="39" name="Text 37"/>
          <p:cNvSpPr/>
          <p:nvPr/>
        </p:nvSpPr>
        <p:spPr>
          <a:xfrm>
            <a:off x="2788920" y="5833872"/>
            <a:ext cx="8503920" cy="320040"/>
          </a:xfrm>
          <a:prstGeom prst="rect">
            <a:avLst/>
          </a:prstGeom>
          <a:noFill/>
          <a:ln/>
        </p:spPr>
        <p:txBody>
          <a:bodyPr wrap="square" lIns="0" tIns="0" rIns="0" bIns="0" rtlCol="0" anchor="ctr">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ID + professional credential → Pending → Verified → Suspended/Rejected. Production should use an independent professional-verification partner where applicable.</a:t>
            </a:r>
            <a:endParaRPr lang="en-US" sz="92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MVP Scope — Must / Should / Later</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One Respiratory module should prove the end-to-end value before broad disease expansion.</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SCOPE</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48640" y="1389888"/>
            <a:ext cx="3657600" cy="4526280"/>
          </a:xfrm>
          <a:prstGeom prst="roundRect">
            <a:avLst>
              <a:gd name="adj" fmla="val 2000"/>
            </a:avLst>
          </a:prstGeom>
          <a:solidFill>
            <a:srgbClr val="FFFFFF"/>
          </a:solidFill>
          <a:ln w="13970">
            <a:solidFill>
              <a:srgbClr val="DDE7EA"/>
            </a:solidFill>
            <a:prstDash val="solid"/>
          </a:ln>
        </p:spPr>
      </p:sp>
      <p:sp>
        <p:nvSpPr>
          <p:cNvPr id="8" name="Shape 6"/>
          <p:cNvSpPr/>
          <p:nvPr/>
        </p:nvSpPr>
        <p:spPr>
          <a:xfrm>
            <a:off x="685800" y="1554480"/>
            <a:ext cx="3383280" cy="502920"/>
          </a:xfrm>
          <a:prstGeom prst="roundRect">
            <a:avLst>
              <a:gd name="adj" fmla="val 18182"/>
            </a:avLst>
          </a:prstGeom>
          <a:solidFill>
            <a:srgbClr val="E8F8F4"/>
          </a:solidFill>
          <a:ln w="12700">
            <a:solidFill>
              <a:srgbClr val="E8F8F4"/>
            </a:solidFill>
            <a:prstDash val="solid"/>
          </a:ln>
        </p:spPr>
      </p:sp>
      <p:sp>
        <p:nvSpPr>
          <p:cNvPr id="9" name="Text 7"/>
          <p:cNvSpPr/>
          <p:nvPr/>
        </p:nvSpPr>
        <p:spPr>
          <a:xfrm>
            <a:off x="777240" y="1709928"/>
            <a:ext cx="3200400" cy="182880"/>
          </a:xfrm>
          <a:prstGeom prst="rect">
            <a:avLst/>
          </a:prstGeom>
          <a:noFill/>
          <a:ln/>
        </p:spPr>
        <p:txBody>
          <a:bodyPr wrap="square" lIns="0" tIns="0" rIns="0" bIns="0" rtlCol="0" anchor="ctr">
            <a:normAutofit/>
          </a:bodyPr>
          <a:lstStyle/>
          <a:p>
            <a:pPr algn="ctr" indent="0" marL="0">
              <a:buNone/>
            </a:pPr>
            <a:r>
              <a:rPr lang="en-US" sz="1020" b="1" dirty="0">
                <a:solidFill>
                  <a:srgbClr val="12B8A6"/>
                </a:solidFill>
                <a:latin typeface="Noto Sans" pitchFamily="34" charset="0"/>
                <a:ea typeface="Noto Sans" pitchFamily="34" charset="-122"/>
                <a:cs typeface="Noto Sans" pitchFamily="34" charset="-120"/>
              </a:rPr>
              <a:t>MUST — launch proof</a:t>
            </a:r>
            <a:endParaRPr lang="en-US" sz="1020" dirty="0"/>
          </a:p>
        </p:txBody>
      </p:sp>
      <p:sp>
        <p:nvSpPr>
          <p:cNvPr id="10" name="Shape 8"/>
          <p:cNvSpPr/>
          <p:nvPr/>
        </p:nvSpPr>
        <p:spPr>
          <a:xfrm>
            <a:off x="804672" y="2240280"/>
            <a:ext cx="164592" cy="164592"/>
          </a:xfrm>
          <a:prstGeom prst="ellipse">
            <a:avLst/>
          </a:prstGeom>
          <a:solidFill>
            <a:srgbClr val="12B8A6"/>
          </a:solidFill>
          <a:ln w="12700">
            <a:solidFill>
              <a:srgbClr val="12B8A6"/>
            </a:solidFill>
            <a:prstDash val="solid"/>
          </a:ln>
        </p:spPr>
      </p:sp>
      <p:sp>
        <p:nvSpPr>
          <p:cNvPr id="11" name="Text 9"/>
          <p:cNvSpPr/>
          <p:nvPr/>
        </p:nvSpPr>
        <p:spPr>
          <a:xfrm>
            <a:off x="1060704" y="2185416"/>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Authentication &amp; roles</a:t>
            </a:r>
            <a:endParaRPr lang="en-US" sz="940" dirty="0"/>
          </a:p>
        </p:txBody>
      </p:sp>
      <p:sp>
        <p:nvSpPr>
          <p:cNvPr id="12" name="Shape 10"/>
          <p:cNvSpPr/>
          <p:nvPr/>
        </p:nvSpPr>
        <p:spPr>
          <a:xfrm>
            <a:off x="804672" y="2569464"/>
            <a:ext cx="164592" cy="164592"/>
          </a:xfrm>
          <a:prstGeom prst="ellipse">
            <a:avLst/>
          </a:prstGeom>
          <a:solidFill>
            <a:srgbClr val="12B8A6"/>
          </a:solidFill>
          <a:ln w="12700">
            <a:solidFill>
              <a:srgbClr val="12B8A6"/>
            </a:solidFill>
            <a:prstDash val="solid"/>
          </a:ln>
        </p:spPr>
      </p:sp>
      <p:sp>
        <p:nvSpPr>
          <p:cNvPr id="13" name="Text 11"/>
          <p:cNvSpPr/>
          <p:nvPr/>
        </p:nvSpPr>
        <p:spPr>
          <a:xfrm>
            <a:off x="1060704" y="2514600"/>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Patient medical profile + history</a:t>
            </a:r>
            <a:endParaRPr lang="en-US" sz="940" dirty="0"/>
          </a:p>
        </p:txBody>
      </p:sp>
      <p:sp>
        <p:nvSpPr>
          <p:cNvPr id="14" name="Shape 12"/>
          <p:cNvSpPr/>
          <p:nvPr/>
        </p:nvSpPr>
        <p:spPr>
          <a:xfrm>
            <a:off x="804672" y="2898648"/>
            <a:ext cx="164592" cy="164592"/>
          </a:xfrm>
          <a:prstGeom prst="ellipse">
            <a:avLst/>
          </a:prstGeom>
          <a:solidFill>
            <a:srgbClr val="12B8A6"/>
          </a:solidFill>
          <a:ln w="12700">
            <a:solidFill>
              <a:srgbClr val="12B8A6"/>
            </a:solidFill>
            <a:prstDash val="solid"/>
          </a:ln>
        </p:spPr>
      </p:sp>
      <p:sp>
        <p:nvSpPr>
          <p:cNvPr id="15" name="Text 13"/>
          <p:cNvSpPr/>
          <p:nvPr/>
        </p:nvSpPr>
        <p:spPr>
          <a:xfrm>
            <a:off x="1060704" y="2843784"/>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Respiratory module</a:t>
            </a:r>
            <a:endParaRPr lang="en-US" sz="940" dirty="0"/>
          </a:p>
        </p:txBody>
      </p:sp>
      <p:sp>
        <p:nvSpPr>
          <p:cNvPr id="16" name="Shape 14"/>
          <p:cNvSpPr/>
          <p:nvPr/>
        </p:nvSpPr>
        <p:spPr>
          <a:xfrm>
            <a:off x="804672" y="3227832"/>
            <a:ext cx="164592" cy="164592"/>
          </a:xfrm>
          <a:prstGeom prst="ellipse">
            <a:avLst/>
          </a:prstGeom>
          <a:solidFill>
            <a:srgbClr val="12B8A6"/>
          </a:solidFill>
          <a:ln w="12700">
            <a:solidFill>
              <a:srgbClr val="12B8A6"/>
            </a:solidFill>
            <a:prstDash val="solid"/>
          </a:ln>
        </p:spPr>
      </p:sp>
      <p:sp>
        <p:nvSpPr>
          <p:cNvPr id="17" name="Text 15"/>
          <p:cNvSpPr/>
          <p:nvPr/>
        </p:nvSpPr>
        <p:spPr>
          <a:xfrm>
            <a:off x="1060704" y="3172968"/>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AI risk assessment + confidence</a:t>
            </a:r>
            <a:endParaRPr lang="en-US" sz="940" dirty="0"/>
          </a:p>
        </p:txBody>
      </p:sp>
      <p:sp>
        <p:nvSpPr>
          <p:cNvPr id="18" name="Shape 16"/>
          <p:cNvSpPr/>
          <p:nvPr/>
        </p:nvSpPr>
        <p:spPr>
          <a:xfrm>
            <a:off x="804672" y="3557016"/>
            <a:ext cx="164592" cy="164592"/>
          </a:xfrm>
          <a:prstGeom prst="ellipse">
            <a:avLst/>
          </a:prstGeom>
          <a:solidFill>
            <a:srgbClr val="12B8A6"/>
          </a:solidFill>
          <a:ln w="12700">
            <a:solidFill>
              <a:srgbClr val="12B8A6"/>
            </a:solidFill>
            <a:prstDash val="solid"/>
          </a:ln>
        </p:spPr>
      </p:sp>
      <p:sp>
        <p:nvSpPr>
          <p:cNvPr id="19" name="Text 17"/>
          <p:cNvSpPr/>
          <p:nvPr/>
        </p:nvSpPr>
        <p:spPr>
          <a:xfrm>
            <a:off x="1060704" y="3502152"/>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Doctor review workflow</a:t>
            </a:r>
            <a:endParaRPr lang="en-US" sz="940" dirty="0"/>
          </a:p>
        </p:txBody>
      </p:sp>
      <p:sp>
        <p:nvSpPr>
          <p:cNvPr id="20" name="Shape 18"/>
          <p:cNvSpPr/>
          <p:nvPr/>
        </p:nvSpPr>
        <p:spPr>
          <a:xfrm>
            <a:off x="804672" y="3886200"/>
            <a:ext cx="164592" cy="164592"/>
          </a:xfrm>
          <a:prstGeom prst="ellipse">
            <a:avLst/>
          </a:prstGeom>
          <a:solidFill>
            <a:srgbClr val="12B8A6"/>
          </a:solidFill>
          <a:ln w="12700">
            <a:solidFill>
              <a:srgbClr val="12B8A6"/>
            </a:solidFill>
            <a:prstDash val="solid"/>
          </a:ln>
        </p:spPr>
      </p:sp>
      <p:sp>
        <p:nvSpPr>
          <p:cNvPr id="21" name="Text 19"/>
          <p:cNvSpPr/>
          <p:nvPr/>
        </p:nvSpPr>
        <p:spPr>
          <a:xfrm>
            <a:off x="1060704" y="3831336"/>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PDF medical report</a:t>
            </a:r>
            <a:endParaRPr lang="en-US" sz="940" dirty="0"/>
          </a:p>
        </p:txBody>
      </p:sp>
      <p:sp>
        <p:nvSpPr>
          <p:cNvPr id="22" name="Shape 20"/>
          <p:cNvSpPr/>
          <p:nvPr/>
        </p:nvSpPr>
        <p:spPr>
          <a:xfrm>
            <a:off x="804672" y="4215384"/>
            <a:ext cx="164592" cy="164592"/>
          </a:xfrm>
          <a:prstGeom prst="ellipse">
            <a:avLst/>
          </a:prstGeom>
          <a:solidFill>
            <a:srgbClr val="12B8A6"/>
          </a:solidFill>
          <a:ln w="12700">
            <a:solidFill>
              <a:srgbClr val="12B8A6"/>
            </a:solidFill>
            <a:prstDash val="solid"/>
          </a:ln>
        </p:spPr>
      </p:sp>
      <p:sp>
        <p:nvSpPr>
          <p:cNvPr id="23" name="Text 21"/>
          <p:cNvSpPr/>
          <p:nvPr/>
        </p:nvSpPr>
        <p:spPr>
          <a:xfrm>
            <a:off x="1060704" y="4160520"/>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Arabic / English</a:t>
            </a:r>
            <a:endParaRPr lang="en-US" sz="940" dirty="0"/>
          </a:p>
        </p:txBody>
      </p:sp>
      <p:sp>
        <p:nvSpPr>
          <p:cNvPr id="24" name="Shape 22"/>
          <p:cNvSpPr/>
          <p:nvPr/>
        </p:nvSpPr>
        <p:spPr>
          <a:xfrm>
            <a:off x="804672" y="4544568"/>
            <a:ext cx="164592" cy="164592"/>
          </a:xfrm>
          <a:prstGeom prst="ellipse">
            <a:avLst/>
          </a:prstGeom>
          <a:solidFill>
            <a:srgbClr val="12B8A6"/>
          </a:solidFill>
          <a:ln w="12700">
            <a:solidFill>
              <a:srgbClr val="12B8A6"/>
            </a:solidFill>
            <a:prstDash val="solid"/>
          </a:ln>
        </p:spPr>
      </p:sp>
      <p:sp>
        <p:nvSpPr>
          <p:cNvPr id="25" name="Text 23"/>
          <p:cNvSpPr/>
          <p:nvPr/>
        </p:nvSpPr>
        <p:spPr>
          <a:xfrm>
            <a:off x="1060704" y="4489704"/>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Notifications</a:t>
            </a:r>
            <a:endParaRPr lang="en-US" sz="940" dirty="0"/>
          </a:p>
        </p:txBody>
      </p:sp>
      <p:sp>
        <p:nvSpPr>
          <p:cNvPr id="26" name="Shape 24"/>
          <p:cNvSpPr/>
          <p:nvPr/>
        </p:nvSpPr>
        <p:spPr>
          <a:xfrm>
            <a:off x="804672" y="4873752"/>
            <a:ext cx="164592" cy="164592"/>
          </a:xfrm>
          <a:prstGeom prst="ellipse">
            <a:avLst/>
          </a:prstGeom>
          <a:solidFill>
            <a:srgbClr val="12B8A6"/>
          </a:solidFill>
          <a:ln w="12700">
            <a:solidFill>
              <a:srgbClr val="12B8A6"/>
            </a:solidFill>
            <a:prstDash val="solid"/>
          </a:ln>
        </p:spPr>
      </p:sp>
      <p:sp>
        <p:nvSpPr>
          <p:cNvPr id="27" name="Text 25"/>
          <p:cNvSpPr/>
          <p:nvPr/>
        </p:nvSpPr>
        <p:spPr>
          <a:xfrm>
            <a:off x="1060704" y="4818888"/>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History</a:t>
            </a:r>
            <a:endParaRPr lang="en-US" sz="940" dirty="0"/>
          </a:p>
        </p:txBody>
      </p:sp>
      <p:sp>
        <p:nvSpPr>
          <p:cNvPr id="28" name="Shape 26"/>
          <p:cNvSpPr/>
          <p:nvPr/>
        </p:nvSpPr>
        <p:spPr>
          <a:xfrm>
            <a:off x="804672" y="5202936"/>
            <a:ext cx="164592" cy="164592"/>
          </a:xfrm>
          <a:prstGeom prst="ellipse">
            <a:avLst/>
          </a:prstGeom>
          <a:solidFill>
            <a:srgbClr val="12B8A6"/>
          </a:solidFill>
          <a:ln w="12700">
            <a:solidFill>
              <a:srgbClr val="12B8A6"/>
            </a:solidFill>
            <a:prstDash val="solid"/>
          </a:ln>
        </p:spPr>
      </p:sp>
      <p:sp>
        <p:nvSpPr>
          <p:cNvPr id="29" name="Text 27"/>
          <p:cNvSpPr/>
          <p:nvPr/>
        </p:nvSpPr>
        <p:spPr>
          <a:xfrm>
            <a:off x="1060704" y="5148072"/>
            <a:ext cx="2944368" cy="256032"/>
          </a:xfrm>
          <a:prstGeom prst="rect">
            <a:avLst/>
          </a:prstGeom>
          <a:noFill/>
          <a:ln/>
        </p:spPr>
        <p:txBody>
          <a:bodyPr wrap="square" lIns="0" tIns="0" rIns="0" bIns="0" rtlCol="0" anchor="ctr">
            <a:normAutofit/>
          </a:bodyPr>
          <a:lstStyle/>
          <a:p>
            <a:pPr indent="0" marL="0">
              <a:buNone/>
            </a:pPr>
            <a:r>
              <a:rPr lang="en-US" sz="940" dirty="0">
                <a:solidFill>
                  <a:srgbClr val="142A37"/>
                </a:solidFill>
                <a:latin typeface="Noto Sans" pitchFamily="34" charset="0"/>
                <a:ea typeface="Noto Sans" pitchFamily="34" charset="-122"/>
                <a:cs typeface="Noto Sans" pitchFamily="34" charset="-120"/>
              </a:rPr>
              <a:t>Admin dashboard</a:t>
            </a:r>
            <a:endParaRPr lang="en-US" sz="940" dirty="0"/>
          </a:p>
        </p:txBody>
      </p:sp>
      <p:sp>
        <p:nvSpPr>
          <p:cNvPr id="30" name="Shape 28"/>
          <p:cNvSpPr/>
          <p:nvPr/>
        </p:nvSpPr>
        <p:spPr>
          <a:xfrm>
            <a:off x="4370832" y="1389888"/>
            <a:ext cx="3429000" cy="4526280"/>
          </a:xfrm>
          <a:prstGeom prst="roundRect">
            <a:avLst>
              <a:gd name="adj" fmla="val 2133"/>
            </a:avLst>
          </a:prstGeom>
          <a:solidFill>
            <a:srgbClr val="FFFFFF"/>
          </a:solidFill>
          <a:ln w="13970">
            <a:solidFill>
              <a:srgbClr val="DDE7EA"/>
            </a:solidFill>
            <a:prstDash val="solid"/>
          </a:ln>
        </p:spPr>
      </p:sp>
      <p:sp>
        <p:nvSpPr>
          <p:cNvPr id="31" name="Shape 29"/>
          <p:cNvSpPr/>
          <p:nvPr/>
        </p:nvSpPr>
        <p:spPr>
          <a:xfrm>
            <a:off x="4507992" y="1554480"/>
            <a:ext cx="3154680" cy="502920"/>
          </a:xfrm>
          <a:prstGeom prst="roundRect">
            <a:avLst>
              <a:gd name="adj" fmla="val 18182"/>
            </a:avLst>
          </a:prstGeom>
          <a:solidFill>
            <a:srgbClr val="EAF2FF"/>
          </a:solidFill>
          <a:ln w="12700">
            <a:solidFill>
              <a:srgbClr val="EAF2FF"/>
            </a:solidFill>
            <a:prstDash val="solid"/>
          </a:ln>
        </p:spPr>
      </p:sp>
      <p:sp>
        <p:nvSpPr>
          <p:cNvPr id="32" name="Text 30"/>
          <p:cNvSpPr/>
          <p:nvPr/>
        </p:nvSpPr>
        <p:spPr>
          <a:xfrm>
            <a:off x="4599432" y="1709928"/>
            <a:ext cx="2971800" cy="182880"/>
          </a:xfrm>
          <a:prstGeom prst="rect">
            <a:avLst/>
          </a:prstGeom>
          <a:noFill/>
          <a:ln/>
        </p:spPr>
        <p:txBody>
          <a:bodyPr wrap="square" lIns="0" tIns="0" rIns="0" bIns="0" rtlCol="0" anchor="ctr">
            <a:normAutofit/>
          </a:bodyPr>
          <a:lstStyle/>
          <a:p>
            <a:pPr algn="ctr" indent="0" marL="0">
              <a:buNone/>
            </a:pPr>
            <a:r>
              <a:rPr lang="en-US" sz="1020" b="1" dirty="0">
                <a:solidFill>
                  <a:srgbClr val="2F80ED"/>
                </a:solidFill>
                <a:latin typeface="Noto Sans" pitchFamily="34" charset="0"/>
                <a:ea typeface="Noto Sans" pitchFamily="34" charset="-122"/>
                <a:cs typeface="Noto Sans" pitchFamily="34" charset="-120"/>
              </a:rPr>
              <a:t>SHOULD — if time permits</a:t>
            </a:r>
            <a:endParaRPr lang="en-US" sz="1020" dirty="0"/>
          </a:p>
        </p:txBody>
      </p:sp>
      <p:sp>
        <p:nvSpPr>
          <p:cNvPr id="33" name="Shape 31"/>
          <p:cNvSpPr/>
          <p:nvPr/>
        </p:nvSpPr>
        <p:spPr>
          <a:xfrm>
            <a:off x="4626864" y="2240280"/>
            <a:ext cx="164592" cy="164592"/>
          </a:xfrm>
          <a:prstGeom prst="ellipse">
            <a:avLst/>
          </a:prstGeom>
          <a:solidFill>
            <a:srgbClr val="2F80ED"/>
          </a:solidFill>
          <a:ln w="12700">
            <a:solidFill>
              <a:srgbClr val="2F80ED"/>
            </a:solidFill>
            <a:prstDash val="solid"/>
          </a:ln>
        </p:spPr>
      </p:sp>
      <p:sp>
        <p:nvSpPr>
          <p:cNvPr id="34" name="Text 32"/>
          <p:cNvSpPr/>
          <p:nvPr/>
        </p:nvSpPr>
        <p:spPr>
          <a:xfrm>
            <a:off x="4882896" y="2185416"/>
            <a:ext cx="27157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Appointments + calendar</a:t>
            </a:r>
            <a:endParaRPr lang="en-US" sz="980" dirty="0"/>
          </a:p>
        </p:txBody>
      </p:sp>
      <p:sp>
        <p:nvSpPr>
          <p:cNvPr id="35" name="Shape 33"/>
          <p:cNvSpPr/>
          <p:nvPr/>
        </p:nvSpPr>
        <p:spPr>
          <a:xfrm>
            <a:off x="4626864" y="2633472"/>
            <a:ext cx="164592" cy="164592"/>
          </a:xfrm>
          <a:prstGeom prst="ellipse">
            <a:avLst/>
          </a:prstGeom>
          <a:solidFill>
            <a:srgbClr val="2F80ED"/>
          </a:solidFill>
          <a:ln w="12700">
            <a:solidFill>
              <a:srgbClr val="2F80ED"/>
            </a:solidFill>
            <a:prstDash val="solid"/>
          </a:ln>
        </p:spPr>
      </p:sp>
      <p:sp>
        <p:nvSpPr>
          <p:cNvPr id="36" name="Text 34"/>
          <p:cNvSpPr/>
          <p:nvPr/>
        </p:nvSpPr>
        <p:spPr>
          <a:xfrm>
            <a:off x="4882896" y="2578608"/>
            <a:ext cx="27157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Medical assistant chatbot</a:t>
            </a:r>
            <a:endParaRPr lang="en-US" sz="980" dirty="0"/>
          </a:p>
        </p:txBody>
      </p:sp>
      <p:sp>
        <p:nvSpPr>
          <p:cNvPr id="37" name="Shape 35"/>
          <p:cNvSpPr/>
          <p:nvPr/>
        </p:nvSpPr>
        <p:spPr>
          <a:xfrm>
            <a:off x="4626864" y="3026664"/>
            <a:ext cx="164592" cy="164592"/>
          </a:xfrm>
          <a:prstGeom prst="ellipse">
            <a:avLst/>
          </a:prstGeom>
          <a:solidFill>
            <a:srgbClr val="2F80ED"/>
          </a:solidFill>
          <a:ln w="12700">
            <a:solidFill>
              <a:srgbClr val="2F80ED"/>
            </a:solidFill>
            <a:prstDash val="solid"/>
          </a:ln>
        </p:spPr>
      </p:sp>
      <p:sp>
        <p:nvSpPr>
          <p:cNvPr id="38" name="Text 36"/>
          <p:cNvSpPr/>
          <p:nvPr/>
        </p:nvSpPr>
        <p:spPr>
          <a:xfrm>
            <a:off x="4882896" y="2971800"/>
            <a:ext cx="27157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Medical file / image upload</a:t>
            </a:r>
            <a:endParaRPr lang="en-US" sz="980" dirty="0"/>
          </a:p>
        </p:txBody>
      </p:sp>
      <p:sp>
        <p:nvSpPr>
          <p:cNvPr id="39" name="Shape 37"/>
          <p:cNvSpPr/>
          <p:nvPr/>
        </p:nvSpPr>
        <p:spPr>
          <a:xfrm>
            <a:off x="7955280" y="1389888"/>
            <a:ext cx="3657600" cy="4526280"/>
          </a:xfrm>
          <a:prstGeom prst="roundRect">
            <a:avLst>
              <a:gd name="adj" fmla="val 2000"/>
            </a:avLst>
          </a:prstGeom>
          <a:solidFill>
            <a:srgbClr val="FFFFFF"/>
          </a:solidFill>
          <a:ln w="13970">
            <a:solidFill>
              <a:srgbClr val="DDE7EA"/>
            </a:solidFill>
            <a:prstDash val="solid"/>
          </a:ln>
        </p:spPr>
      </p:sp>
      <p:sp>
        <p:nvSpPr>
          <p:cNvPr id="40" name="Shape 38"/>
          <p:cNvSpPr/>
          <p:nvPr/>
        </p:nvSpPr>
        <p:spPr>
          <a:xfrm>
            <a:off x="8092440" y="1554480"/>
            <a:ext cx="3383280" cy="502920"/>
          </a:xfrm>
          <a:prstGeom prst="roundRect">
            <a:avLst>
              <a:gd name="adj" fmla="val 18182"/>
            </a:avLst>
          </a:prstGeom>
          <a:solidFill>
            <a:srgbClr val="F0EFFF"/>
          </a:solidFill>
          <a:ln w="12700">
            <a:solidFill>
              <a:srgbClr val="F0EFFF"/>
            </a:solidFill>
            <a:prstDash val="solid"/>
          </a:ln>
        </p:spPr>
      </p:sp>
      <p:sp>
        <p:nvSpPr>
          <p:cNvPr id="41" name="Text 39"/>
          <p:cNvSpPr/>
          <p:nvPr/>
        </p:nvSpPr>
        <p:spPr>
          <a:xfrm>
            <a:off x="8183880" y="1709928"/>
            <a:ext cx="3200400" cy="182880"/>
          </a:xfrm>
          <a:prstGeom prst="rect">
            <a:avLst/>
          </a:prstGeom>
          <a:noFill/>
          <a:ln/>
        </p:spPr>
        <p:txBody>
          <a:bodyPr wrap="square" lIns="0" tIns="0" rIns="0" bIns="0" rtlCol="0" anchor="ctr">
            <a:normAutofit/>
          </a:bodyPr>
          <a:lstStyle/>
          <a:p>
            <a:pPr algn="ctr" indent="0" marL="0">
              <a:buNone/>
            </a:pPr>
            <a:r>
              <a:rPr lang="en-US" sz="1020" b="1" dirty="0">
                <a:solidFill>
                  <a:srgbClr val="6C63FF"/>
                </a:solidFill>
                <a:latin typeface="Noto Sans" pitchFamily="34" charset="0"/>
                <a:ea typeface="Noto Sans" pitchFamily="34" charset="-122"/>
                <a:cs typeface="Noto Sans" pitchFamily="34" charset="-120"/>
              </a:rPr>
              <a:t>LATER — roadmap</a:t>
            </a:r>
            <a:endParaRPr lang="en-US" sz="1020" dirty="0"/>
          </a:p>
        </p:txBody>
      </p:sp>
      <p:sp>
        <p:nvSpPr>
          <p:cNvPr id="42" name="Shape 40"/>
          <p:cNvSpPr/>
          <p:nvPr/>
        </p:nvSpPr>
        <p:spPr>
          <a:xfrm>
            <a:off x="8211312" y="2240280"/>
            <a:ext cx="164592" cy="164592"/>
          </a:xfrm>
          <a:prstGeom prst="ellipse">
            <a:avLst/>
          </a:prstGeom>
          <a:solidFill>
            <a:srgbClr val="6C63FF"/>
          </a:solidFill>
          <a:ln w="12700">
            <a:solidFill>
              <a:srgbClr val="6C63FF"/>
            </a:solidFill>
            <a:prstDash val="solid"/>
          </a:ln>
        </p:spPr>
      </p:sp>
      <p:sp>
        <p:nvSpPr>
          <p:cNvPr id="43" name="Text 41"/>
          <p:cNvSpPr/>
          <p:nvPr/>
        </p:nvSpPr>
        <p:spPr>
          <a:xfrm>
            <a:off x="8467344" y="2185416"/>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Diabetes</a:t>
            </a:r>
            <a:endParaRPr lang="en-US" sz="980" dirty="0"/>
          </a:p>
        </p:txBody>
      </p:sp>
      <p:sp>
        <p:nvSpPr>
          <p:cNvPr id="44" name="Shape 42"/>
          <p:cNvSpPr/>
          <p:nvPr/>
        </p:nvSpPr>
        <p:spPr>
          <a:xfrm>
            <a:off x="8211312" y="2633472"/>
            <a:ext cx="164592" cy="164592"/>
          </a:xfrm>
          <a:prstGeom prst="ellipse">
            <a:avLst/>
          </a:prstGeom>
          <a:solidFill>
            <a:srgbClr val="6C63FF"/>
          </a:solidFill>
          <a:ln w="12700">
            <a:solidFill>
              <a:srgbClr val="6C63FF"/>
            </a:solidFill>
            <a:prstDash val="solid"/>
          </a:ln>
        </p:spPr>
      </p:sp>
      <p:sp>
        <p:nvSpPr>
          <p:cNvPr id="45" name="Text 43"/>
          <p:cNvSpPr/>
          <p:nvPr/>
        </p:nvSpPr>
        <p:spPr>
          <a:xfrm>
            <a:off x="8467344" y="2578608"/>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Hypertension</a:t>
            </a:r>
            <a:endParaRPr lang="en-US" sz="980" dirty="0"/>
          </a:p>
        </p:txBody>
      </p:sp>
      <p:sp>
        <p:nvSpPr>
          <p:cNvPr id="46" name="Shape 44"/>
          <p:cNvSpPr/>
          <p:nvPr/>
        </p:nvSpPr>
        <p:spPr>
          <a:xfrm>
            <a:off x="8211312" y="3026664"/>
            <a:ext cx="164592" cy="164592"/>
          </a:xfrm>
          <a:prstGeom prst="ellipse">
            <a:avLst/>
          </a:prstGeom>
          <a:solidFill>
            <a:srgbClr val="6C63FF"/>
          </a:solidFill>
          <a:ln w="12700">
            <a:solidFill>
              <a:srgbClr val="6C63FF"/>
            </a:solidFill>
            <a:prstDash val="solid"/>
          </a:ln>
        </p:spPr>
      </p:sp>
      <p:sp>
        <p:nvSpPr>
          <p:cNvPr id="47" name="Text 45"/>
          <p:cNvSpPr/>
          <p:nvPr/>
        </p:nvSpPr>
        <p:spPr>
          <a:xfrm>
            <a:off x="8467344" y="2971800"/>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Obesity</a:t>
            </a:r>
            <a:endParaRPr lang="en-US" sz="980" dirty="0"/>
          </a:p>
        </p:txBody>
      </p:sp>
      <p:sp>
        <p:nvSpPr>
          <p:cNvPr id="48" name="Shape 46"/>
          <p:cNvSpPr/>
          <p:nvPr/>
        </p:nvSpPr>
        <p:spPr>
          <a:xfrm>
            <a:off x="8211312" y="3419856"/>
            <a:ext cx="164592" cy="164592"/>
          </a:xfrm>
          <a:prstGeom prst="ellipse">
            <a:avLst/>
          </a:prstGeom>
          <a:solidFill>
            <a:srgbClr val="6C63FF"/>
          </a:solidFill>
          <a:ln w="12700">
            <a:solidFill>
              <a:srgbClr val="6C63FF"/>
            </a:solidFill>
            <a:prstDash val="solid"/>
          </a:ln>
        </p:spPr>
      </p:sp>
      <p:sp>
        <p:nvSpPr>
          <p:cNvPr id="49" name="Text 47"/>
          <p:cNvSpPr/>
          <p:nvPr/>
        </p:nvSpPr>
        <p:spPr>
          <a:xfrm>
            <a:off x="8467344" y="3364992"/>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Lipid / Dyslipidemia</a:t>
            </a:r>
            <a:endParaRPr lang="en-US" sz="980" dirty="0"/>
          </a:p>
        </p:txBody>
      </p:sp>
      <p:sp>
        <p:nvSpPr>
          <p:cNvPr id="50" name="Shape 48"/>
          <p:cNvSpPr/>
          <p:nvPr/>
        </p:nvSpPr>
        <p:spPr>
          <a:xfrm>
            <a:off x="8211312" y="3813048"/>
            <a:ext cx="164592" cy="164592"/>
          </a:xfrm>
          <a:prstGeom prst="ellipse">
            <a:avLst/>
          </a:prstGeom>
          <a:solidFill>
            <a:srgbClr val="6C63FF"/>
          </a:solidFill>
          <a:ln w="12700">
            <a:solidFill>
              <a:srgbClr val="6C63FF"/>
            </a:solidFill>
            <a:prstDash val="solid"/>
          </a:ln>
        </p:spPr>
      </p:sp>
      <p:sp>
        <p:nvSpPr>
          <p:cNvPr id="51" name="Text 49"/>
          <p:cNvSpPr/>
          <p:nvPr/>
        </p:nvSpPr>
        <p:spPr>
          <a:xfrm>
            <a:off x="8467344" y="3758184"/>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Thrombosis / coagulation risk</a:t>
            </a:r>
            <a:endParaRPr lang="en-US" sz="980" dirty="0"/>
          </a:p>
        </p:txBody>
      </p:sp>
      <p:sp>
        <p:nvSpPr>
          <p:cNvPr id="52" name="Shape 50"/>
          <p:cNvSpPr/>
          <p:nvPr/>
        </p:nvSpPr>
        <p:spPr>
          <a:xfrm>
            <a:off x="8211312" y="4206240"/>
            <a:ext cx="164592" cy="164592"/>
          </a:xfrm>
          <a:prstGeom prst="ellipse">
            <a:avLst/>
          </a:prstGeom>
          <a:solidFill>
            <a:srgbClr val="6C63FF"/>
          </a:solidFill>
          <a:ln w="12700">
            <a:solidFill>
              <a:srgbClr val="6C63FF"/>
            </a:solidFill>
            <a:prstDash val="solid"/>
          </a:ln>
        </p:spPr>
      </p:sp>
      <p:sp>
        <p:nvSpPr>
          <p:cNvPr id="53" name="Text 51"/>
          <p:cNvSpPr/>
          <p:nvPr/>
        </p:nvSpPr>
        <p:spPr>
          <a:xfrm>
            <a:off x="8467344" y="4151376"/>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Pulmonary Fibrosis expansion</a:t>
            </a:r>
            <a:endParaRPr lang="en-US" sz="980" dirty="0"/>
          </a:p>
        </p:txBody>
      </p:sp>
      <p:sp>
        <p:nvSpPr>
          <p:cNvPr id="54" name="Shape 52"/>
          <p:cNvSpPr/>
          <p:nvPr/>
        </p:nvSpPr>
        <p:spPr>
          <a:xfrm>
            <a:off x="8211312" y="4599432"/>
            <a:ext cx="164592" cy="164592"/>
          </a:xfrm>
          <a:prstGeom prst="ellipse">
            <a:avLst/>
          </a:prstGeom>
          <a:solidFill>
            <a:srgbClr val="6C63FF"/>
          </a:solidFill>
          <a:ln w="12700">
            <a:solidFill>
              <a:srgbClr val="6C63FF"/>
            </a:solidFill>
            <a:prstDash val="solid"/>
          </a:ln>
        </p:spPr>
      </p:sp>
      <p:sp>
        <p:nvSpPr>
          <p:cNvPr id="55" name="Text 53"/>
          <p:cNvSpPr/>
          <p:nvPr/>
        </p:nvSpPr>
        <p:spPr>
          <a:xfrm>
            <a:off x="8467344" y="4544568"/>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Hospital integrations</a:t>
            </a:r>
            <a:endParaRPr lang="en-US" sz="980" dirty="0"/>
          </a:p>
        </p:txBody>
      </p:sp>
      <p:sp>
        <p:nvSpPr>
          <p:cNvPr id="56" name="Shape 54"/>
          <p:cNvSpPr/>
          <p:nvPr/>
        </p:nvSpPr>
        <p:spPr>
          <a:xfrm>
            <a:off x="8211312" y="4992624"/>
            <a:ext cx="164592" cy="164592"/>
          </a:xfrm>
          <a:prstGeom prst="ellipse">
            <a:avLst/>
          </a:prstGeom>
          <a:solidFill>
            <a:srgbClr val="6C63FF"/>
          </a:solidFill>
          <a:ln w="12700">
            <a:solidFill>
              <a:srgbClr val="6C63FF"/>
            </a:solidFill>
            <a:prstDash val="solid"/>
          </a:ln>
        </p:spPr>
      </p:sp>
      <p:sp>
        <p:nvSpPr>
          <p:cNvPr id="57" name="Text 55"/>
          <p:cNvSpPr/>
          <p:nvPr/>
        </p:nvSpPr>
        <p:spPr>
          <a:xfrm>
            <a:off x="8467344" y="4937760"/>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Payments</a:t>
            </a:r>
            <a:endParaRPr lang="en-US" sz="980" dirty="0"/>
          </a:p>
        </p:txBody>
      </p:sp>
      <p:sp>
        <p:nvSpPr>
          <p:cNvPr id="58" name="Shape 56"/>
          <p:cNvSpPr/>
          <p:nvPr/>
        </p:nvSpPr>
        <p:spPr>
          <a:xfrm>
            <a:off x="8211312" y="5385816"/>
            <a:ext cx="164592" cy="164592"/>
          </a:xfrm>
          <a:prstGeom prst="ellipse">
            <a:avLst/>
          </a:prstGeom>
          <a:solidFill>
            <a:srgbClr val="6C63FF"/>
          </a:solidFill>
          <a:ln w="12700">
            <a:solidFill>
              <a:srgbClr val="6C63FF"/>
            </a:solidFill>
            <a:prstDash val="solid"/>
          </a:ln>
        </p:spPr>
      </p:sp>
      <p:sp>
        <p:nvSpPr>
          <p:cNvPr id="59" name="Text 57"/>
          <p:cNvSpPr/>
          <p:nvPr/>
        </p:nvSpPr>
        <p:spPr>
          <a:xfrm>
            <a:off x="8467344" y="5330952"/>
            <a:ext cx="2944368" cy="256032"/>
          </a:xfrm>
          <a:prstGeom prst="rect">
            <a:avLst/>
          </a:prstGeom>
          <a:noFill/>
          <a:ln/>
        </p:spPr>
        <p:txBody>
          <a:bodyPr wrap="square" lIns="0" tIns="0" rIns="0" bIns="0" rtlCol="0" anchor="ctr">
            <a:normAutofit/>
          </a:bodyPr>
          <a:lstStyle/>
          <a:p>
            <a:pPr indent="0" marL="0">
              <a:buNone/>
            </a:pPr>
            <a:r>
              <a:rPr lang="en-US" sz="980" dirty="0">
                <a:solidFill>
                  <a:srgbClr val="142A37"/>
                </a:solidFill>
                <a:latin typeface="Noto Sans" pitchFamily="34" charset="0"/>
                <a:ea typeface="Noto Sans" pitchFamily="34" charset="-122"/>
                <a:cs typeface="Noto Sans" pitchFamily="34" charset="-120"/>
              </a:rPr>
              <a:t>Wearables</a:t>
            </a:r>
            <a:endParaRPr lang="en-US" sz="98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Out of Scope — Version 1</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Explicit exclusions keep the team from turning the demo into an unfinishable “everything app.”</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SCOPE GUARDRAILS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731520" y="155448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896112" y="1719072"/>
            <a:ext cx="402336" cy="402336"/>
          </a:xfrm>
          <a:prstGeom prst="ellipse">
            <a:avLst/>
          </a:prstGeom>
          <a:solidFill>
            <a:srgbClr val="FDECEF"/>
          </a:solidFill>
          <a:ln w="12700">
            <a:solidFill>
              <a:srgbClr val="FDECE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6696" y="1819656"/>
            <a:ext cx="201168" cy="201168"/>
          </a:xfrm>
          <a:prstGeom prst="rect">
            <a:avLst/>
          </a:prstGeom>
        </p:spPr>
      </p:pic>
      <p:sp>
        <p:nvSpPr>
          <p:cNvPr id="10" name="Text 7"/>
          <p:cNvSpPr/>
          <p:nvPr/>
        </p:nvSpPr>
        <p:spPr>
          <a:xfrm>
            <a:off x="1389888" y="172821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Full heart / kidney / liver disease modules</a:t>
            </a:r>
            <a:endParaRPr lang="en-US" sz="1230" dirty="0"/>
          </a:p>
        </p:txBody>
      </p:sp>
      <p:sp>
        <p:nvSpPr>
          <p:cNvPr id="11" name="Text 8"/>
          <p:cNvSpPr/>
          <p:nvPr/>
        </p:nvSpPr>
        <p:spPr>
          <a:xfrm>
            <a:off x="914400" y="224028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12" name="Shape 9"/>
          <p:cNvSpPr/>
          <p:nvPr/>
        </p:nvSpPr>
        <p:spPr>
          <a:xfrm>
            <a:off x="4526280" y="155448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4690872" y="1719072"/>
            <a:ext cx="402336" cy="402336"/>
          </a:xfrm>
          <a:prstGeom prst="ellipse">
            <a:avLst/>
          </a:prstGeom>
          <a:solidFill>
            <a:srgbClr val="FDECEF"/>
          </a:solidFill>
          <a:ln w="12700">
            <a:solidFill>
              <a:srgbClr val="FDECEF"/>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1456" y="1819656"/>
            <a:ext cx="201168" cy="201168"/>
          </a:xfrm>
          <a:prstGeom prst="rect">
            <a:avLst/>
          </a:prstGeom>
        </p:spPr>
      </p:pic>
      <p:sp>
        <p:nvSpPr>
          <p:cNvPr id="15" name="Text 11"/>
          <p:cNvSpPr/>
          <p:nvPr/>
        </p:nvSpPr>
        <p:spPr>
          <a:xfrm>
            <a:off x="5184648" y="172821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Wearables integration</a:t>
            </a:r>
            <a:endParaRPr lang="en-US" sz="1230" dirty="0"/>
          </a:p>
        </p:txBody>
      </p:sp>
      <p:sp>
        <p:nvSpPr>
          <p:cNvPr id="16" name="Text 12"/>
          <p:cNvSpPr/>
          <p:nvPr/>
        </p:nvSpPr>
        <p:spPr>
          <a:xfrm>
            <a:off x="4709160" y="224028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17" name="Shape 13"/>
          <p:cNvSpPr/>
          <p:nvPr/>
        </p:nvSpPr>
        <p:spPr>
          <a:xfrm>
            <a:off x="8321040" y="155448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8485632" y="1719072"/>
            <a:ext cx="402336" cy="402336"/>
          </a:xfrm>
          <a:prstGeom prst="ellipse">
            <a:avLst/>
          </a:prstGeom>
          <a:solidFill>
            <a:srgbClr val="FDECEF"/>
          </a:solidFill>
          <a:ln w="12700">
            <a:solidFill>
              <a:srgbClr val="FDECEF"/>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86216" y="1819656"/>
            <a:ext cx="201168" cy="201168"/>
          </a:xfrm>
          <a:prstGeom prst="rect">
            <a:avLst/>
          </a:prstGeom>
        </p:spPr>
      </p:pic>
      <p:sp>
        <p:nvSpPr>
          <p:cNvPr id="20" name="Text 15"/>
          <p:cNvSpPr/>
          <p:nvPr/>
        </p:nvSpPr>
        <p:spPr>
          <a:xfrm>
            <a:off x="8979408" y="172821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Offline mode</a:t>
            </a:r>
            <a:endParaRPr lang="en-US" sz="1230" dirty="0"/>
          </a:p>
        </p:txBody>
      </p:sp>
      <p:sp>
        <p:nvSpPr>
          <p:cNvPr id="21" name="Text 16"/>
          <p:cNvSpPr/>
          <p:nvPr/>
        </p:nvSpPr>
        <p:spPr>
          <a:xfrm>
            <a:off x="8503920" y="224028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22" name="Shape 17"/>
          <p:cNvSpPr/>
          <p:nvPr/>
        </p:nvSpPr>
        <p:spPr>
          <a:xfrm>
            <a:off x="731520" y="342900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896112" y="3593592"/>
            <a:ext cx="402336" cy="402336"/>
          </a:xfrm>
          <a:prstGeom prst="ellipse">
            <a:avLst/>
          </a:prstGeom>
          <a:solidFill>
            <a:srgbClr val="FDECEF"/>
          </a:solidFill>
          <a:ln w="12700">
            <a:solidFill>
              <a:srgbClr val="FDECEF"/>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6696" y="3694176"/>
            <a:ext cx="201168" cy="201168"/>
          </a:xfrm>
          <a:prstGeom prst="rect">
            <a:avLst/>
          </a:prstGeom>
        </p:spPr>
      </p:pic>
      <p:sp>
        <p:nvSpPr>
          <p:cNvPr id="25" name="Text 19"/>
          <p:cNvSpPr/>
          <p:nvPr/>
        </p:nvSpPr>
        <p:spPr>
          <a:xfrm>
            <a:off x="1389888" y="360273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Independent autonomous diagnosis</a:t>
            </a:r>
            <a:endParaRPr lang="en-US" sz="1230" dirty="0"/>
          </a:p>
        </p:txBody>
      </p:sp>
      <p:sp>
        <p:nvSpPr>
          <p:cNvPr id="26" name="Text 20"/>
          <p:cNvSpPr/>
          <p:nvPr/>
        </p:nvSpPr>
        <p:spPr>
          <a:xfrm>
            <a:off x="914400" y="411480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27" name="Shape 21"/>
          <p:cNvSpPr/>
          <p:nvPr/>
        </p:nvSpPr>
        <p:spPr>
          <a:xfrm>
            <a:off x="4526280" y="342900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4690872" y="3593592"/>
            <a:ext cx="402336" cy="402336"/>
          </a:xfrm>
          <a:prstGeom prst="ellipse">
            <a:avLst/>
          </a:prstGeom>
          <a:solidFill>
            <a:srgbClr val="FDECEF"/>
          </a:solidFill>
          <a:ln w="12700">
            <a:solidFill>
              <a:srgbClr val="FDECEF"/>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91456" y="3694176"/>
            <a:ext cx="201168" cy="201168"/>
          </a:xfrm>
          <a:prstGeom prst="rect">
            <a:avLst/>
          </a:prstGeom>
        </p:spPr>
      </p:pic>
      <p:sp>
        <p:nvSpPr>
          <p:cNvPr id="30" name="Text 23"/>
          <p:cNvSpPr/>
          <p:nvPr/>
        </p:nvSpPr>
        <p:spPr>
          <a:xfrm>
            <a:off x="5184648" y="360273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Full international rollout before Egypt fit</a:t>
            </a:r>
            <a:endParaRPr lang="en-US" sz="1230" dirty="0"/>
          </a:p>
        </p:txBody>
      </p:sp>
      <p:sp>
        <p:nvSpPr>
          <p:cNvPr id="31" name="Text 24"/>
          <p:cNvSpPr/>
          <p:nvPr/>
        </p:nvSpPr>
        <p:spPr>
          <a:xfrm>
            <a:off x="4709160" y="411480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32" name="Shape 25"/>
          <p:cNvSpPr/>
          <p:nvPr/>
        </p:nvSpPr>
        <p:spPr>
          <a:xfrm>
            <a:off x="8321040" y="3429000"/>
            <a:ext cx="3383280" cy="1417320"/>
          </a:xfrm>
          <a:prstGeom prst="roundRect">
            <a:avLst>
              <a:gd name="adj" fmla="val 516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8485632" y="3593592"/>
            <a:ext cx="402336" cy="402336"/>
          </a:xfrm>
          <a:prstGeom prst="ellipse">
            <a:avLst/>
          </a:prstGeom>
          <a:solidFill>
            <a:srgbClr val="FDECEF"/>
          </a:solidFill>
          <a:ln w="12700">
            <a:solidFill>
              <a:srgbClr val="FDECEF"/>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86216" y="3694176"/>
            <a:ext cx="201168" cy="201168"/>
          </a:xfrm>
          <a:prstGeom prst="rect">
            <a:avLst/>
          </a:prstGeom>
        </p:spPr>
      </p:pic>
      <p:sp>
        <p:nvSpPr>
          <p:cNvPr id="35" name="Text 27"/>
          <p:cNvSpPr/>
          <p:nvPr/>
        </p:nvSpPr>
        <p:spPr>
          <a:xfrm>
            <a:off x="8979408" y="3602736"/>
            <a:ext cx="2560320" cy="310896"/>
          </a:xfrm>
          <a:prstGeom prst="rect">
            <a:avLst/>
          </a:prstGeom>
          <a:noFill/>
          <a:ln/>
        </p:spPr>
        <p:txBody>
          <a:bodyPr wrap="square" lIns="0" tIns="0" rIns="0" bIns="0" rtlCol="0" anchor="ctr">
            <a:normAutofit/>
          </a:bodyPr>
          <a:lstStyle/>
          <a:p>
            <a:pPr indent="0" marL="0">
              <a:buNone/>
            </a:pPr>
            <a:r>
              <a:rPr lang="en-US" sz="1230" b="1" dirty="0">
                <a:solidFill>
                  <a:srgbClr val="142A37"/>
                </a:solidFill>
                <a:latin typeface="Noto Sans" pitchFamily="34" charset="0"/>
                <a:ea typeface="Noto Sans" pitchFamily="34" charset="-122"/>
                <a:cs typeface="Noto Sans" pitchFamily="34" charset="-120"/>
              </a:rPr>
              <a:t>CT Scan as an independent prediction module</a:t>
            </a:r>
            <a:endParaRPr lang="en-US" sz="1230" dirty="0"/>
          </a:p>
        </p:txBody>
      </p:sp>
      <p:sp>
        <p:nvSpPr>
          <p:cNvPr id="36" name="Text 28"/>
          <p:cNvSpPr/>
          <p:nvPr/>
        </p:nvSpPr>
        <p:spPr>
          <a:xfrm>
            <a:off x="8503920" y="4114800"/>
            <a:ext cx="3017520" cy="576072"/>
          </a:xfrm>
          <a:prstGeom prst="rect">
            <a:avLst/>
          </a:prstGeom>
          <a:noFill/>
          <a:ln/>
        </p:spPr>
        <p:txBody>
          <a:bodyPr wrap="square" lIns="254" tIns="254" rIns="254" bIns="254" rtlCol="0" anchor="t">
            <a:normAutofit/>
          </a:bodyPr>
          <a:lstStyle/>
          <a:p>
            <a:pPr indent="0" marL="0">
              <a:buNone/>
            </a:pPr>
            <a:r>
              <a:rPr lang="en-US" sz="960" dirty="0">
                <a:solidFill>
                  <a:srgbClr val="5F7180"/>
                </a:solidFill>
                <a:latin typeface="Noto Sans" pitchFamily="34" charset="0"/>
                <a:ea typeface="Noto Sans" pitchFamily="34" charset="-122"/>
                <a:cs typeface="Noto Sans" pitchFamily="34" charset="-120"/>
              </a:rPr>
              <a:t>Defer until the core Respiratory flow is validated and the product foundation is safe.</a:t>
            </a:r>
            <a:endParaRPr lang="en-US" sz="960" dirty="0"/>
          </a:p>
        </p:txBody>
      </p:sp>
      <p:sp>
        <p:nvSpPr>
          <p:cNvPr id="37" name="Shape 29"/>
          <p:cNvSpPr/>
          <p:nvPr/>
        </p:nvSpPr>
        <p:spPr>
          <a:xfrm>
            <a:off x="2011680" y="5440680"/>
            <a:ext cx="8183880" cy="530352"/>
          </a:xfrm>
          <a:prstGeom prst="roundRect">
            <a:avLst>
              <a:gd name="adj" fmla="val 20690"/>
            </a:avLst>
          </a:prstGeom>
          <a:solidFill>
            <a:srgbClr val="FFF6E5"/>
          </a:solidFill>
          <a:ln w="12700">
            <a:solidFill>
              <a:srgbClr val="F2D18B"/>
            </a:solidFill>
            <a:prstDash val="solid"/>
          </a:ln>
        </p:spPr>
      </p:sp>
      <p:sp>
        <p:nvSpPr>
          <p:cNvPr id="38" name="Text 30"/>
          <p:cNvSpPr/>
          <p:nvPr/>
        </p:nvSpPr>
        <p:spPr>
          <a:xfrm>
            <a:off x="2240280" y="5623560"/>
            <a:ext cx="7726680" cy="182880"/>
          </a:xfrm>
          <a:prstGeom prst="rect">
            <a:avLst/>
          </a:prstGeom>
          <a:noFill/>
          <a:ln/>
        </p:spPr>
        <p:txBody>
          <a:bodyPr wrap="square" lIns="0" tIns="0" rIns="0" bIns="0" rtlCol="0" anchor="ctr">
            <a:normAutofit/>
          </a:bodyPr>
          <a:lstStyle/>
          <a:p>
            <a:pPr algn="ctr" indent="0" marL="0">
              <a:buNone/>
            </a:pPr>
            <a:r>
              <a:rPr lang="en-US" sz="1100" b="1" dirty="0">
                <a:solidFill>
                  <a:srgbClr val="A46E12"/>
                </a:solidFill>
                <a:latin typeface="Noto Sans" pitchFamily="34" charset="0"/>
                <a:ea typeface="Noto Sans" pitchFamily="34" charset="-122"/>
                <a:cs typeface="Noto Sans" pitchFamily="34" charset="-120"/>
              </a:rPr>
              <a:t>Scope rule: prove one reliable end-to-end module first — then expand diseases and integrations gradually.</a:t>
            </a:r>
            <a:endParaRPr lang="en-US" sz="110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Flagship MVP — Respiratory Module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first module should demonstrate the full clinical workflow rather than a standalone ML prediction.</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FLAGSHIP</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1033272" y="1508760"/>
            <a:ext cx="566928" cy="566928"/>
          </a:xfrm>
          <a:prstGeom prst="ellipse">
            <a:avLst/>
          </a:prstGeom>
          <a:solidFill>
            <a:srgbClr val="000000"/>
          </a:solidFill>
          <a:ln w="12700">
            <a:solidFill>
              <a:srgbClr val="333333"/>
            </a:solidFill>
            <a:prstDash val="solid"/>
          </a:ln>
        </p:spPr>
      </p:sp>
      <p:sp>
        <p:nvSpPr>
          <p:cNvPr id="8" name="Text 6"/>
          <p:cNvSpPr/>
          <p:nvPr/>
        </p:nvSpPr>
        <p:spPr>
          <a:xfrm>
            <a:off x="1197864"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1</a:t>
            </a:r>
            <a:endParaRPr lang="en-US" sz="10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8720" y="2286000"/>
            <a:ext cx="320040" cy="320040"/>
          </a:xfrm>
          <a:prstGeom prst="rect">
            <a:avLst/>
          </a:prstGeom>
        </p:spPr>
      </p:pic>
      <p:sp>
        <p:nvSpPr>
          <p:cNvPr id="10" name="Text 7"/>
          <p:cNvSpPr/>
          <p:nvPr/>
        </p:nvSpPr>
        <p:spPr>
          <a:xfrm>
            <a:off x="594360"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Patient inputs</a:t>
            </a:r>
            <a:endParaRPr lang="en-US" sz="1130" dirty="0"/>
          </a:p>
        </p:txBody>
      </p:sp>
      <p:sp>
        <p:nvSpPr>
          <p:cNvPr id="11" name="Text 8"/>
          <p:cNvSpPr/>
          <p:nvPr/>
        </p:nvSpPr>
        <p:spPr>
          <a:xfrm>
            <a:off x="502920"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Symptoms + measurements required by the defined respiratory use case</a:t>
            </a:r>
            <a:endParaRPr lang="en-US" sz="890" dirty="0"/>
          </a:p>
        </p:txBody>
      </p:sp>
      <p:sp>
        <p:nvSpPr>
          <p:cNvPr id="12" name="Shape 9"/>
          <p:cNvSpPr/>
          <p:nvPr/>
        </p:nvSpPr>
        <p:spPr>
          <a:xfrm>
            <a:off x="2011680" y="1783080"/>
            <a:ext cx="411480" cy="0"/>
          </a:xfrm>
          <a:prstGeom prst="line">
            <a:avLst/>
          </a:prstGeom>
          <a:noFill/>
          <a:ln w="20320">
            <a:solidFill>
              <a:srgbClr val="DDE7EA"/>
            </a:solidFill>
            <a:prstDash val="solid"/>
            <a:headEnd type="none"/>
            <a:tailEnd type="triangle"/>
          </a:ln>
        </p:spPr>
      </p:sp>
      <p:sp>
        <p:nvSpPr>
          <p:cNvPr id="13" name="Shape 10"/>
          <p:cNvSpPr/>
          <p:nvPr/>
        </p:nvSpPr>
        <p:spPr>
          <a:xfrm>
            <a:off x="2935224" y="1508760"/>
            <a:ext cx="566928" cy="566928"/>
          </a:xfrm>
          <a:prstGeom prst="ellipse">
            <a:avLst/>
          </a:prstGeom>
          <a:solidFill>
            <a:srgbClr val="000000"/>
          </a:solidFill>
          <a:ln w="12700">
            <a:solidFill>
              <a:srgbClr val="333333"/>
            </a:solidFill>
            <a:prstDash val="solid"/>
          </a:ln>
        </p:spPr>
      </p:sp>
      <p:sp>
        <p:nvSpPr>
          <p:cNvPr id="14" name="Text 11"/>
          <p:cNvSpPr/>
          <p:nvPr/>
        </p:nvSpPr>
        <p:spPr>
          <a:xfrm>
            <a:off x="3099816"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2</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0672" y="2286000"/>
            <a:ext cx="320040" cy="320040"/>
          </a:xfrm>
          <a:prstGeom prst="rect">
            <a:avLst/>
          </a:prstGeom>
        </p:spPr>
      </p:pic>
      <p:sp>
        <p:nvSpPr>
          <p:cNvPr id="16" name="Text 12"/>
          <p:cNvSpPr/>
          <p:nvPr/>
        </p:nvSpPr>
        <p:spPr>
          <a:xfrm>
            <a:off x="2496312"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ML assessment</a:t>
            </a:r>
            <a:endParaRPr lang="en-US" sz="1130" dirty="0"/>
          </a:p>
        </p:txBody>
      </p:sp>
      <p:sp>
        <p:nvSpPr>
          <p:cNvPr id="17" name="Text 13"/>
          <p:cNvSpPr/>
          <p:nvPr/>
        </p:nvSpPr>
        <p:spPr>
          <a:xfrm>
            <a:off x="2404872"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Risk score / classification + confidence + model version</a:t>
            </a:r>
            <a:endParaRPr lang="en-US" sz="890" dirty="0"/>
          </a:p>
        </p:txBody>
      </p:sp>
      <p:sp>
        <p:nvSpPr>
          <p:cNvPr id="18" name="Shape 14"/>
          <p:cNvSpPr/>
          <p:nvPr/>
        </p:nvSpPr>
        <p:spPr>
          <a:xfrm>
            <a:off x="3913632" y="1783080"/>
            <a:ext cx="411480" cy="0"/>
          </a:xfrm>
          <a:prstGeom prst="line">
            <a:avLst/>
          </a:prstGeom>
          <a:noFill/>
          <a:ln w="20320">
            <a:solidFill>
              <a:srgbClr val="DDE7EA"/>
            </a:solidFill>
            <a:prstDash val="solid"/>
            <a:headEnd type="none"/>
            <a:tailEnd type="triangle"/>
          </a:ln>
        </p:spPr>
      </p:sp>
      <p:sp>
        <p:nvSpPr>
          <p:cNvPr id="19" name="Shape 15"/>
          <p:cNvSpPr/>
          <p:nvPr/>
        </p:nvSpPr>
        <p:spPr>
          <a:xfrm>
            <a:off x="4837176" y="1508760"/>
            <a:ext cx="566928" cy="566928"/>
          </a:xfrm>
          <a:prstGeom prst="ellipse">
            <a:avLst/>
          </a:prstGeom>
          <a:solidFill>
            <a:srgbClr val="000000"/>
          </a:solidFill>
          <a:ln w="12700">
            <a:solidFill>
              <a:srgbClr val="333333"/>
            </a:solidFill>
            <a:prstDash val="solid"/>
          </a:ln>
        </p:spPr>
      </p:sp>
      <p:sp>
        <p:nvSpPr>
          <p:cNvPr id="20" name="Text 16"/>
          <p:cNvSpPr/>
          <p:nvPr/>
        </p:nvSpPr>
        <p:spPr>
          <a:xfrm>
            <a:off x="5001768"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3</a:t>
            </a:r>
            <a:endParaRPr lang="en-US" sz="10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92624" y="2286000"/>
            <a:ext cx="320040" cy="320040"/>
          </a:xfrm>
          <a:prstGeom prst="rect">
            <a:avLst/>
          </a:prstGeom>
        </p:spPr>
      </p:pic>
      <p:sp>
        <p:nvSpPr>
          <p:cNvPr id="22" name="Text 17"/>
          <p:cNvSpPr/>
          <p:nvPr/>
        </p:nvSpPr>
        <p:spPr>
          <a:xfrm>
            <a:off x="4398264"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Pending review</a:t>
            </a:r>
            <a:endParaRPr lang="en-US" sz="1130" dirty="0"/>
          </a:p>
        </p:txBody>
      </p:sp>
      <p:sp>
        <p:nvSpPr>
          <p:cNvPr id="23" name="Text 18"/>
          <p:cNvSpPr/>
          <p:nvPr/>
        </p:nvSpPr>
        <p:spPr>
          <a:xfrm>
            <a:off x="4306824"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Result is stored as Pending Doctor Review</a:t>
            </a:r>
            <a:endParaRPr lang="en-US" sz="890" dirty="0"/>
          </a:p>
        </p:txBody>
      </p:sp>
      <p:sp>
        <p:nvSpPr>
          <p:cNvPr id="24" name="Shape 19"/>
          <p:cNvSpPr/>
          <p:nvPr/>
        </p:nvSpPr>
        <p:spPr>
          <a:xfrm>
            <a:off x="5815584" y="1783080"/>
            <a:ext cx="411480" cy="0"/>
          </a:xfrm>
          <a:prstGeom prst="line">
            <a:avLst/>
          </a:prstGeom>
          <a:noFill/>
          <a:ln w="20320">
            <a:solidFill>
              <a:srgbClr val="DDE7EA"/>
            </a:solidFill>
            <a:prstDash val="solid"/>
            <a:headEnd type="none"/>
            <a:tailEnd type="triangle"/>
          </a:ln>
        </p:spPr>
      </p:sp>
      <p:sp>
        <p:nvSpPr>
          <p:cNvPr id="25" name="Shape 20"/>
          <p:cNvSpPr/>
          <p:nvPr/>
        </p:nvSpPr>
        <p:spPr>
          <a:xfrm>
            <a:off x="6739128" y="1508760"/>
            <a:ext cx="566928" cy="566928"/>
          </a:xfrm>
          <a:prstGeom prst="ellipse">
            <a:avLst/>
          </a:prstGeom>
          <a:solidFill>
            <a:srgbClr val="000000"/>
          </a:solidFill>
          <a:ln w="12700">
            <a:solidFill>
              <a:srgbClr val="333333"/>
            </a:solidFill>
            <a:prstDash val="solid"/>
          </a:ln>
        </p:spPr>
      </p:sp>
      <p:sp>
        <p:nvSpPr>
          <p:cNvPr id="26" name="Text 21"/>
          <p:cNvSpPr/>
          <p:nvPr/>
        </p:nvSpPr>
        <p:spPr>
          <a:xfrm>
            <a:off x="6903720"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4</a:t>
            </a:r>
            <a:endParaRPr lang="en-US" sz="1050" dirty="0"/>
          </a:p>
        </p:txBody>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94576" y="2286000"/>
            <a:ext cx="320040" cy="320040"/>
          </a:xfrm>
          <a:prstGeom prst="rect">
            <a:avLst/>
          </a:prstGeom>
        </p:spPr>
      </p:pic>
      <p:sp>
        <p:nvSpPr>
          <p:cNvPr id="28" name="Text 22"/>
          <p:cNvSpPr/>
          <p:nvPr/>
        </p:nvSpPr>
        <p:spPr>
          <a:xfrm>
            <a:off x="6300216"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Doctor decision</a:t>
            </a:r>
            <a:endParaRPr lang="en-US" sz="1130" dirty="0"/>
          </a:p>
        </p:txBody>
      </p:sp>
      <p:sp>
        <p:nvSpPr>
          <p:cNvPr id="29" name="Text 23"/>
          <p:cNvSpPr/>
          <p:nvPr/>
        </p:nvSpPr>
        <p:spPr>
          <a:xfrm>
            <a:off x="6208776"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Review • Approve / Reject • note • next action</a:t>
            </a:r>
            <a:endParaRPr lang="en-US" sz="890" dirty="0"/>
          </a:p>
        </p:txBody>
      </p:sp>
      <p:sp>
        <p:nvSpPr>
          <p:cNvPr id="30" name="Shape 24"/>
          <p:cNvSpPr/>
          <p:nvPr/>
        </p:nvSpPr>
        <p:spPr>
          <a:xfrm>
            <a:off x="7717536" y="1783080"/>
            <a:ext cx="411480" cy="0"/>
          </a:xfrm>
          <a:prstGeom prst="line">
            <a:avLst/>
          </a:prstGeom>
          <a:noFill/>
          <a:ln w="20320">
            <a:solidFill>
              <a:srgbClr val="DDE7EA"/>
            </a:solidFill>
            <a:prstDash val="solid"/>
            <a:headEnd type="none"/>
            <a:tailEnd type="triangle"/>
          </a:ln>
        </p:spPr>
      </p:sp>
      <p:sp>
        <p:nvSpPr>
          <p:cNvPr id="31" name="Shape 25"/>
          <p:cNvSpPr/>
          <p:nvPr/>
        </p:nvSpPr>
        <p:spPr>
          <a:xfrm>
            <a:off x="8641080" y="1508760"/>
            <a:ext cx="566928" cy="566928"/>
          </a:xfrm>
          <a:prstGeom prst="ellipse">
            <a:avLst/>
          </a:prstGeom>
          <a:solidFill>
            <a:srgbClr val="000000"/>
          </a:solidFill>
          <a:ln w="12700">
            <a:solidFill>
              <a:srgbClr val="333333"/>
            </a:solidFill>
            <a:prstDash val="solid"/>
          </a:ln>
        </p:spPr>
      </p:sp>
      <p:sp>
        <p:nvSpPr>
          <p:cNvPr id="32" name="Text 26"/>
          <p:cNvSpPr/>
          <p:nvPr/>
        </p:nvSpPr>
        <p:spPr>
          <a:xfrm>
            <a:off x="8805672"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5</a:t>
            </a:r>
            <a:endParaRPr lang="en-US" sz="1050" dirty="0"/>
          </a:p>
        </p:txBody>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96528" y="2286000"/>
            <a:ext cx="320040" cy="320040"/>
          </a:xfrm>
          <a:prstGeom prst="rect">
            <a:avLst/>
          </a:prstGeom>
        </p:spPr>
      </p:pic>
      <p:sp>
        <p:nvSpPr>
          <p:cNvPr id="34" name="Text 27"/>
          <p:cNvSpPr/>
          <p:nvPr/>
        </p:nvSpPr>
        <p:spPr>
          <a:xfrm>
            <a:off x="8202168"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Patient result</a:t>
            </a:r>
            <a:endParaRPr lang="en-US" sz="1130" dirty="0"/>
          </a:p>
        </p:txBody>
      </p:sp>
      <p:sp>
        <p:nvSpPr>
          <p:cNvPr id="35" name="Text 28"/>
          <p:cNvSpPr/>
          <p:nvPr/>
        </p:nvSpPr>
        <p:spPr>
          <a:xfrm>
            <a:off x="8110728"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Approved result + recommendations + disclaimer</a:t>
            </a:r>
            <a:endParaRPr lang="en-US" sz="890" dirty="0"/>
          </a:p>
        </p:txBody>
      </p:sp>
      <p:sp>
        <p:nvSpPr>
          <p:cNvPr id="36" name="Shape 29"/>
          <p:cNvSpPr/>
          <p:nvPr/>
        </p:nvSpPr>
        <p:spPr>
          <a:xfrm>
            <a:off x="9619488" y="1783080"/>
            <a:ext cx="411480" cy="0"/>
          </a:xfrm>
          <a:prstGeom prst="line">
            <a:avLst/>
          </a:prstGeom>
          <a:noFill/>
          <a:ln w="20320">
            <a:solidFill>
              <a:srgbClr val="DDE7EA"/>
            </a:solidFill>
            <a:prstDash val="solid"/>
            <a:headEnd type="none"/>
            <a:tailEnd type="triangle"/>
          </a:ln>
        </p:spPr>
      </p:sp>
      <p:sp>
        <p:nvSpPr>
          <p:cNvPr id="37" name="Shape 30"/>
          <p:cNvSpPr/>
          <p:nvPr/>
        </p:nvSpPr>
        <p:spPr>
          <a:xfrm>
            <a:off x="10543032" y="1508760"/>
            <a:ext cx="566928" cy="566928"/>
          </a:xfrm>
          <a:prstGeom prst="ellipse">
            <a:avLst/>
          </a:prstGeom>
          <a:solidFill>
            <a:srgbClr val="000000"/>
          </a:solidFill>
          <a:ln w="12700">
            <a:solidFill>
              <a:srgbClr val="333333"/>
            </a:solidFill>
            <a:prstDash val="solid"/>
          </a:ln>
        </p:spPr>
      </p:sp>
      <p:sp>
        <p:nvSpPr>
          <p:cNvPr id="38" name="Text 31"/>
          <p:cNvSpPr/>
          <p:nvPr/>
        </p:nvSpPr>
        <p:spPr>
          <a:xfrm>
            <a:off x="10707624" y="1673352"/>
            <a:ext cx="219456"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pitchFamily="34" charset="0"/>
                <a:ea typeface="Noto Sans" pitchFamily="34" charset="-122"/>
                <a:cs typeface="Noto Sans" pitchFamily="34" charset="-120"/>
              </a:rPr>
              <a:t>6</a:t>
            </a:r>
            <a:endParaRPr lang="en-US" sz="1050" dirty="0"/>
          </a:p>
        </p:txBody>
      </p:sp>
      <p:pic>
        <p:nvPicPr>
          <p:cNvPr id="3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98480" y="2286000"/>
            <a:ext cx="320040" cy="320040"/>
          </a:xfrm>
          <a:prstGeom prst="rect">
            <a:avLst/>
          </a:prstGeom>
        </p:spPr>
      </p:pic>
      <p:sp>
        <p:nvSpPr>
          <p:cNvPr id="40" name="Text 32"/>
          <p:cNvSpPr/>
          <p:nvPr/>
        </p:nvSpPr>
        <p:spPr>
          <a:xfrm>
            <a:off x="10104120" y="2697480"/>
            <a:ext cx="1600200" cy="329184"/>
          </a:xfrm>
          <a:prstGeom prst="rect">
            <a:avLst/>
          </a:prstGeom>
          <a:noFill/>
          <a:ln/>
        </p:spPr>
        <p:txBody>
          <a:bodyPr wrap="square" lIns="0" tIns="0" rIns="0" bIns="0" rtlCol="0" anchor="ctr">
            <a:normAutofit/>
          </a:bodyPr>
          <a:lstStyle/>
          <a:p>
            <a:pPr algn="ctr" indent="0" marL="0">
              <a:buNone/>
            </a:pPr>
            <a:r>
              <a:rPr lang="en-US" sz="1130" b="1" dirty="0">
                <a:solidFill>
                  <a:srgbClr val="142A37"/>
                </a:solidFill>
                <a:latin typeface="Noto Sans" pitchFamily="34" charset="0"/>
                <a:ea typeface="Noto Sans" pitchFamily="34" charset="-122"/>
                <a:cs typeface="Noto Sans" pitchFamily="34" charset="-120"/>
              </a:rPr>
              <a:t>History + report</a:t>
            </a:r>
            <a:endParaRPr lang="en-US" sz="1130" dirty="0"/>
          </a:p>
        </p:txBody>
      </p:sp>
      <p:sp>
        <p:nvSpPr>
          <p:cNvPr id="41" name="Text 33"/>
          <p:cNvSpPr/>
          <p:nvPr/>
        </p:nvSpPr>
        <p:spPr>
          <a:xfrm>
            <a:off x="10012680" y="3127248"/>
            <a:ext cx="1783080" cy="914400"/>
          </a:xfrm>
          <a:prstGeom prst="rect">
            <a:avLst/>
          </a:prstGeom>
          <a:noFill/>
          <a:ln/>
        </p:spPr>
        <p:txBody>
          <a:bodyPr wrap="square" lIns="254" tIns="254" rIns="254" bIns="254" rtlCol="0" anchor="ctr">
            <a:normAutofit/>
          </a:bodyPr>
          <a:lstStyle/>
          <a:p>
            <a:pPr algn="ctr" indent="0" marL="0">
              <a:buNone/>
            </a:pPr>
            <a:r>
              <a:rPr lang="en-US" sz="890" dirty="0">
                <a:solidFill>
                  <a:srgbClr val="5F7180"/>
                </a:solidFill>
                <a:latin typeface="Noto Sans" pitchFamily="34" charset="0"/>
                <a:ea typeface="Noto Sans" pitchFamily="34" charset="-122"/>
                <a:cs typeface="Noto Sans" pitchFamily="34" charset="-120"/>
              </a:rPr>
              <a:t>PDF saved to patient history with timestamp and doctor</a:t>
            </a:r>
            <a:endParaRPr lang="en-US" sz="890" dirty="0"/>
          </a:p>
        </p:txBody>
      </p:sp>
      <p:sp>
        <p:nvSpPr>
          <p:cNvPr id="42" name="Shape 34"/>
          <p:cNvSpPr/>
          <p:nvPr/>
        </p:nvSpPr>
        <p:spPr>
          <a:xfrm>
            <a:off x="868680" y="4663440"/>
            <a:ext cx="4937760" cy="1143000"/>
          </a:xfrm>
          <a:prstGeom prst="roundRect">
            <a:avLst>
              <a:gd name="adj" fmla="val 64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5"/>
          <p:cNvSpPr/>
          <p:nvPr/>
        </p:nvSpPr>
        <p:spPr>
          <a:xfrm>
            <a:off x="1033272" y="4828032"/>
            <a:ext cx="402336" cy="402336"/>
          </a:xfrm>
          <a:prstGeom prst="ellipse">
            <a:avLst/>
          </a:prstGeom>
          <a:solidFill>
            <a:srgbClr val="FFF6E5"/>
          </a:solidFill>
          <a:ln w="12700">
            <a:solidFill>
              <a:srgbClr val="FFF6E5"/>
            </a:solidFill>
            <a:prstDash val="solid"/>
          </a:ln>
        </p:spPr>
      </p:sp>
      <p:pic>
        <p:nvPicPr>
          <p:cNvPr id="4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33856" y="4928616"/>
            <a:ext cx="201168" cy="201168"/>
          </a:xfrm>
          <a:prstGeom prst="rect">
            <a:avLst/>
          </a:prstGeom>
        </p:spPr>
      </p:pic>
      <p:sp>
        <p:nvSpPr>
          <p:cNvPr id="45" name="Text 36"/>
          <p:cNvSpPr/>
          <p:nvPr/>
        </p:nvSpPr>
        <p:spPr>
          <a:xfrm>
            <a:off x="1527048" y="4837176"/>
            <a:ext cx="411480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Open clinical decision</a:t>
            </a:r>
            <a:endParaRPr lang="en-US" sz="1400" dirty="0"/>
          </a:p>
        </p:txBody>
      </p:sp>
      <p:sp>
        <p:nvSpPr>
          <p:cNvPr id="46" name="Text 37"/>
          <p:cNvSpPr/>
          <p:nvPr/>
        </p:nvSpPr>
        <p:spPr>
          <a:xfrm>
            <a:off x="1051560" y="5349240"/>
            <a:ext cx="4572000" cy="301752"/>
          </a:xfrm>
          <a:prstGeom prst="rect">
            <a:avLst/>
          </a:prstGeom>
          <a:noFill/>
          <a:ln/>
        </p:spPr>
        <p:txBody>
          <a:bodyPr wrap="square" lIns="254" tIns="254" rIns="254" bIns="254" rtlCol="0" anchor="t">
            <a:normAutofit/>
          </a:bodyPr>
          <a:lstStyle/>
          <a:p>
            <a:pPr indent="0" marL="0">
              <a:buNone/>
            </a:pPr>
            <a:r>
              <a:rPr lang="en-US" sz="1010" dirty="0">
                <a:solidFill>
                  <a:srgbClr val="5F7180"/>
                </a:solidFill>
                <a:latin typeface="Noto Sans" pitchFamily="34" charset="0"/>
                <a:ea typeface="Noto Sans" pitchFamily="34" charset="-122"/>
                <a:cs typeface="Noto Sans" pitchFamily="34" charset="-120"/>
              </a:rPr>
              <a:t>The exact respiratory label / target condition and the clinical question must be fixed before final model training.</a:t>
            </a:r>
            <a:endParaRPr lang="en-US" sz="1010" dirty="0"/>
          </a:p>
        </p:txBody>
      </p:sp>
      <p:sp>
        <p:nvSpPr>
          <p:cNvPr id="47" name="Shape 38"/>
          <p:cNvSpPr/>
          <p:nvPr/>
        </p:nvSpPr>
        <p:spPr>
          <a:xfrm>
            <a:off x="6126480" y="4663440"/>
            <a:ext cx="4937760" cy="1143000"/>
          </a:xfrm>
          <a:prstGeom prst="roundRect">
            <a:avLst>
              <a:gd name="adj" fmla="val 64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8" name="Shape 39"/>
          <p:cNvSpPr/>
          <p:nvPr/>
        </p:nvSpPr>
        <p:spPr>
          <a:xfrm>
            <a:off x="6291072" y="4828032"/>
            <a:ext cx="402336" cy="402336"/>
          </a:xfrm>
          <a:prstGeom prst="ellipse">
            <a:avLst/>
          </a:prstGeom>
          <a:solidFill>
            <a:srgbClr val="FDECEF"/>
          </a:solidFill>
          <a:ln w="12700">
            <a:solidFill>
              <a:srgbClr val="FDECEF"/>
            </a:solidFill>
            <a:prstDash val="solid"/>
          </a:ln>
        </p:spPr>
      </p:sp>
      <p:pic>
        <p:nvPicPr>
          <p:cNvPr id="4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91656" y="4928616"/>
            <a:ext cx="201168" cy="201168"/>
          </a:xfrm>
          <a:prstGeom prst="rect">
            <a:avLst/>
          </a:prstGeom>
        </p:spPr>
      </p:pic>
      <p:sp>
        <p:nvSpPr>
          <p:cNvPr id="50" name="Text 40"/>
          <p:cNvSpPr/>
          <p:nvPr/>
        </p:nvSpPr>
        <p:spPr>
          <a:xfrm>
            <a:off x="6784848" y="4837176"/>
            <a:ext cx="411480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Safety gate</a:t>
            </a:r>
            <a:endParaRPr lang="en-US" sz="1400" dirty="0"/>
          </a:p>
        </p:txBody>
      </p:sp>
      <p:sp>
        <p:nvSpPr>
          <p:cNvPr id="51" name="Text 41"/>
          <p:cNvSpPr/>
          <p:nvPr/>
        </p:nvSpPr>
        <p:spPr>
          <a:xfrm>
            <a:off x="6309360" y="5349240"/>
            <a:ext cx="4572000" cy="301752"/>
          </a:xfrm>
          <a:prstGeom prst="rect">
            <a:avLst/>
          </a:prstGeom>
          <a:noFill/>
          <a:ln/>
        </p:spPr>
        <p:txBody>
          <a:bodyPr wrap="square" lIns="254" tIns="254" rIns="254" bIns="254" rtlCol="0" anchor="t">
            <a:normAutofit/>
          </a:bodyPr>
          <a:lstStyle/>
          <a:p>
            <a:pPr indent="0" marL="0">
              <a:buNone/>
            </a:pPr>
            <a:r>
              <a:rPr lang="en-US" sz="1010" dirty="0">
                <a:solidFill>
                  <a:srgbClr val="5F7180"/>
                </a:solidFill>
                <a:latin typeface="Noto Sans" pitchFamily="34" charset="0"/>
                <a:ea typeface="Noto Sans" pitchFamily="34" charset="-122"/>
                <a:cs typeface="Noto Sans" pitchFamily="34" charset="-120"/>
              </a:rPr>
              <a:t>No final patient result in the MVP before clinician review. “Accuracy” alone is not enough; error types must be analyzed.</a:t>
            </a:r>
            <a:endParaRPr lang="en-US" sz="101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Patient Journey</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A mobile-first flow designed for a non-technical user.</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JOURNEY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4173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667512" y="1581912"/>
            <a:ext cx="402336" cy="402336"/>
          </a:xfrm>
          <a:prstGeom prst="ellipse">
            <a:avLst/>
          </a:prstGeom>
          <a:solidFill>
            <a:srgbClr val="EAF2FF"/>
          </a:solidFill>
          <a:ln w="12700">
            <a:solidFill>
              <a:srgbClr val="EAF2F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82496"/>
            <a:ext cx="201168" cy="201168"/>
          </a:xfrm>
          <a:prstGeom prst="rect">
            <a:avLst/>
          </a:prstGeom>
        </p:spPr>
      </p:pic>
      <p:sp>
        <p:nvSpPr>
          <p:cNvPr id="10" name="Text 7"/>
          <p:cNvSpPr/>
          <p:nvPr/>
        </p:nvSpPr>
        <p:spPr>
          <a:xfrm>
            <a:off x="1161288" y="15910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1. Open app</a:t>
            </a:r>
            <a:endParaRPr lang="en-US" sz="1250" dirty="0"/>
          </a:p>
        </p:txBody>
      </p:sp>
      <p:sp>
        <p:nvSpPr>
          <p:cNvPr id="11" name="Text 8"/>
          <p:cNvSpPr/>
          <p:nvPr/>
        </p:nvSpPr>
        <p:spPr>
          <a:xfrm>
            <a:off x="685800" y="21031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Language from device</a:t>
            </a:r>
            <a:endParaRPr lang="en-US" sz="1000" dirty="0"/>
          </a:p>
        </p:txBody>
      </p:sp>
      <p:sp>
        <p:nvSpPr>
          <p:cNvPr id="12" name="Shape 9"/>
          <p:cNvSpPr/>
          <p:nvPr/>
        </p:nvSpPr>
        <p:spPr>
          <a:xfrm>
            <a:off x="3026664" y="2148840"/>
            <a:ext cx="274320" cy="0"/>
          </a:xfrm>
          <a:prstGeom prst="line">
            <a:avLst/>
          </a:prstGeom>
          <a:noFill/>
          <a:ln w="15240">
            <a:solidFill>
              <a:srgbClr val="DDE7EA"/>
            </a:solidFill>
            <a:prstDash val="solid"/>
            <a:headEnd type="none"/>
            <a:tailEnd type="triangle"/>
          </a:ln>
        </p:spPr>
      </p:sp>
      <p:sp>
        <p:nvSpPr>
          <p:cNvPr id="13" name="Shape 10"/>
          <p:cNvSpPr/>
          <p:nvPr/>
        </p:nvSpPr>
        <p:spPr>
          <a:xfrm>
            <a:off x="3337560" y="14173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4" name="Shape 11"/>
          <p:cNvSpPr/>
          <p:nvPr/>
        </p:nvSpPr>
        <p:spPr>
          <a:xfrm>
            <a:off x="3502152" y="1581912"/>
            <a:ext cx="402336" cy="402336"/>
          </a:xfrm>
          <a:prstGeom prst="ellipse">
            <a:avLst/>
          </a:prstGeom>
          <a:solidFill>
            <a:srgbClr val="EAF2FF"/>
          </a:solidFill>
          <a:ln w="12700">
            <a:solidFill>
              <a:srgbClr val="EAF2FF"/>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02736" y="1682496"/>
            <a:ext cx="201168" cy="201168"/>
          </a:xfrm>
          <a:prstGeom prst="rect">
            <a:avLst/>
          </a:prstGeom>
        </p:spPr>
      </p:pic>
      <p:sp>
        <p:nvSpPr>
          <p:cNvPr id="16" name="Text 12"/>
          <p:cNvSpPr/>
          <p:nvPr/>
        </p:nvSpPr>
        <p:spPr>
          <a:xfrm>
            <a:off x="3995928" y="15910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2. Sign up / Login</a:t>
            </a:r>
            <a:endParaRPr lang="en-US" sz="1250" dirty="0"/>
          </a:p>
        </p:txBody>
      </p:sp>
      <p:sp>
        <p:nvSpPr>
          <p:cNvPr id="17" name="Text 13"/>
          <p:cNvSpPr/>
          <p:nvPr/>
        </p:nvSpPr>
        <p:spPr>
          <a:xfrm>
            <a:off x="3520440" y="21031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Consent + medical profile</a:t>
            </a:r>
            <a:endParaRPr lang="en-US" sz="1000" dirty="0"/>
          </a:p>
        </p:txBody>
      </p:sp>
      <p:sp>
        <p:nvSpPr>
          <p:cNvPr id="18" name="Shape 14"/>
          <p:cNvSpPr/>
          <p:nvPr/>
        </p:nvSpPr>
        <p:spPr>
          <a:xfrm>
            <a:off x="5861304" y="2148840"/>
            <a:ext cx="274320" cy="0"/>
          </a:xfrm>
          <a:prstGeom prst="line">
            <a:avLst/>
          </a:prstGeom>
          <a:noFill/>
          <a:ln w="15240">
            <a:solidFill>
              <a:srgbClr val="DDE7EA"/>
            </a:solidFill>
            <a:prstDash val="solid"/>
            <a:headEnd type="none"/>
            <a:tailEnd type="triangle"/>
          </a:ln>
        </p:spPr>
      </p:sp>
      <p:sp>
        <p:nvSpPr>
          <p:cNvPr id="19" name="Shape 15"/>
          <p:cNvSpPr/>
          <p:nvPr/>
        </p:nvSpPr>
        <p:spPr>
          <a:xfrm>
            <a:off x="6172200" y="14173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0" name="Shape 16"/>
          <p:cNvSpPr/>
          <p:nvPr/>
        </p:nvSpPr>
        <p:spPr>
          <a:xfrm>
            <a:off x="6336792" y="1581912"/>
            <a:ext cx="402336" cy="402336"/>
          </a:xfrm>
          <a:prstGeom prst="ellipse">
            <a:avLst/>
          </a:prstGeom>
          <a:solidFill>
            <a:srgbClr val="EAF2FF"/>
          </a:solidFill>
          <a:ln w="12700">
            <a:solidFill>
              <a:srgbClr val="EAF2FF"/>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37376" y="1682496"/>
            <a:ext cx="201168" cy="201168"/>
          </a:xfrm>
          <a:prstGeom prst="rect">
            <a:avLst/>
          </a:prstGeom>
        </p:spPr>
      </p:pic>
      <p:sp>
        <p:nvSpPr>
          <p:cNvPr id="22" name="Text 17"/>
          <p:cNvSpPr/>
          <p:nvPr/>
        </p:nvSpPr>
        <p:spPr>
          <a:xfrm>
            <a:off x="6830568" y="15910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3. Dashboard</a:t>
            </a:r>
            <a:endParaRPr lang="en-US" sz="1250" dirty="0"/>
          </a:p>
        </p:txBody>
      </p:sp>
      <p:sp>
        <p:nvSpPr>
          <p:cNvPr id="23" name="Text 18"/>
          <p:cNvSpPr/>
          <p:nvPr/>
        </p:nvSpPr>
        <p:spPr>
          <a:xfrm>
            <a:off x="6355080" y="21031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Choose module</a:t>
            </a:r>
            <a:endParaRPr lang="en-US" sz="1000" dirty="0"/>
          </a:p>
        </p:txBody>
      </p:sp>
      <p:sp>
        <p:nvSpPr>
          <p:cNvPr id="24" name="Shape 19"/>
          <p:cNvSpPr/>
          <p:nvPr/>
        </p:nvSpPr>
        <p:spPr>
          <a:xfrm>
            <a:off x="8695944" y="2148840"/>
            <a:ext cx="274320" cy="0"/>
          </a:xfrm>
          <a:prstGeom prst="line">
            <a:avLst/>
          </a:prstGeom>
          <a:noFill/>
          <a:ln w="15240">
            <a:solidFill>
              <a:srgbClr val="DDE7EA"/>
            </a:solidFill>
            <a:prstDash val="solid"/>
            <a:headEnd type="none"/>
            <a:tailEnd type="triangle"/>
          </a:ln>
        </p:spPr>
      </p:sp>
      <p:sp>
        <p:nvSpPr>
          <p:cNvPr id="25" name="Shape 20"/>
          <p:cNvSpPr/>
          <p:nvPr/>
        </p:nvSpPr>
        <p:spPr>
          <a:xfrm>
            <a:off x="9006840" y="14173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6" name="Shape 21"/>
          <p:cNvSpPr/>
          <p:nvPr/>
        </p:nvSpPr>
        <p:spPr>
          <a:xfrm>
            <a:off x="9171432" y="1581912"/>
            <a:ext cx="402336" cy="402336"/>
          </a:xfrm>
          <a:prstGeom prst="ellipse">
            <a:avLst/>
          </a:prstGeom>
          <a:solidFill>
            <a:srgbClr val="EAF2FF"/>
          </a:solidFill>
          <a:ln w="12700">
            <a:solidFill>
              <a:srgbClr val="EAF2FF"/>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72016" y="1682496"/>
            <a:ext cx="201168" cy="201168"/>
          </a:xfrm>
          <a:prstGeom prst="rect">
            <a:avLst/>
          </a:prstGeom>
        </p:spPr>
      </p:pic>
      <p:sp>
        <p:nvSpPr>
          <p:cNvPr id="28" name="Text 22"/>
          <p:cNvSpPr/>
          <p:nvPr/>
        </p:nvSpPr>
        <p:spPr>
          <a:xfrm>
            <a:off x="9665208" y="15910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4. Disease form</a:t>
            </a:r>
            <a:endParaRPr lang="en-US" sz="1250" dirty="0"/>
          </a:p>
        </p:txBody>
      </p:sp>
      <p:sp>
        <p:nvSpPr>
          <p:cNvPr id="29" name="Text 23"/>
          <p:cNvSpPr/>
          <p:nvPr/>
        </p:nvSpPr>
        <p:spPr>
          <a:xfrm>
            <a:off x="9189720" y="21031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Symptoms + measurements</a:t>
            </a:r>
            <a:endParaRPr lang="en-US" sz="1000" dirty="0"/>
          </a:p>
        </p:txBody>
      </p:sp>
      <p:sp>
        <p:nvSpPr>
          <p:cNvPr id="30" name="Shape 24"/>
          <p:cNvSpPr/>
          <p:nvPr/>
        </p:nvSpPr>
        <p:spPr>
          <a:xfrm>
            <a:off x="10972800" y="2834640"/>
            <a:ext cx="0" cy="502920"/>
          </a:xfrm>
          <a:prstGeom prst="line">
            <a:avLst/>
          </a:prstGeom>
          <a:noFill/>
          <a:ln w="15240">
            <a:solidFill>
              <a:srgbClr val="DDE7EA"/>
            </a:solidFill>
            <a:prstDash val="solid"/>
            <a:headEnd type="none"/>
            <a:tailEnd type="triangle"/>
          </a:ln>
        </p:spPr>
      </p:sp>
      <p:sp>
        <p:nvSpPr>
          <p:cNvPr id="31" name="Shape 25"/>
          <p:cNvSpPr/>
          <p:nvPr/>
        </p:nvSpPr>
        <p:spPr>
          <a:xfrm>
            <a:off x="502920" y="34747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2" name="Shape 26"/>
          <p:cNvSpPr/>
          <p:nvPr/>
        </p:nvSpPr>
        <p:spPr>
          <a:xfrm>
            <a:off x="667512" y="3639312"/>
            <a:ext cx="402336" cy="402336"/>
          </a:xfrm>
          <a:prstGeom prst="ellipse">
            <a:avLst/>
          </a:prstGeom>
          <a:solidFill>
            <a:srgbClr val="F0EFFF"/>
          </a:solidFill>
          <a:ln w="12700">
            <a:solidFill>
              <a:srgbClr val="F0EFFF"/>
            </a:solidFill>
            <a:prstDash val="solid"/>
          </a:ln>
        </p:spPr>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096" y="3739896"/>
            <a:ext cx="201168" cy="201168"/>
          </a:xfrm>
          <a:prstGeom prst="rect">
            <a:avLst/>
          </a:prstGeom>
        </p:spPr>
      </p:pic>
      <p:sp>
        <p:nvSpPr>
          <p:cNvPr id="34" name="Text 27"/>
          <p:cNvSpPr/>
          <p:nvPr/>
        </p:nvSpPr>
        <p:spPr>
          <a:xfrm>
            <a:off x="1161288" y="36484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5. AI result</a:t>
            </a:r>
            <a:endParaRPr lang="en-US" sz="1250" dirty="0"/>
          </a:p>
        </p:txBody>
      </p:sp>
      <p:sp>
        <p:nvSpPr>
          <p:cNvPr id="35" name="Text 28"/>
          <p:cNvSpPr/>
          <p:nvPr/>
        </p:nvSpPr>
        <p:spPr>
          <a:xfrm>
            <a:off x="685800" y="41605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Saved as Pending</a:t>
            </a:r>
            <a:endParaRPr lang="en-US" sz="1000" dirty="0"/>
          </a:p>
        </p:txBody>
      </p:sp>
      <p:sp>
        <p:nvSpPr>
          <p:cNvPr id="36" name="Shape 29"/>
          <p:cNvSpPr/>
          <p:nvPr/>
        </p:nvSpPr>
        <p:spPr>
          <a:xfrm>
            <a:off x="3026664" y="4206240"/>
            <a:ext cx="274320" cy="0"/>
          </a:xfrm>
          <a:prstGeom prst="line">
            <a:avLst/>
          </a:prstGeom>
          <a:noFill/>
          <a:ln w="15240">
            <a:solidFill>
              <a:srgbClr val="DDE7EA"/>
            </a:solidFill>
            <a:prstDash val="solid"/>
            <a:headEnd type="none"/>
            <a:tailEnd type="triangle"/>
          </a:ln>
        </p:spPr>
      </p:sp>
      <p:sp>
        <p:nvSpPr>
          <p:cNvPr id="37" name="Shape 30"/>
          <p:cNvSpPr/>
          <p:nvPr/>
        </p:nvSpPr>
        <p:spPr>
          <a:xfrm>
            <a:off x="3337560" y="34747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8" name="Shape 31"/>
          <p:cNvSpPr/>
          <p:nvPr/>
        </p:nvSpPr>
        <p:spPr>
          <a:xfrm>
            <a:off x="3502152" y="3639312"/>
            <a:ext cx="402336" cy="402336"/>
          </a:xfrm>
          <a:prstGeom prst="ellipse">
            <a:avLst/>
          </a:prstGeom>
          <a:solidFill>
            <a:srgbClr val="E8F8F4"/>
          </a:solidFill>
          <a:ln w="12700">
            <a:solidFill>
              <a:srgbClr val="E8F8F4"/>
            </a:solidFill>
            <a:prstDash val="solid"/>
          </a:ln>
        </p:spPr>
      </p:sp>
      <p:pic>
        <p:nvPicPr>
          <p:cNvPr id="3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02736" y="3739896"/>
            <a:ext cx="201168" cy="201168"/>
          </a:xfrm>
          <a:prstGeom prst="rect">
            <a:avLst/>
          </a:prstGeom>
        </p:spPr>
      </p:pic>
      <p:sp>
        <p:nvSpPr>
          <p:cNvPr id="40" name="Text 32"/>
          <p:cNvSpPr/>
          <p:nvPr/>
        </p:nvSpPr>
        <p:spPr>
          <a:xfrm>
            <a:off x="3995928" y="36484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6. Doctor review</a:t>
            </a:r>
            <a:endParaRPr lang="en-US" sz="1250" dirty="0"/>
          </a:p>
        </p:txBody>
      </p:sp>
      <p:sp>
        <p:nvSpPr>
          <p:cNvPr id="41" name="Text 33"/>
          <p:cNvSpPr/>
          <p:nvPr/>
        </p:nvSpPr>
        <p:spPr>
          <a:xfrm>
            <a:off x="3520440" y="41605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Approval / follow-up</a:t>
            </a:r>
            <a:endParaRPr lang="en-US" sz="1000" dirty="0"/>
          </a:p>
        </p:txBody>
      </p:sp>
      <p:sp>
        <p:nvSpPr>
          <p:cNvPr id="42" name="Shape 34"/>
          <p:cNvSpPr/>
          <p:nvPr/>
        </p:nvSpPr>
        <p:spPr>
          <a:xfrm>
            <a:off x="5861304" y="4206240"/>
            <a:ext cx="274320" cy="0"/>
          </a:xfrm>
          <a:prstGeom prst="line">
            <a:avLst/>
          </a:prstGeom>
          <a:noFill/>
          <a:ln w="15240">
            <a:solidFill>
              <a:srgbClr val="DDE7EA"/>
            </a:solidFill>
            <a:prstDash val="solid"/>
            <a:headEnd type="none"/>
            <a:tailEnd type="triangle"/>
          </a:ln>
        </p:spPr>
      </p:sp>
      <p:sp>
        <p:nvSpPr>
          <p:cNvPr id="43" name="Shape 35"/>
          <p:cNvSpPr/>
          <p:nvPr/>
        </p:nvSpPr>
        <p:spPr>
          <a:xfrm>
            <a:off x="6172200" y="34747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4" name="Shape 36"/>
          <p:cNvSpPr/>
          <p:nvPr/>
        </p:nvSpPr>
        <p:spPr>
          <a:xfrm>
            <a:off x="6336792" y="3639312"/>
            <a:ext cx="402336" cy="402336"/>
          </a:xfrm>
          <a:prstGeom prst="ellipse">
            <a:avLst/>
          </a:prstGeom>
          <a:solidFill>
            <a:srgbClr val="EAF2FF"/>
          </a:solidFill>
          <a:ln w="12700">
            <a:solidFill>
              <a:srgbClr val="EAF2FF"/>
            </a:solidFill>
            <a:prstDash val="solid"/>
          </a:ln>
        </p:spPr>
      </p:sp>
      <p:pic>
        <p:nvPicPr>
          <p:cNvPr id="4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37376" y="3739896"/>
            <a:ext cx="201168" cy="201168"/>
          </a:xfrm>
          <a:prstGeom prst="rect">
            <a:avLst/>
          </a:prstGeom>
        </p:spPr>
      </p:pic>
      <p:sp>
        <p:nvSpPr>
          <p:cNvPr id="46" name="Text 37"/>
          <p:cNvSpPr/>
          <p:nvPr/>
        </p:nvSpPr>
        <p:spPr>
          <a:xfrm>
            <a:off x="6830568" y="36484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7. Approved output</a:t>
            </a:r>
            <a:endParaRPr lang="en-US" sz="1250" dirty="0"/>
          </a:p>
        </p:txBody>
      </p:sp>
      <p:sp>
        <p:nvSpPr>
          <p:cNvPr id="47" name="Text 38"/>
          <p:cNvSpPr/>
          <p:nvPr/>
        </p:nvSpPr>
        <p:spPr>
          <a:xfrm>
            <a:off x="6355080" y="41605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Result + recs + disclaimer</a:t>
            </a:r>
            <a:endParaRPr lang="en-US" sz="1000" dirty="0"/>
          </a:p>
        </p:txBody>
      </p:sp>
      <p:sp>
        <p:nvSpPr>
          <p:cNvPr id="48" name="Shape 39"/>
          <p:cNvSpPr/>
          <p:nvPr/>
        </p:nvSpPr>
        <p:spPr>
          <a:xfrm>
            <a:off x="8695944" y="4206240"/>
            <a:ext cx="274320" cy="0"/>
          </a:xfrm>
          <a:prstGeom prst="line">
            <a:avLst/>
          </a:prstGeom>
          <a:noFill/>
          <a:ln w="15240">
            <a:solidFill>
              <a:srgbClr val="DDE7EA"/>
            </a:solidFill>
            <a:prstDash val="solid"/>
            <a:headEnd type="none"/>
            <a:tailEnd type="triangle"/>
          </a:ln>
        </p:spPr>
      </p:sp>
      <p:sp>
        <p:nvSpPr>
          <p:cNvPr id="49" name="Shape 40"/>
          <p:cNvSpPr/>
          <p:nvPr/>
        </p:nvSpPr>
        <p:spPr>
          <a:xfrm>
            <a:off x="9006840" y="3474720"/>
            <a:ext cx="2514600" cy="1444752"/>
          </a:xfrm>
          <a:prstGeom prst="roundRect">
            <a:avLst>
              <a:gd name="adj" fmla="val 506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50" name="Shape 41"/>
          <p:cNvSpPr/>
          <p:nvPr/>
        </p:nvSpPr>
        <p:spPr>
          <a:xfrm>
            <a:off x="9171432" y="3639312"/>
            <a:ext cx="402336" cy="402336"/>
          </a:xfrm>
          <a:prstGeom prst="ellipse">
            <a:avLst/>
          </a:prstGeom>
          <a:solidFill>
            <a:srgbClr val="EAF2FF"/>
          </a:solidFill>
          <a:ln w="12700">
            <a:solidFill>
              <a:srgbClr val="EAF2FF"/>
            </a:solidFill>
            <a:prstDash val="solid"/>
          </a:ln>
        </p:spPr>
      </p:sp>
      <p:pic>
        <p:nvPicPr>
          <p:cNvPr id="5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272016" y="3739896"/>
            <a:ext cx="201168" cy="201168"/>
          </a:xfrm>
          <a:prstGeom prst="rect">
            <a:avLst/>
          </a:prstGeom>
        </p:spPr>
      </p:pic>
      <p:sp>
        <p:nvSpPr>
          <p:cNvPr id="52" name="Text 42"/>
          <p:cNvSpPr/>
          <p:nvPr/>
        </p:nvSpPr>
        <p:spPr>
          <a:xfrm>
            <a:off x="9665208" y="3648456"/>
            <a:ext cx="1691640" cy="310896"/>
          </a:xfrm>
          <a:prstGeom prst="rect">
            <a:avLst/>
          </a:prstGeom>
          <a:noFill/>
          <a:ln/>
        </p:spPr>
        <p:txBody>
          <a:bodyPr wrap="square" lIns="0" tIns="0" rIns="0" bIns="0" rtlCol="0" anchor="ctr">
            <a:normAutofit/>
          </a:bodyPr>
          <a:lstStyle/>
          <a:p>
            <a:pPr indent="0" marL="0">
              <a:buNone/>
            </a:pPr>
            <a:r>
              <a:rPr lang="en-US" sz="1250" b="1" dirty="0">
                <a:solidFill>
                  <a:srgbClr val="142A37"/>
                </a:solidFill>
                <a:latin typeface="Noto Sans" pitchFamily="34" charset="0"/>
                <a:ea typeface="Noto Sans" pitchFamily="34" charset="-122"/>
                <a:cs typeface="Noto Sans" pitchFamily="34" charset="-120"/>
              </a:rPr>
              <a:t>8. History</a:t>
            </a:r>
            <a:endParaRPr lang="en-US" sz="1250" dirty="0"/>
          </a:p>
        </p:txBody>
      </p:sp>
      <p:sp>
        <p:nvSpPr>
          <p:cNvPr id="53" name="Text 43"/>
          <p:cNvSpPr/>
          <p:nvPr/>
        </p:nvSpPr>
        <p:spPr>
          <a:xfrm>
            <a:off x="9189720" y="4160520"/>
            <a:ext cx="2148840" cy="603504"/>
          </a:xfrm>
          <a:prstGeom prst="rect">
            <a:avLst/>
          </a:prstGeom>
          <a:noFill/>
          <a:ln/>
        </p:spPr>
        <p:txBody>
          <a:bodyPr wrap="square" lIns="254" tIns="254" rIns="254" bIns="254" rtlCol="0" anchor="t">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Report + next appointment</a:t>
            </a:r>
            <a:endParaRPr lang="en-US" sz="1000" dirty="0"/>
          </a:p>
        </p:txBody>
      </p:sp>
      <p:sp>
        <p:nvSpPr>
          <p:cNvPr id="54" name="Text 44"/>
          <p:cNvSpPr/>
          <p:nvPr/>
        </p:nvSpPr>
        <p:spPr>
          <a:xfrm>
            <a:off x="731520" y="5806440"/>
            <a:ext cx="10789920" cy="292608"/>
          </a:xfrm>
          <a:prstGeom prst="rect">
            <a:avLst/>
          </a:prstGeom>
          <a:noFill/>
          <a:ln/>
        </p:spPr>
        <p:txBody>
          <a:bodyPr wrap="square" lIns="0" tIns="0" rIns="0" bIns="0" rtlCol="0" anchor="ctr">
            <a:normAutofit/>
          </a:bodyPr>
          <a:lstStyle/>
          <a:p>
            <a:pPr algn="ctr" indent="0" marL="0">
              <a:buNone/>
            </a:pPr>
            <a:r>
              <a:rPr lang="en-US" sz="1050" b="1" dirty="0">
                <a:solidFill>
                  <a:srgbClr val="0B3D4B"/>
                </a:solidFill>
                <a:latin typeface="Noto Sans" pitchFamily="34" charset="0"/>
                <a:ea typeface="Noto Sans" pitchFamily="34" charset="-122"/>
                <a:cs typeface="Noto Sans" pitchFamily="34" charset="-120"/>
              </a:rPr>
              <a:t>Design direction: simple language • large controls • clear status states • Arabic RTL + English LTR • Light / Dark mode.</a:t>
            </a:r>
            <a:endParaRPr lang="en-US" sz="105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Doctor Journey</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Verified clinician accounts review only their assigned patients.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JOURNEY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40080" y="1874520"/>
            <a:ext cx="1874520" cy="2423160"/>
          </a:xfrm>
          <a:prstGeom prst="roundRect">
            <a:avLst>
              <a:gd name="adj" fmla="val 3902"/>
            </a:avLst>
          </a:prstGeom>
          <a:solidFill>
            <a:srgbClr val="FFFFFF"/>
          </a:solidFill>
          <a:ln w="15240">
            <a:solidFill>
              <a:srgbClr val="DDE7EA"/>
            </a:solidFill>
            <a:prstDash val="solid"/>
          </a:ln>
        </p:spPr>
      </p:sp>
      <p:sp>
        <p:nvSpPr>
          <p:cNvPr id="8" name="Shape 6"/>
          <p:cNvSpPr/>
          <p:nvPr/>
        </p:nvSpPr>
        <p:spPr>
          <a:xfrm>
            <a:off x="1280160" y="2103120"/>
            <a:ext cx="594360" cy="594360"/>
          </a:xfrm>
          <a:prstGeom prst="ellipse">
            <a:avLst/>
          </a:prstGeom>
          <a:solidFill>
            <a:srgbClr val="EAF2FF"/>
          </a:solidFill>
          <a:ln w="12700">
            <a:solidFill>
              <a:srgbClr val="EAF2F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53896" y="2276856"/>
            <a:ext cx="246888" cy="246888"/>
          </a:xfrm>
          <a:prstGeom prst="rect">
            <a:avLst/>
          </a:prstGeom>
        </p:spPr>
      </p:pic>
      <p:sp>
        <p:nvSpPr>
          <p:cNvPr id="10" name="Text 7"/>
          <p:cNvSpPr/>
          <p:nvPr/>
        </p:nvSpPr>
        <p:spPr>
          <a:xfrm>
            <a:off x="804672" y="2926080"/>
            <a:ext cx="1545336" cy="310896"/>
          </a:xfrm>
          <a:prstGeom prst="rect">
            <a:avLst/>
          </a:prstGeom>
          <a:noFill/>
          <a:ln/>
        </p:spPr>
        <p:txBody>
          <a:bodyPr wrap="square" lIns="0" tIns="0" rIns="0" bIns="0" rtlCol="0" anchor="ctr">
            <a:normAutofit/>
          </a:bodyPr>
          <a:lstStyle/>
          <a:p>
            <a:pPr algn="ctr" indent="0" marL="0">
              <a:buNone/>
            </a:pPr>
            <a:r>
              <a:rPr lang="en-US" sz="1220" b="1" dirty="0">
                <a:solidFill>
                  <a:srgbClr val="142A37"/>
                </a:solidFill>
                <a:latin typeface="Noto Sans" pitchFamily="34" charset="0"/>
                <a:ea typeface="Noto Sans" pitchFamily="34" charset="-122"/>
                <a:cs typeface="Noto Sans" pitchFamily="34" charset="-120"/>
              </a:rPr>
              <a:t>Verified login</a:t>
            </a:r>
            <a:endParaRPr lang="en-US" sz="1220" dirty="0"/>
          </a:p>
        </p:txBody>
      </p:sp>
      <p:sp>
        <p:nvSpPr>
          <p:cNvPr id="11" name="Text 8"/>
          <p:cNvSpPr/>
          <p:nvPr/>
        </p:nvSpPr>
        <p:spPr>
          <a:xfrm>
            <a:off x="804672" y="3364992"/>
            <a:ext cx="1545336" cy="640080"/>
          </a:xfrm>
          <a:prstGeom prst="rect">
            <a:avLst/>
          </a:prstGeom>
          <a:noFill/>
          <a:ln/>
        </p:spPr>
        <p:txBody>
          <a:bodyPr wrap="square" lIns="0" tIns="0" rIns="0" bIns="0" rtlCol="0" anchor="ctr">
            <a:normAutofit/>
          </a:bodyPr>
          <a:lstStyle/>
          <a:p>
            <a:pPr algn="ctr" indent="0" marL="0">
              <a:buNone/>
            </a:pPr>
            <a:r>
              <a:rPr lang="en-US" sz="920" dirty="0">
                <a:solidFill>
                  <a:srgbClr val="5F7180"/>
                </a:solidFill>
                <a:latin typeface="Noto Sans" pitchFamily="34" charset="0"/>
                <a:ea typeface="Noto Sans" pitchFamily="34" charset="-122"/>
                <a:cs typeface="Noto Sans" pitchFamily="34" charset="-120"/>
              </a:rPr>
              <a:t>Identity + professional verification</a:t>
            </a:r>
            <a:endParaRPr lang="en-US" sz="920" dirty="0"/>
          </a:p>
        </p:txBody>
      </p:sp>
      <p:sp>
        <p:nvSpPr>
          <p:cNvPr id="12" name="Shape 9"/>
          <p:cNvSpPr/>
          <p:nvPr/>
        </p:nvSpPr>
        <p:spPr>
          <a:xfrm>
            <a:off x="2523744" y="3063240"/>
            <a:ext cx="310896" cy="0"/>
          </a:xfrm>
          <a:prstGeom prst="line">
            <a:avLst/>
          </a:prstGeom>
          <a:noFill/>
          <a:ln w="17780">
            <a:solidFill>
              <a:srgbClr val="12B8A6"/>
            </a:solidFill>
            <a:prstDash val="solid"/>
            <a:headEnd type="none"/>
            <a:tailEnd type="triangle"/>
          </a:ln>
        </p:spPr>
      </p:sp>
      <p:sp>
        <p:nvSpPr>
          <p:cNvPr id="13" name="Shape 10"/>
          <p:cNvSpPr/>
          <p:nvPr/>
        </p:nvSpPr>
        <p:spPr>
          <a:xfrm>
            <a:off x="2880360" y="1874520"/>
            <a:ext cx="1874520" cy="2423160"/>
          </a:xfrm>
          <a:prstGeom prst="roundRect">
            <a:avLst>
              <a:gd name="adj" fmla="val 3902"/>
            </a:avLst>
          </a:prstGeom>
          <a:solidFill>
            <a:srgbClr val="FFFFFF"/>
          </a:solidFill>
          <a:ln w="15240">
            <a:solidFill>
              <a:srgbClr val="DDE7EA"/>
            </a:solidFill>
            <a:prstDash val="solid"/>
          </a:ln>
        </p:spPr>
      </p:sp>
      <p:sp>
        <p:nvSpPr>
          <p:cNvPr id="14" name="Shape 11"/>
          <p:cNvSpPr/>
          <p:nvPr/>
        </p:nvSpPr>
        <p:spPr>
          <a:xfrm>
            <a:off x="3520440" y="2103120"/>
            <a:ext cx="594360" cy="594360"/>
          </a:xfrm>
          <a:prstGeom prst="ellipse">
            <a:avLst/>
          </a:prstGeom>
          <a:solidFill>
            <a:srgbClr val="EAF2FF"/>
          </a:solidFill>
          <a:ln w="12700">
            <a:solidFill>
              <a:srgbClr val="EAF2FF"/>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4176" y="2276856"/>
            <a:ext cx="246888" cy="246888"/>
          </a:xfrm>
          <a:prstGeom prst="rect">
            <a:avLst/>
          </a:prstGeom>
        </p:spPr>
      </p:pic>
      <p:sp>
        <p:nvSpPr>
          <p:cNvPr id="16" name="Text 12"/>
          <p:cNvSpPr/>
          <p:nvPr/>
        </p:nvSpPr>
        <p:spPr>
          <a:xfrm>
            <a:off x="3044952" y="2926080"/>
            <a:ext cx="1545336" cy="310896"/>
          </a:xfrm>
          <a:prstGeom prst="rect">
            <a:avLst/>
          </a:prstGeom>
          <a:noFill/>
          <a:ln/>
        </p:spPr>
        <p:txBody>
          <a:bodyPr wrap="square" lIns="0" tIns="0" rIns="0" bIns="0" rtlCol="0" anchor="ctr">
            <a:normAutofit/>
          </a:bodyPr>
          <a:lstStyle/>
          <a:p>
            <a:pPr algn="ctr" indent="0" marL="0">
              <a:buNone/>
            </a:pPr>
            <a:r>
              <a:rPr lang="en-US" sz="1220" b="1" dirty="0">
                <a:solidFill>
                  <a:srgbClr val="142A37"/>
                </a:solidFill>
                <a:latin typeface="Noto Sans" pitchFamily="34" charset="0"/>
                <a:ea typeface="Noto Sans" pitchFamily="34" charset="-122"/>
                <a:cs typeface="Noto Sans" pitchFamily="34" charset="-120"/>
              </a:rPr>
              <a:t>Patient queue</a:t>
            </a:r>
            <a:endParaRPr lang="en-US" sz="1220" dirty="0"/>
          </a:p>
        </p:txBody>
      </p:sp>
      <p:sp>
        <p:nvSpPr>
          <p:cNvPr id="17" name="Text 13"/>
          <p:cNvSpPr/>
          <p:nvPr/>
        </p:nvSpPr>
        <p:spPr>
          <a:xfrm>
            <a:off x="3044952" y="3364992"/>
            <a:ext cx="1545336" cy="640080"/>
          </a:xfrm>
          <a:prstGeom prst="rect">
            <a:avLst/>
          </a:prstGeom>
          <a:noFill/>
          <a:ln/>
        </p:spPr>
        <p:txBody>
          <a:bodyPr wrap="square" lIns="0" tIns="0" rIns="0" bIns="0" rtlCol="0" anchor="ctr">
            <a:normAutofit/>
          </a:bodyPr>
          <a:lstStyle/>
          <a:p>
            <a:pPr algn="ctr" indent="0" marL="0">
              <a:buNone/>
            </a:pPr>
            <a:r>
              <a:rPr lang="en-US" sz="920" dirty="0">
                <a:solidFill>
                  <a:srgbClr val="5F7180"/>
                </a:solidFill>
                <a:latin typeface="Noto Sans" pitchFamily="34" charset="0"/>
                <a:ea typeface="Noto Sans" pitchFamily="34" charset="-122"/>
                <a:cs typeface="Noto Sans" pitchFamily="34" charset="-120"/>
              </a:rPr>
              <a:t>Assigned patients only</a:t>
            </a:r>
            <a:endParaRPr lang="en-US" sz="920" dirty="0"/>
          </a:p>
        </p:txBody>
      </p:sp>
      <p:sp>
        <p:nvSpPr>
          <p:cNvPr id="18" name="Shape 14"/>
          <p:cNvSpPr/>
          <p:nvPr/>
        </p:nvSpPr>
        <p:spPr>
          <a:xfrm>
            <a:off x="4764024" y="3063240"/>
            <a:ext cx="310896" cy="0"/>
          </a:xfrm>
          <a:prstGeom prst="line">
            <a:avLst/>
          </a:prstGeom>
          <a:noFill/>
          <a:ln w="17780">
            <a:solidFill>
              <a:srgbClr val="12B8A6"/>
            </a:solidFill>
            <a:prstDash val="solid"/>
            <a:headEnd type="none"/>
            <a:tailEnd type="triangle"/>
          </a:ln>
        </p:spPr>
      </p:sp>
      <p:sp>
        <p:nvSpPr>
          <p:cNvPr id="19" name="Shape 15"/>
          <p:cNvSpPr/>
          <p:nvPr/>
        </p:nvSpPr>
        <p:spPr>
          <a:xfrm>
            <a:off x="5120640" y="1874520"/>
            <a:ext cx="1874520" cy="2423160"/>
          </a:xfrm>
          <a:prstGeom prst="roundRect">
            <a:avLst>
              <a:gd name="adj" fmla="val 3902"/>
            </a:avLst>
          </a:prstGeom>
          <a:solidFill>
            <a:srgbClr val="FFFFFF"/>
          </a:solidFill>
          <a:ln w="15240">
            <a:solidFill>
              <a:srgbClr val="DDE7EA"/>
            </a:solidFill>
            <a:prstDash val="solid"/>
          </a:ln>
        </p:spPr>
      </p:sp>
      <p:sp>
        <p:nvSpPr>
          <p:cNvPr id="20" name="Shape 16"/>
          <p:cNvSpPr/>
          <p:nvPr/>
        </p:nvSpPr>
        <p:spPr>
          <a:xfrm>
            <a:off x="5760720" y="2103120"/>
            <a:ext cx="594360" cy="594360"/>
          </a:xfrm>
          <a:prstGeom prst="ellipse">
            <a:avLst/>
          </a:prstGeom>
          <a:solidFill>
            <a:srgbClr val="EAF2FF"/>
          </a:solidFill>
          <a:ln w="12700">
            <a:solidFill>
              <a:srgbClr val="EAF2FF"/>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4456" y="2276856"/>
            <a:ext cx="246888" cy="246888"/>
          </a:xfrm>
          <a:prstGeom prst="rect">
            <a:avLst/>
          </a:prstGeom>
        </p:spPr>
      </p:pic>
      <p:sp>
        <p:nvSpPr>
          <p:cNvPr id="22" name="Text 17"/>
          <p:cNvSpPr/>
          <p:nvPr/>
        </p:nvSpPr>
        <p:spPr>
          <a:xfrm>
            <a:off x="5285232" y="2926080"/>
            <a:ext cx="1545336" cy="310896"/>
          </a:xfrm>
          <a:prstGeom prst="rect">
            <a:avLst/>
          </a:prstGeom>
          <a:noFill/>
          <a:ln/>
        </p:spPr>
        <p:txBody>
          <a:bodyPr wrap="square" lIns="0" tIns="0" rIns="0" bIns="0" rtlCol="0" anchor="ctr">
            <a:normAutofit/>
          </a:bodyPr>
          <a:lstStyle/>
          <a:p>
            <a:pPr algn="ctr" indent="0" marL="0">
              <a:buNone/>
            </a:pPr>
            <a:r>
              <a:rPr lang="en-US" sz="1220" b="1" dirty="0">
                <a:solidFill>
                  <a:srgbClr val="142A37"/>
                </a:solidFill>
                <a:latin typeface="Noto Sans" pitchFamily="34" charset="0"/>
                <a:ea typeface="Noto Sans" pitchFamily="34" charset="-122"/>
                <a:cs typeface="Noto Sans" pitchFamily="34" charset="-120"/>
              </a:rPr>
              <a:t>Open case</a:t>
            </a:r>
            <a:endParaRPr lang="en-US" sz="1220" dirty="0"/>
          </a:p>
        </p:txBody>
      </p:sp>
      <p:sp>
        <p:nvSpPr>
          <p:cNvPr id="23" name="Text 18"/>
          <p:cNvSpPr/>
          <p:nvPr/>
        </p:nvSpPr>
        <p:spPr>
          <a:xfrm>
            <a:off x="5285232" y="3364992"/>
            <a:ext cx="1545336" cy="640080"/>
          </a:xfrm>
          <a:prstGeom prst="rect">
            <a:avLst/>
          </a:prstGeom>
          <a:noFill/>
          <a:ln/>
        </p:spPr>
        <p:txBody>
          <a:bodyPr wrap="square" lIns="0" tIns="0" rIns="0" bIns="0" rtlCol="0" anchor="ctr">
            <a:normAutofit/>
          </a:bodyPr>
          <a:lstStyle/>
          <a:p>
            <a:pPr algn="ctr" indent="0" marL="0">
              <a:buNone/>
            </a:pPr>
            <a:r>
              <a:rPr lang="en-US" sz="920" dirty="0">
                <a:solidFill>
                  <a:srgbClr val="5F7180"/>
                </a:solidFill>
                <a:latin typeface="Noto Sans" pitchFamily="34" charset="0"/>
                <a:ea typeface="Noto Sans" pitchFamily="34" charset="-122"/>
                <a:cs typeface="Noto Sans" pitchFamily="34" charset="-120"/>
              </a:rPr>
              <a:t>History + inputs + AI result + confidence</a:t>
            </a:r>
            <a:endParaRPr lang="en-US" sz="920" dirty="0"/>
          </a:p>
        </p:txBody>
      </p:sp>
      <p:sp>
        <p:nvSpPr>
          <p:cNvPr id="24" name="Shape 19"/>
          <p:cNvSpPr/>
          <p:nvPr/>
        </p:nvSpPr>
        <p:spPr>
          <a:xfrm>
            <a:off x="7004304" y="3063240"/>
            <a:ext cx="310896" cy="0"/>
          </a:xfrm>
          <a:prstGeom prst="line">
            <a:avLst/>
          </a:prstGeom>
          <a:noFill/>
          <a:ln w="17780">
            <a:solidFill>
              <a:srgbClr val="12B8A6"/>
            </a:solidFill>
            <a:prstDash val="solid"/>
            <a:headEnd type="none"/>
            <a:tailEnd type="triangle"/>
          </a:ln>
        </p:spPr>
      </p:sp>
      <p:sp>
        <p:nvSpPr>
          <p:cNvPr id="25" name="Shape 20"/>
          <p:cNvSpPr/>
          <p:nvPr/>
        </p:nvSpPr>
        <p:spPr>
          <a:xfrm>
            <a:off x="7360920" y="1874520"/>
            <a:ext cx="1874520" cy="2423160"/>
          </a:xfrm>
          <a:prstGeom prst="roundRect">
            <a:avLst>
              <a:gd name="adj" fmla="val 3902"/>
            </a:avLst>
          </a:prstGeom>
          <a:solidFill>
            <a:srgbClr val="E8F8F4"/>
          </a:solidFill>
          <a:ln w="15240">
            <a:solidFill>
              <a:srgbClr val="12B8A6"/>
            </a:solidFill>
            <a:prstDash val="solid"/>
          </a:ln>
        </p:spPr>
      </p:sp>
      <p:sp>
        <p:nvSpPr>
          <p:cNvPr id="26" name="Shape 21"/>
          <p:cNvSpPr/>
          <p:nvPr/>
        </p:nvSpPr>
        <p:spPr>
          <a:xfrm>
            <a:off x="8001000" y="2103120"/>
            <a:ext cx="594360" cy="594360"/>
          </a:xfrm>
          <a:prstGeom prst="ellipse">
            <a:avLst/>
          </a:prstGeom>
          <a:solidFill>
            <a:srgbClr val="12B8A6"/>
          </a:solidFill>
          <a:ln w="12700">
            <a:solidFill>
              <a:srgbClr val="12B8A6"/>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74736" y="2276856"/>
            <a:ext cx="246888" cy="246888"/>
          </a:xfrm>
          <a:prstGeom prst="rect">
            <a:avLst/>
          </a:prstGeom>
        </p:spPr>
      </p:pic>
      <p:sp>
        <p:nvSpPr>
          <p:cNvPr id="28" name="Text 22"/>
          <p:cNvSpPr/>
          <p:nvPr/>
        </p:nvSpPr>
        <p:spPr>
          <a:xfrm>
            <a:off x="7525512" y="2926080"/>
            <a:ext cx="1545336" cy="310896"/>
          </a:xfrm>
          <a:prstGeom prst="rect">
            <a:avLst/>
          </a:prstGeom>
          <a:noFill/>
          <a:ln/>
        </p:spPr>
        <p:txBody>
          <a:bodyPr wrap="square" lIns="0" tIns="0" rIns="0" bIns="0" rtlCol="0" anchor="ctr">
            <a:normAutofit/>
          </a:bodyPr>
          <a:lstStyle/>
          <a:p>
            <a:pPr algn="ctr" indent="0" marL="0">
              <a:buNone/>
            </a:pPr>
            <a:r>
              <a:rPr lang="en-US" sz="1220" b="1" dirty="0">
                <a:solidFill>
                  <a:srgbClr val="142A37"/>
                </a:solidFill>
                <a:latin typeface="Noto Sans" pitchFamily="34" charset="0"/>
                <a:ea typeface="Noto Sans" pitchFamily="34" charset="-122"/>
                <a:cs typeface="Noto Sans" pitchFamily="34" charset="-120"/>
              </a:rPr>
              <a:t>Review</a:t>
            </a:r>
            <a:endParaRPr lang="en-US" sz="1220" dirty="0"/>
          </a:p>
        </p:txBody>
      </p:sp>
      <p:sp>
        <p:nvSpPr>
          <p:cNvPr id="29" name="Text 23"/>
          <p:cNvSpPr/>
          <p:nvPr/>
        </p:nvSpPr>
        <p:spPr>
          <a:xfrm>
            <a:off x="7525512" y="3364992"/>
            <a:ext cx="1545336" cy="640080"/>
          </a:xfrm>
          <a:prstGeom prst="rect">
            <a:avLst/>
          </a:prstGeom>
          <a:noFill/>
          <a:ln/>
        </p:spPr>
        <p:txBody>
          <a:bodyPr wrap="square" lIns="0" tIns="0" rIns="0" bIns="0" rtlCol="0" anchor="ctr">
            <a:normAutofit/>
          </a:bodyPr>
          <a:lstStyle/>
          <a:p>
            <a:pPr algn="ctr" indent="0" marL="0">
              <a:buNone/>
            </a:pPr>
            <a:r>
              <a:rPr lang="en-US" sz="920" dirty="0">
                <a:solidFill>
                  <a:srgbClr val="5F7180"/>
                </a:solidFill>
                <a:latin typeface="Noto Sans" pitchFamily="34" charset="0"/>
                <a:ea typeface="Noto Sans" pitchFamily="34" charset="-122"/>
                <a:cs typeface="Noto Sans" pitchFamily="34" charset="-120"/>
              </a:rPr>
              <a:t>Approve / Reject / Add note / Recommend next action</a:t>
            </a:r>
            <a:endParaRPr lang="en-US" sz="920" dirty="0"/>
          </a:p>
        </p:txBody>
      </p:sp>
      <p:sp>
        <p:nvSpPr>
          <p:cNvPr id="30" name="Shape 24"/>
          <p:cNvSpPr/>
          <p:nvPr/>
        </p:nvSpPr>
        <p:spPr>
          <a:xfrm>
            <a:off x="9244584" y="3063240"/>
            <a:ext cx="310896" cy="0"/>
          </a:xfrm>
          <a:prstGeom prst="line">
            <a:avLst/>
          </a:prstGeom>
          <a:noFill/>
          <a:ln w="17780">
            <a:solidFill>
              <a:srgbClr val="12B8A6"/>
            </a:solidFill>
            <a:prstDash val="solid"/>
            <a:headEnd type="none"/>
            <a:tailEnd type="triangle"/>
          </a:ln>
        </p:spPr>
      </p:sp>
      <p:sp>
        <p:nvSpPr>
          <p:cNvPr id="31" name="Shape 25"/>
          <p:cNvSpPr/>
          <p:nvPr/>
        </p:nvSpPr>
        <p:spPr>
          <a:xfrm>
            <a:off x="9601200" y="1874520"/>
            <a:ext cx="1874520" cy="2423160"/>
          </a:xfrm>
          <a:prstGeom prst="roundRect">
            <a:avLst>
              <a:gd name="adj" fmla="val 3902"/>
            </a:avLst>
          </a:prstGeom>
          <a:solidFill>
            <a:srgbClr val="FFFFFF"/>
          </a:solidFill>
          <a:ln w="15240">
            <a:solidFill>
              <a:srgbClr val="DDE7EA"/>
            </a:solidFill>
            <a:prstDash val="solid"/>
          </a:ln>
        </p:spPr>
      </p:sp>
      <p:sp>
        <p:nvSpPr>
          <p:cNvPr id="32" name="Shape 26"/>
          <p:cNvSpPr/>
          <p:nvPr/>
        </p:nvSpPr>
        <p:spPr>
          <a:xfrm>
            <a:off x="10241280" y="2103120"/>
            <a:ext cx="594360" cy="594360"/>
          </a:xfrm>
          <a:prstGeom prst="ellipse">
            <a:avLst/>
          </a:prstGeom>
          <a:solidFill>
            <a:srgbClr val="EAF2FF"/>
          </a:solidFill>
          <a:ln w="12700">
            <a:solidFill>
              <a:srgbClr val="EAF2FF"/>
            </a:solidFill>
            <a:prstDash val="solid"/>
          </a:ln>
        </p:spPr>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15016" y="2276856"/>
            <a:ext cx="246888" cy="246888"/>
          </a:xfrm>
          <a:prstGeom prst="rect">
            <a:avLst/>
          </a:prstGeom>
        </p:spPr>
      </p:pic>
      <p:sp>
        <p:nvSpPr>
          <p:cNvPr id="34" name="Text 27"/>
          <p:cNvSpPr/>
          <p:nvPr/>
        </p:nvSpPr>
        <p:spPr>
          <a:xfrm>
            <a:off x="9765792" y="2926080"/>
            <a:ext cx="1545336" cy="310896"/>
          </a:xfrm>
          <a:prstGeom prst="rect">
            <a:avLst/>
          </a:prstGeom>
          <a:noFill/>
          <a:ln/>
        </p:spPr>
        <p:txBody>
          <a:bodyPr wrap="square" lIns="0" tIns="0" rIns="0" bIns="0" rtlCol="0" anchor="ctr">
            <a:normAutofit/>
          </a:bodyPr>
          <a:lstStyle/>
          <a:p>
            <a:pPr algn="ctr" indent="0" marL="0">
              <a:buNone/>
            </a:pPr>
            <a:r>
              <a:rPr lang="en-US" sz="1220" b="1" dirty="0">
                <a:solidFill>
                  <a:srgbClr val="142A37"/>
                </a:solidFill>
                <a:latin typeface="Noto Sans" pitchFamily="34" charset="0"/>
                <a:ea typeface="Noto Sans" pitchFamily="34" charset="-122"/>
                <a:cs typeface="Noto Sans" pitchFamily="34" charset="-120"/>
              </a:rPr>
              <a:t>Finalize</a:t>
            </a:r>
            <a:endParaRPr lang="en-US" sz="1220" dirty="0"/>
          </a:p>
        </p:txBody>
      </p:sp>
      <p:sp>
        <p:nvSpPr>
          <p:cNvPr id="35" name="Text 28"/>
          <p:cNvSpPr/>
          <p:nvPr/>
        </p:nvSpPr>
        <p:spPr>
          <a:xfrm>
            <a:off x="9765792" y="3364992"/>
            <a:ext cx="1545336" cy="640080"/>
          </a:xfrm>
          <a:prstGeom prst="rect">
            <a:avLst/>
          </a:prstGeom>
          <a:noFill/>
          <a:ln/>
        </p:spPr>
        <p:txBody>
          <a:bodyPr wrap="square" lIns="0" tIns="0" rIns="0" bIns="0" rtlCol="0" anchor="ctr">
            <a:normAutofit/>
          </a:bodyPr>
          <a:lstStyle/>
          <a:p>
            <a:pPr algn="ctr" indent="0" marL="0">
              <a:buNone/>
            </a:pPr>
            <a:r>
              <a:rPr lang="en-US" sz="920" dirty="0">
                <a:solidFill>
                  <a:srgbClr val="5F7180"/>
                </a:solidFill>
                <a:latin typeface="Noto Sans" pitchFamily="34" charset="0"/>
                <a:ea typeface="Noto Sans" pitchFamily="34" charset="-122"/>
                <a:cs typeface="Noto Sans" pitchFamily="34" charset="-120"/>
              </a:rPr>
              <a:t>Report saved and released to patient</a:t>
            </a:r>
            <a:endParaRPr lang="en-US" sz="920" dirty="0"/>
          </a:p>
        </p:txBody>
      </p:sp>
      <p:sp>
        <p:nvSpPr>
          <p:cNvPr id="36" name="Shape 29"/>
          <p:cNvSpPr/>
          <p:nvPr/>
        </p:nvSpPr>
        <p:spPr>
          <a:xfrm>
            <a:off x="1874520" y="4892040"/>
            <a:ext cx="8412480" cy="914400"/>
          </a:xfrm>
          <a:prstGeom prst="roundRect">
            <a:avLst>
              <a:gd name="adj" fmla="val 80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7" name="Shape 30"/>
          <p:cNvSpPr/>
          <p:nvPr/>
        </p:nvSpPr>
        <p:spPr>
          <a:xfrm>
            <a:off x="2039112" y="5056632"/>
            <a:ext cx="402336" cy="402336"/>
          </a:xfrm>
          <a:prstGeom prst="ellipse">
            <a:avLst/>
          </a:prstGeom>
          <a:solidFill>
            <a:srgbClr val="FDECEF"/>
          </a:solidFill>
          <a:ln w="12700">
            <a:solidFill>
              <a:srgbClr val="FDECEF"/>
            </a:solidFill>
            <a:prstDash val="solid"/>
          </a:ln>
        </p:spPr>
      </p:sp>
      <p:pic>
        <p:nvPicPr>
          <p:cNvPr id="3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39696" y="5157216"/>
            <a:ext cx="201168" cy="201168"/>
          </a:xfrm>
          <a:prstGeom prst="rect">
            <a:avLst/>
          </a:prstGeom>
        </p:spPr>
      </p:pic>
      <p:sp>
        <p:nvSpPr>
          <p:cNvPr id="39" name="Text 31"/>
          <p:cNvSpPr/>
          <p:nvPr/>
        </p:nvSpPr>
        <p:spPr>
          <a:xfrm>
            <a:off x="2532888" y="5065776"/>
            <a:ext cx="758952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Key safety rule</a:t>
            </a:r>
            <a:endParaRPr lang="en-US" sz="1400" dirty="0"/>
          </a:p>
        </p:txBody>
      </p:sp>
      <p:sp>
        <p:nvSpPr>
          <p:cNvPr id="40" name="Text 32"/>
          <p:cNvSpPr/>
          <p:nvPr/>
        </p:nvSpPr>
        <p:spPr>
          <a:xfrm>
            <a:off x="2057400" y="5577840"/>
            <a:ext cx="8046720" cy="73152"/>
          </a:xfrm>
          <a:prstGeom prst="rect">
            <a:avLst/>
          </a:prstGeom>
          <a:noFill/>
          <a:ln/>
        </p:spPr>
        <p:txBody>
          <a:bodyPr wrap="square" lIns="254" tIns="254" rIns="254" bIns="254" rtlCol="0" anchor="t">
            <a:normAutofit/>
          </a:bodyPr>
          <a:lstStyle/>
          <a:p>
            <a:pPr indent="0" marL="0">
              <a:buNone/>
            </a:pPr>
            <a:r>
              <a:rPr lang="en-US" sz="1040" dirty="0">
                <a:solidFill>
                  <a:srgbClr val="5F7180"/>
                </a:solidFill>
                <a:latin typeface="Noto Sans" pitchFamily="34" charset="0"/>
                <a:ea typeface="Noto Sans" pitchFamily="34" charset="-122"/>
                <a:cs typeface="Noto Sans" pitchFamily="34" charset="-120"/>
              </a:rPr>
              <a:t>The doctor is a release gate for patient-facing final results in the MVP. The assistant / chatbot does not bypass this workflow.</a:t>
            </a:r>
            <a:endParaRPr lang="en-US" sz="104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Admin &amp; Operations Brainstorm</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Admin role is more than user management — it is also operational and ML governance.</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ADMIN</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94360" y="137160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758952" y="1536192"/>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636776"/>
            <a:ext cx="201168" cy="201168"/>
          </a:xfrm>
          <a:prstGeom prst="rect">
            <a:avLst/>
          </a:prstGeom>
        </p:spPr>
      </p:pic>
      <p:sp>
        <p:nvSpPr>
          <p:cNvPr id="10" name="Text 7"/>
          <p:cNvSpPr/>
          <p:nvPr/>
        </p:nvSpPr>
        <p:spPr>
          <a:xfrm>
            <a:off x="1252728"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User Management</a:t>
            </a:r>
            <a:endParaRPr lang="en-US" sz="1180" dirty="0"/>
          </a:p>
        </p:txBody>
      </p:sp>
      <p:sp>
        <p:nvSpPr>
          <p:cNvPr id="11" name="Text 8"/>
          <p:cNvSpPr/>
          <p:nvPr/>
        </p:nvSpPr>
        <p:spPr>
          <a:xfrm>
            <a:off x="777240" y="205740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Create • modify • disable accounts</a:t>
            </a:r>
            <a:endParaRPr lang="en-US" sz="940" dirty="0"/>
          </a:p>
        </p:txBody>
      </p:sp>
      <p:sp>
        <p:nvSpPr>
          <p:cNvPr id="12" name="Shape 9"/>
          <p:cNvSpPr/>
          <p:nvPr/>
        </p:nvSpPr>
        <p:spPr>
          <a:xfrm>
            <a:off x="3429000" y="137160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3593592" y="1536192"/>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4176" y="1636776"/>
            <a:ext cx="201168" cy="201168"/>
          </a:xfrm>
          <a:prstGeom prst="rect">
            <a:avLst/>
          </a:prstGeom>
        </p:spPr>
      </p:pic>
      <p:sp>
        <p:nvSpPr>
          <p:cNvPr id="15" name="Text 11"/>
          <p:cNvSpPr/>
          <p:nvPr/>
        </p:nvSpPr>
        <p:spPr>
          <a:xfrm>
            <a:off x="4087368"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Doctor Management</a:t>
            </a:r>
            <a:endParaRPr lang="en-US" sz="1180" dirty="0"/>
          </a:p>
        </p:txBody>
      </p:sp>
      <p:sp>
        <p:nvSpPr>
          <p:cNvPr id="16" name="Text 12"/>
          <p:cNvSpPr/>
          <p:nvPr/>
        </p:nvSpPr>
        <p:spPr>
          <a:xfrm>
            <a:off x="3611880" y="205740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Verification status • institution links</a:t>
            </a:r>
            <a:endParaRPr lang="en-US" sz="940" dirty="0"/>
          </a:p>
        </p:txBody>
      </p:sp>
      <p:sp>
        <p:nvSpPr>
          <p:cNvPr id="17" name="Shape 13"/>
          <p:cNvSpPr/>
          <p:nvPr/>
        </p:nvSpPr>
        <p:spPr>
          <a:xfrm>
            <a:off x="6263640" y="137160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6428232" y="1536192"/>
            <a:ext cx="402336" cy="402336"/>
          </a:xfrm>
          <a:prstGeom prst="ellipse">
            <a:avLst/>
          </a:prstGeom>
          <a:solidFill>
            <a:srgbClr val="E8F8F4"/>
          </a:solidFill>
          <a:ln w="12700">
            <a:solidFill>
              <a:srgbClr val="E8F8F4"/>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28816" y="1636776"/>
            <a:ext cx="201168" cy="201168"/>
          </a:xfrm>
          <a:prstGeom prst="rect">
            <a:avLst/>
          </a:prstGeom>
        </p:spPr>
      </p:pic>
      <p:sp>
        <p:nvSpPr>
          <p:cNvPr id="20" name="Text 15"/>
          <p:cNvSpPr/>
          <p:nvPr/>
        </p:nvSpPr>
        <p:spPr>
          <a:xfrm>
            <a:off x="6922008"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Branches</a:t>
            </a:r>
            <a:endParaRPr lang="en-US" sz="1180" dirty="0"/>
          </a:p>
        </p:txBody>
      </p:sp>
      <p:sp>
        <p:nvSpPr>
          <p:cNvPr id="21" name="Text 16"/>
          <p:cNvSpPr/>
          <p:nvPr/>
        </p:nvSpPr>
        <p:spPr>
          <a:xfrm>
            <a:off x="6446520" y="205740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Clinics • hospitals • branches</a:t>
            </a:r>
            <a:endParaRPr lang="en-US" sz="940" dirty="0"/>
          </a:p>
        </p:txBody>
      </p:sp>
      <p:sp>
        <p:nvSpPr>
          <p:cNvPr id="22" name="Shape 17"/>
          <p:cNvSpPr/>
          <p:nvPr/>
        </p:nvSpPr>
        <p:spPr>
          <a:xfrm>
            <a:off x="9098280" y="137160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9262872" y="1536192"/>
            <a:ext cx="402336" cy="402336"/>
          </a:xfrm>
          <a:prstGeom prst="ellipse">
            <a:avLst/>
          </a:prstGeom>
          <a:solidFill>
            <a:srgbClr val="E8F8F4"/>
          </a:solidFill>
          <a:ln w="12700">
            <a:solidFill>
              <a:srgbClr val="E8F8F4"/>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63456" y="1636776"/>
            <a:ext cx="201168" cy="201168"/>
          </a:xfrm>
          <a:prstGeom prst="rect">
            <a:avLst/>
          </a:prstGeom>
        </p:spPr>
      </p:pic>
      <p:sp>
        <p:nvSpPr>
          <p:cNvPr id="25" name="Text 19"/>
          <p:cNvSpPr/>
          <p:nvPr/>
        </p:nvSpPr>
        <p:spPr>
          <a:xfrm>
            <a:off x="9756648"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AI Monitoring</a:t>
            </a:r>
            <a:endParaRPr lang="en-US" sz="1180" dirty="0"/>
          </a:p>
        </p:txBody>
      </p:sp>
      <p:sp>
        <p:nvSpPr>
          <p:cNvPr id="26" name="Text 20"/>
          <p:cNvSpPr/>
          <p:nvPr/>
        </p:nvSpPr>
        <p:spPr>
          <a:xfrm>
            <a:off x="9281160" y="205740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Validation metrics • model version • future drift indicators</a:t>
            </a:r>
            <a:endParaRPr lang="en-US" sz="940" dirty="0"/>
          </a:p>
        </p:txBody>
      </p:sp>
      <p:sp>
        <p:nvSpPr>
          <p:cNvPr id="27" name="Shape 21"/>
          <p:cNvSpPr/>
          <p:nvPr/>
        </p:nvSpPr>
        <p:spPr>
          <a:xfrm>
            <a:off x="594360" y="338328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758952" y="3547872"/>
            <a:ext cx="402336" cy="402336"/>
          </a:xfrm>
          <a:prstGeom prst="ellipse">
            <a:avLst/>
          </a:prstGeom>
          <a:solidFill>
            <a:srgbClr val="E8F8F4"/>
          </a:solidFill>
          <a:ln w="12700">
            <a:solidFill>
              <a:srgbClr val="E8F8F4"/>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9536" y="3648456"/>
            <a:ext cx="201168" cy="201168"/>
          </a:xfrm>
          <a:prstGeom prst="rect">
            <a:avLst/>
          </a:prstGeom>
        </p:spPr>
      </p:pic>
      <p:sp>
        <p:nvSpPr>
          <p:cNvPr id="30" name="Text 23"/>
          <p:cNvSpPr/>
          <p:nvPr/>
        </p:nvSpPr>
        <p:spPr>
          <a:xfrm>
            <a:off x="1252728" y="355701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Recommendation Content</a:t>
            </a:r>
            <a:endParaRPr lang="en-US" sz="1180" dirty="0"/>
          </a:p>
        </p:txBody>
      </p:sp>
      <p:sp>
        <p:nvSpPr>
          <p:cNvPr id="31" name="Text 24"/>
          <p:cNvSpPr/>
          <p:nvPr/>
        </p:nvSpPr>
        <p:spPr>
          <a:xfrm>
            <a:off x="777240" y="406908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Edit through a review / approval workflow</a:t>
            </a:r>
            <a:endParaRPr lang="en-US" sz="940" dirty="0"/>
          </a:p>
        </p:txBody>
      </p:sp>
      <p:sp>
        <p:nvSpPr>
          <p:cNvPr id="32" name="Shape 25"/>
          <p:cNvSpPr/>
          <p:nvPr/>
        </p:nvSpPr>
        <p:spPr>
          <a:xfrm>
            <a:off x="3429000" y="338328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3593592" y="3547872"/>
            <a:ext cx="402336" cy="402336"/>
          </a:xfrm>
          <a:prstGeom prst="ellipse">
            <a:avLst/>
          </a:prstGeom>
          <a:solidFill>
            <a:srgbClr val="E8F8F4"/>
          </a:solidFill>
          <a:ln w="12700">
            <a:solidFill>
              <a:srgbClr val="E8F8F4"/>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94176" y="3648456"/>
            <a:ext cx="201168" cy="201168"/>
          </a:xfrm>
          <a:prstGeom prst="rect">
            <a:avLst/>
          </a:prstGeom>
        </p:spPr>
      </p:pic>
      <p:sp>
        <p:nvSpPr>
          <p:cNvPr id="35" name="Text 27"/>
          <p:cNvSpPr/>
          <p:nvPr/>
        </p:nvSpPr>
        <p:spPr>
          <a:xfrm>
            <a:off x="4087368" y="355701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Model Updates</a:t>
            </a:r>
            <a:endParaRPr lang="en-US" sz="1180" dirty="0"/>
          </a:p>
        </p:txBody>
      </p:sp>
      <p:sp>
        <p:nvSpPr>
          <p:cNvPr id="36" name="Text 28"/>
          <p:cNvSpPr/>
          <p:nvPr/>
        </p:nvSpPr>
        <p:spPr>
          <a:xfrm>
            <a:off x="3611880" y="406908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Versioning • rollback • change record</a:t>
            </a:r>
            <a:endParaRPr lang="en-US" sz="940" dirty="0"/>
          </a:p>
        </p:txBody>
      </p:sp>
      <p:sp>
        <p:nvSpPr>
          <p:cNvPr id="37" name="Shape 29"/>
          <p:cNvSpPr/>
          <p:nvPr/>
        </p:nvSpPr>
        <p:spPr>
          <a:xfrm>
            <a:off x="6263640" y="338328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8" name="Shape 30"/>
          <p:cNvSpPr/>
          <p:nvPr/>
        </p:nvSpPr>
        <p:spPr>
          <a:xfrm>
            <a:off x="6428232" y="3547872"/>
            <a:ext cx="402336" cy="402336"/>
          </a:xfrm>
          <a:prstGeom prst="ellipse">
            <a:avLst/>
          </a:prstGeom>
          <a:solidFill>
            <a:srgbClr val="E8F8F4"/>
          </a:solidFill>
          <a:ln w="12700">
            <a:solidFill>
              <a:srgbClr val="E8F8F4"/>
            </a:solidFill>
            <a:prstDash val="solid"/>
          </a:ln>
        </p:spPr>
      </p:sp>
      <p:pic>
        <p:nvPicPr>
          <p:cNvPr id="3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28816" y="3648456"/>
            <a:ext cx="201168" cy="201168"/>
          </a:xfrm>
          <a:prstGeom prst="rect">
            <a:avLst/>
          </a:prstGeom>
        </p:spPr>
      </p:pic>
      <p:sp>
        <p:nvSpPr>
          <p:cNvPr id="40" name="Text 31"/>
          <p:cNvSpPr/>
          <p:nvPr/>
        </p:nvSpPr>
        <p:spPr>
          <a:xfrm>
            <a:off x="6922008" y="355701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Usage Analytics</a:t>
            </a:r>
            <a:endParaRPr lang="en-US" sz="1180" dirty="0"/>
          </a:p>
        </p:txBody>
      </p:sp>
      <p:sp>
        <p:nvSpPr>
          <p:cNvPr id="41" name="Text 32"/>
          <p:cNvSpPr/>
          <p:nvPr/>
        </p:nvSpPr>
        <p:spPr>
          <a:xfrm>
            <a:off x="6446520" y="406908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Users • cases • appointments • review queue</a:t>
            </a:r>
            <a:endParaRPr lang="en-US" sz="940" dirty="0"/>
          </a:p>
        </p:txBody>
      </p:sp>
      <p:sp>
        <p:nvSpPr>
          <p:cNvPr id="42" name="Shape 33"/>
          <p:cNvSpPr/>
          <p:nvPr/>
        </p:nvSpPr>
        <p:spPr>
          <a:xfrm>
            <a:off x="9098280" y="3383280"/>
            <a:ext cx="2514600" cy="1508760"/>
          </a:xfrm>
          <a:prstGeom prst="roundRect">
            <a:avLst>
              <a:gd name="adj" fmla="val 4848"/>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4"/>
          <p:cNvSpPr/>
          <p:nvPr/>
        </p:nvSpPr>
        <p:spPr>
          <a:xfrm>
            <a:off x="9262872" y="3547872"/>
            <a:ext cx="402336" cy="402336"/>
          </a:xfrm>
          <a:prstGeom prst="ellipse">
            <a:avLst/>
          </a:prstGeom>
          <a:solidFill>
            <a:srgbClr val="E8F8F4"/>
          </a:solidFill>
          <a:ln w="12700">
            <a:solidFill>
              <a:srgbClr val="E8F8F4"/>
            </a:solidFill>
            <a:prstDash val="solid"/>
          </a:ln>
        </p:spPr>
      </p:sp>
      <p:pic>
        <p:nvPicPr>
          <p:cNvPr id="4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63456" y="3648456"/>
            <a:ext cx="201168" cy="201168"/>
          </a:xfrm>
          <a:prstGeom prst="rect">
            <a:avLst/>
          </a:prstGeom>
        </p:spPr>
      </p:pic>
      <p:sp>
        <p:nvSpPr>
          <p:cNvPr id="45" name="Text 35"/>
          <p:cNvSpPr/>
          <p:nvPr/>
        </p:nvSpPr>
        <p:spPr>
          <a:xfrm>
            <a:off x="9756648" y="355701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Reports</a:t>
            </a:r>
            <a:endParaRPr lang="en-US" sz="1180" dirty="0"/>
          </a:p>
        </p:txBody>
      </p:sp>
      <p:sp>
        <p:nvSpPr>
          <p:cNvPr id="46" name="Text 36"/>
          <p:cNvSpPr/>
          <p:nvPr/>
        </p:nvSpPr>
        <p:spPr>
          <a:xfrm>
            <a:off x="9281160" y="4069080"/>
            <a:ext cx="2148840" cy="667512"/>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System usage and operating reports</a:t>
            </a:r>
            <a:endParaRPr lang="en-US" sz="940" dirty="0"/>
          </a:p>
        </p:txBody>
      </p:sp>
      <p:sp>
        <p:nvSpPr>
          <p:cNvPr id="47" name="Shape 37"/>
          <p:cNvSpPr/>
          <p:nvPr/>
        </p:nvSpPr>
        <p:spPr>
          <a:xfrm>
            <a:off x="1143000" y="5440680"/>
            <a:ext cx="9921240" cy="548640"/>
          </a:xfrm>
          <a:prstGeom prst="roundRect">
            <a:avLst>
              <a:gd name="adj" fmla="val 16667"/>
            </a:avLst>
          </a:prstGeom>
          <a:solidFill>
            <a:srgbClr val="FFF6E5"/>
          </a:solidFill>
          <a:ln w="12700">
            <a:solidFill>
              <a:srgbClr val="F3D28D"/>
            </a:solidFill>
            <a:prstDash val="solid"/>
          </a:ln>
        </p:spPr>
      </p:sp>
      <p:sp>
        <p:nvSpPr>
          <p:cNvPr id="48" name="Text 38"/>
          <p:cNvSpPr/>
          <p:nvPr/>
        </p:nvSpPr>
        <p:spPr>
          <a:xfrm>
            <a:off x="1371600" y="5596128"/>
            <a:ext cx="9464040" cy="246888"/>
          </a:xfrm>
          <a:prstGeom prst="rect">
            <a:avLst/>
          </a:prstGeom>
          <a:noFill/>
          <a:ln/>
        </p:spPr>
        <p:txBody>
          <a:bodyPr wrap="square" lIns="0" tIns="0" rIns="0" bIns="0" rtlCol="0" anchor="ctr">
            <a:normAutofit/>
          </a:bodyPr>
          <a:lstStyle/>
          <a:p>
            <a:pPr algn="ctr" indent="0" marL="0">
              <a:buNone/>
            </a:pPr>
            <a:r>
              <a:rPr lang="en-US" sz="960" b="1" dirty="0">
                <a:solidFill>
                  <a:srgbClr val="A46E12"/>
                </a:solidFill>
                <a:latin typeface="Noto Sans" pitchFamily="34" charset="0"/>
                <a:ea typeface="Noto Sans" pitchFamily="34" charset="-122"/>
                <a:cs typeface="Noto Sans" pitchFamily="34" charset="-120"/>
              </a:rPr>
              <a:t>Production recommendation from PRD: split Admin into sub-roles (Super Admin / Ops / Clinical QA / Support) instead of default access to all medical data.</a:t>
            </a:r>
            <a:endParaRPr lang="en-US" sz="96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Core Screens &amp; UX Priorities</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Three screens were explicitly prioritized: Login, Profile and Dashboard.</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UX</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53312"/>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667512" y="1517904"/>
            <a:ext cx="402336" cy="402336"/>
          </a:xfrm>
          <a:prstGeom prst="ellipse">
            <a:avLst/>
          </a:prstGeom>
          <a:solidFill>
            <a:srgbClr val="FDECEF"/>
          </a:solidFill>
          <a:ln w="12700">
            <a:solidFill>
              <a:srgbClr val="FDECE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18488"/>
            <a:ext cx="201168" cy="201168"/>
          </a:xfrm>
          <a:prstGeom prst="rect">
            <a:avLst/>
          </a:prstGeom>
        </p:spPr>
      </p:pic>
      <p:sp>
        <p:nvSpPr>
          <p:cNvPr id="10" name="Text 7"/>
          <p:cNvSpPr/>
          <p:nvPr/>
        </p:nvSpPr>
        <p:spPr>
          <a:xfrm>
            <a:off x="1161288" y="1527048"/>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Login / Sign up</a:t>
            </a:r>
            <a:endParaRPr lang="en-US" sz="1170" dirty="0"/>
          </a:p>
        </p:txBody>
      </p:sp>
      <p:sp>
        <p:nvSpPr>
          <p:cNvPr id="11" name="Text 8"/>
          <p:cNvSpPr/>
          <p:nvPr/>
        </p:nvSpPr>
        <p:spPr>
          <a:xfrm>
            <a:off x="685800" y="2039112"/>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Role-aware • clear • OAuth later / by version</a:t>
            </a:r>
            <a:endParaRPr lang="en-US" sz="890" dirty="0"/>
          </a:p>
        </p:txBody>
      </p:sp>
      <p:sp>
        <p:nvSpPr>
          <p:cNvPr id="12" name="Shape 9"/>
          <p:cNvSpPr/>
          <p:nvPr/>
        </p:nvSpPr>
        <p:spPr>
          <a:xfrm>
            <a:off x="2907792" y="1490472"/>
            <a:ext cx="868680" cy="329184"/>
          </a:xfrm>
          <a:prstGeom prst="roundRect">
            <a:avLst>
              <a:gd name="adj" fmla="val 38889"/>
            </a:avLst>
          </a:prstGeom>
          <a:solidFill>
            <a:srgbClr val="FDECEF"/>
          </a:solidFill>
          <a:ln w="12700">
            <a:solidFill>
              <a:srgbClr val="FDECEF"/>
            </a:solidFill>
            <a:prstDash val="solid"/>
          </a:ln>
        </p:spPr>
      </p:sp>
      <p:sp>
        <p:nvSpPr>
          <p:cNvPr id="13" name="Text 10"/>
          <p:cNvSpPr/>
          <p:nvPr/>
        </p:nvSpPr>
        <p:spPr>
          <a:xfrm>
            <a:off x="2980944" y="1563624"/>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14" name="Shape 11"/>
          <p:cNvSpPr/>
          <p:nvPr/>
        </p:nvSpPr>
        <p:spPr>
          <a:xfrm>
            <a:off x="4325112" y="1353312"/>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5" name="Shape 12"/>
          <p:cNvSpPr/>
          <p:nvPr/>
        </p:nvSpPr>
        <p:spPr>
          <a:xfrm>
            <a:off x="4489704" y="1517904"/>
            <a:ext cx="402336" cy="402336"/>
          </a:xfrm>
          <a:prstGeom prst="ellipse">
            <a:avLst/>
          </a:prstGeom>
          <a:solidFill>
            <a:srgbClr val="FDECEF"/>
          </a:solidFill>
          <a:ln w="12700">
            <a:solidFill>
              <a:srgbClr val="FDECEF"/>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0288" y="1618488"/>
            <a:ext cx="201168" cy="201168"/>
          </a:xfrm>
          <a:prstGeom prst="rect">
            <a:avLst/>
          </a:prstGeom>
        </p:spPr>
      </p:pic>
      <p:sp>
        <p:nvSpPr>
          <p:cNvPr id="17" name="Text 13"/>
          <p:cNvSpPr/>
          <p:nvPr/>
        </p:nvSpPr>
        <p:spPr>
          <a:xfrm>
            <a:off x="4983480" y="1527048"/>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Patient Dashboard</a:t>
            </a:r>
            <a:endParaRPr lang="en-US" sz="1170" dirty="0"/>
          </a:p>
        </p:txBody>
      </p:sp>
      <p:sp>
        <p:nvSpPr>
          <p:cNvPr id="18" name="Text 14"/>
          <p:cNvSpPr/>
          <p:nvPr/>
        </p:nvSpPr>
        <p:spPr>
          <a:xfrm>
            <a:off x="4507992" y="2039112"/>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Modules • latest results • next appointment • notifications</a:t>
            </a:r>
            <a:endParaRPr lang="en-US" sz="890" dirty="0"/>
          </a:p>
        </p:txBody>
      </p:sp>
      <p:sp>
        <p:nvSpPr>
          <p:cNvPr id="19" name="Shape 15"/>
          <p:cNvSpPr/>
          <p:nvPr/>
        </p:nvSpPr>
        <p:spPr>
          <a:xfrm>
            <a:off x="6729984" y="1490472"/>
            <a:ext cx="868680" cy="329184"/>
          </a:xfrm>
          <a:prstGeom prst="roundRect">
            <a:avLst>
              <a:gd name="adj" fmla="val 38889"/>
            </a:avLst>
          </a:prstGeom>
          <a:solidFill>
            <a:srgbClr val="FDECEF"/>
          </a:solidFill>
          <a:ln w="12700">
            <a:solidFill>
              <a:srgbClr val="FDECEF"/>
            </a:solidFill>
            <a:prstDash val="solid"/>
          </a:ln>
        </p:spPr>
      </p:sp>
      <p:sp>
        <p:nvSpPr>
          <p:cNvPr id="20" name="Text 16"/>
          <p:cNvSpPr/>
          <p:nvPr/>
        </p:nvSpPr>
        <p:spPr>
          <a:xfrm>
            <a:off x="6803136" y="1563624"/>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21" name="Shape 17"/>
          <p:cNvSpPr/>
          <p:nvPr/>
        </p:nvSpPr>
        <p:spPr>
          <a:xfrm>
            <a:off x="8147304" y="1353312"/>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2" name="Shape 18"/>
          <p:cNvSpPr/>
          <p:nvPr/>
        </p:nvSpPr>
        <p:spPr>
          <a:xfrm>
            <a:off x="8311896" y="1517904"/>
            <a:ext cx="402336" cy="402336"/>
          </a:xfrm>
          <a:prstGeom prst="ellipse">
            <a:avLst/>
          </a:prstGeom>
          <a:solidFill>
            <a:srgbClr val="FDECEF"/>
          </a:solidFill>
          <a:ln w="12700">
            <a:solidFill>
              <a:srgbClr val="FDECEF"/>
            </a:solidFill>
            <a:prstDash val="solid"/>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2480" y="1618488"/>
            <a:ext cx="201168" cy="201168"/>
          </a:xfrm>
          <a:prstGeom prst="rect">
            <a:avLst/>
          </a:prstGeom>
        </p:spPr>
      </p:pic>
      <p:sp>
        <p:nvSpPr>
          <p:cNvPr id="24" name="Text 19"/>
          <p:cNvSpPr/>
          <p:nvPr/>
        </p:nvSpPr>
        <p:spPr>
          <a:xfrm>
            <a:off x="8805672" y="1527048"/>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Profile</a:t>
            </a:r>
            <a:endParaRPr lang="en-US" sz="1170" dirty="0"/>
          </a:p>
        </p:txBody>
      </p:sp>
      <p:sp>
        <p:nvSpPr>
          <p:cNvPr id="25" name="Text 20"/>
          <p:cNvSpPr/>
          <p:nvPr/>
        </p:nvSpPr>
        <p:spPr>
          <a:xfrm>
            <a:off x="8330184" y="2039112"/>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Personal + medical data • assigned doctor • consent • language</a:t>
            </a:r>
            <a:endParaRPr lang="en-US" sz="890" dirty="0"/>
          </a:p>
        </p:txBody>
      </p:sp>
      <p:sp>
        <p:nvSpPr>
          <p:cNvPr id="26" name="Shape 21"/>
          <p:cNvSpPr/>
          <p:nvPr/>
        </p:nvSpPr>
        <p:spPr>
          <a:xfrm>
            <a:off x="10552176" y="1490472"/>
            <a:ext cx="868680" cy="329184"/>
          </a:xfrm>
          <a:prstGeom prst="roundRect">
            <a:avLst>
              <a:gd name="adj" fmla="val 38889"/>
            </a:avLst>
          </a:prstGeom>
          <a:solidFill>
            <a:srgbClr val="FDECEF"/>
          </a:solidFill>
          <a:ln w="12700">
            <a:solidFill>
              <a:srgbClr val="FDECEF"/>
            </a:solidFill>
            <a:prstDash val="solid"/>
          </a:ln>
        </p:spPr>
      </p:sp>
      <p:sp>
        <p:nvSpPr>
          <p:cNvPr id="27" name="Text 22"/>
          <p:cNvSpPr/>
          <p:nvPr/>
        </p:nvSpPr>
        <p:spPr>
          <a:xfrm>
            <a:off x="10625328" y="1563624"/>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28" name="Shape 23"/>
          <p:cNvSpPr/>
          <p:nvPr/>
        </p:nvSpPr>
        <p:spPr>
          <a:xfrm>
            <a:off x="502920" y="2852928"/>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9" name="Shape 24"/>
          <p:cNvSpPr/>
          <p:nvPr/>
        </p:nvSpPr>
        <p:spPr>
          <a:xfrm>
            <a:off x="667512" y="3017520"/>
            <a:ext cx="402336" cy="402336"/>
          </a:xfrm>
          <a:prstGeom prst="ellipse">
            <a:avLst/>
          </a:prstGeom>
          <a:solidFill>
            <a:srgbClr val="FDECEF"/>
          </a:solidFill>
          <a:ln w="12700">
            <a:solidFill>
              <a:srgbClr val="FDECEF"/>
            </a:solidFill>
            <a:prstDash val="solid"/>
          </a:ln>
        </p:spPr>
      </p:sp>
      <p:pic>
        <p:nvPicPr>
          <p:cNvPr id="3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096" y="3118104"/>
            <a:ext cx="201168" cy="201168"/>
          </a:xfrm>
          <a:prstGeom prst="rect">
            <a:avLst/>
          </a:prstGeom>
        </p:spPr>
      </p:pic>
      <p:sp>
        <p:nvSpPr>
          <p:cNvPr id="31" name="Text 25"/>
          <p:cNvSpPr/>
          <p:nvPr/>
        </p:nvSpPr>
        <p:spPr>
          <a:xfrm>
            <a:off x="1161288" y="3026664"/>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Disease Module Form</a:t>
            </a:r>
            <a:endParaRPr lang="en-US" sz="1170" dirty="0"/>
          </a:p>
        </p:txBody>
      </p:sp>
      <p:sp>
        <p:nvSpPr>
          <p:cNvPr id="32" name="Text 26"/>
          <p:cNvSpPr/>
          <p:nvPr/>
        </p:nvSpPr>
        <p:spPr>
          <a:xfrm>
            <a:off x="685800" y="3538728"/>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Structured inputs for the model</a:t>
            </a:r>
            <a:endParaRPr lang="en-US" sz="890" dirty="0"/>
          </a:p>
        </p:txBody>
      </p:sp>
      <p:sp>
        <p:nvSpPr>
          <p:cNvPr id="33" name="Shape 27"/>
          <p:cNvSpPr/>
          <p:nvPr/>
        </p:nvSpPr>
        <p:spPr>
          <a:xfrm>
            <a:off x="2907792" y="2990088"/>
            <a:ext cx="868680" cy="329184"/>
          </a:xfrm>
          <a:prstGeom prst="roundRect">
            <a:avLst>
              <a:gd name="adj" fmla="val 38889"/>
            </a:avLst>
          </a:prstGeom>
          <a:solidFill>
            <a:srgbClr val="FDECEF"/>
          </a:solidFill>
          <a:ln w="12700">
            <a:solidFill>
              <a:srgbClr val="FDECEF"/>
            </a:solidFill>
            <a:prstDash val="solid"/>
          </a:ln>
        </p:spPr>
      </p:sp>
      <p:sp>
        <p:nvSpPr>
          <p:cNvPr id="34" name="Text 28"/>
          <p:cNvSpPr/>
          <p:nvPr/>
        </p:nvSpPr>
        <p:spPr>
          <a:xfrm>
            <a:off x="2980944" y="3063240"/>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35" name="Shape 29"/>
          <p:cNvSpPr/>
          <p:nvPr/>
        </p:nvSpPr>
        <p:spPr>
          <a:xfrm>
            <a:off x="4325112" y="2852928"/>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6" name="Shape 30"/>
          <p:cNvSpPr/>
          <p:nvPr/>
        </p:nvSpPr>
        <p:spPr>
          <a:xfrm>
            <a:off x="4489704" y="3017520"/>
            <a:ext cx="402336" cy="402336"/>
          </a:xfrm>
          <a:prstGeom prst="ellipse">
            <a:avLst/>
          </a:prstGeom>
          <a:solidFill>
            <a:srgbClr val="FDECEF"/>
          </a:solidFill>
          <a:ln w="12700">
            <a:solidFill>
              <a:srgbClr val="FDECEF"/>
            </a:solidFill>
            <a:prstDash val="solid"/>
          </a:ln>
        </p:spPr>
      </p:sp>
      <p:pic>
        <p:nvPicPr>
          <p:cNvPr id="3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0288" y="3118104"/>
            <a:ext cx="201168" cy="201168"/>
          </a:xfrm>
          <a:prstGeom prst="rect">
            <a:avLst/>
          </a:prstGeom>
        </p:spPr>
      </p:pic>
      <p:sp>
        <p:nvSpPr>
          <p:cNvPr id="38" name="Text 31"/>
          <p:cNvSpPr/>
          <p:nvPr/>
        </p:nvSpPr>
        <p:spPr>
          <a:xfrm>
            <a:off x="4983480" y="3026664"/>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Result / Review Status</a:t>
            </a:r>
            <a:endParaRPr lang="en-US" sz="1170" dirty="0"/>
          </a:p>
        </p:txBody>
      </p:sp>
      <p:sp>
        <p:nvSpPr>
          <p:cNvPr id="39" name="Text 32"/>
          <p:cNvSpPr/>
          <p:nvPr/>
        </p:nvSpPr>
        <p:spPr>
          <a:xfrm>
            <a:off x="4507992" y="3538728"/>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Pending • Approved • Needs Follow-up</a:t>
            </a:r>
            <a:endParaRPr lang="en-US" sz="890" dirty="0"/>
          </a:p>
        </p:txBody>
      </p:sp>
      <p:sp>
        <p:nvSpPr>
          <p:cNvPr id="40" name="Shape 33"/>
          <p:cNvSpPr/>
          <p:nvPr/>
        </p:nvSpPr>
        <p:spPr>
          <a:xfrm>
            <a:off x="6729984" y="2990088"/>
            <a:ext cx="868680" cy="329184"/>
          </a:xfrm>
          <a:prstGeom prst="roundRect">
            <a:avLst>
              <a:gd name="adj" fmla="val 38889"/>
            </a:avLst>
          </a:prstGeom>
          <a:solidFill>
            <a:srgbClr val="FDECEF"/>
          </a:solidFill>
          <a:ln w="12700">
            <a:solidFill>
              <a:srgbClr val="FDECEF"/>
            </a:solidFill>
            <a:prstDash val="solid"/>
          </a:ln>
        </p:spPr>
      </p:sp>
      <p:sp>
        <p:nvSpPr>
          <p:cNvPr id="41" name="Text 34"/>
          <p:cNvSpPr/>
          <p:nvPr/>
        </p:nvSpPr>
        <p:spPr>
          <a:xfrm>
            <a:off x="6803136" y="3063240"/>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42" name="Shape 35"/>
          <p:cNvSpPr/>
          <p:nvPr/>
        </p:nvSpPr>
        <p:spPr>
          <a:xfrm>
            <a:off x="8147304" y="2852928"/>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6"/>
          <p:cNvSpPr/>
          <p:nvPr/>
        </p:nvSpPr>
        <p:spPr>
          <a:xfrm>
            <a:off x="8311896" y="3017520"/>
            <a:ext cx="402336" cy="402336"/>
          </a:xfrm>
          <a:prstGeom prst="ellipse">
            <a:avLst/>
          </a:prstGeom>
          <a:solidFill>
            <a:srgbClr val="FFF6E5"/>
          </a:solidFill>
          <a:ln w="12700">
            <a:solidFill>
              <a:srgbClr val="FFF6E5"/>
            </a:solidFill>
            <a:prstDash val="solid"/>
          </a:ln>
        </p:spPr>
      </p:sp>
      <p:pic>
        <p:nvPicPr>
          <p:cNvPr id="4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12480" y="3118104"/>
            <a:ext cx="201168" cy="201168"/>
          </a:xfrm>
          <a:prstGeom prst="rect">
            <a:avLst/>
          </a:prstGeom>
        </p:spPr>
      </p:pic>
      <p:sp>
        <p:nvSpPr>
          <p:cNvPr id="45" name="Text 37"/>
          <p:cNvSpPr/>
          <p:nvPr/>
        </p:nvSpPr>
        <p:spPr>
          <a:xfrm>
            <a:off x="8805672" y="3026664"/>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History</a:t>
            </a:r>
            <a:endParaRPr lang="en-US" sz="1170" dirty="0"/>
          </a:p>
        </p:txBody>
      </p:sp>
      <p:sp>
        <p:nvSpPr>
          <p:cNvPr id="46" name="Text 38"/>
          <p:cNvSpPr/>
          <p:nvPr/>
        </p:nvSpPr>
        <p:spPr>
          <a:xfrm>
            <a:off x="8330184" y="3538728"/>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Previous results • reports • appointments</a:t>
            </a:r>
            <a:endParaRPr lang="en-US" sz="890" dirty="0"/>
          </a:p>
        </p:txBody>
      </p:sp>
      <p:sp>
        <p:nvSpPr>
          <p:cNvPr id="47" name="Shape 39"/>
          <p:cNvSpPr/>
          <p:nvPr/>
        </p:nvSpPr>
        <p:spPr>
          <a:xfrm>
            <a:off x="10552176" y="2990088"/>
            <a:ext cx="868680" cy="329184"/>
          </a:xfrm>
          <a:prstGeom prst="roundRect">
            <a:avLst>
              <a:gd name="adj" fmla="val 38889"/>
            </a:avLst>
          </a:prstGeom>
          <a:solidFill>
            <a:srgbClr val="FFF6E5"/>
          </a:solidFill>
          <a:ln w="12700">
            <a:solidFill>
              <a:srgbClr val="FFF6E5"/>
            </a:solidFill>
            <a:prstDash val="solid"/>
          </a:ln>
        </p:spPr>
      </p:sp>
      <p:sp>
        <p:nvSpPr>
          <p:cNvPr id="48" name="Text 40"/>
          <p:cNvSpPr/>
          <p:nvPr/>
        </p:nvSpPr>
        <p:spPr>
          <a:xfrm>
            <a:off x="10625328" y="3063240"/>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49" name="Shape 41"/>
          <p:cNvSpPr/>
          <p:nvPr/>
        </p:nvSpPr>
        <p:spPr>
          <a:xfrm>
            <a:off x="502920" y="4352544"/>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50" name="Shape 42"/>
          <p:cNvSpPr/>
          <p:nvPr/>
        </p:nvSpPr>
        <p:spPr>
          <a:xfrm>
            <a:off x="667512" y="4517136"/>
            <a:ext cx="402336" cy="402336"/>
          </a:xfrm>
          <a:prstGeom prst="ellipse">
            <a:avLst/>
          </a:prstGeom>
          <a:solidFill>
            <a:srgbClr val="FFF6E5"/>
          </a:solidFill>
          <a:ln w="12700">
            <a:solidFill>
              <a:srgbClr val="FFF6E5"/>
            </a:solidFill>
            <a:prstDash val="solid"/>
          </a:ln>
        </p:spPr>
      </p:sp>
      <p:pic>
        <p:nvPicPr>
          <p:cNvPr id="5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8096" y="4617720"/>
            <a:ext cx="201168" cy="201168"/>
          </a:xfrm>
          <a:prstGeom prst="rect">
            <a:avLst/>
          </a:prstGeom>
        </p:spPr>
      </p:pic>
      <p:sp>
        <p:nvSpPr>
          <p:cNvPr id="52" name="Text 43"/>
          <p:cNvSpPr/>
          <p:nvPr/>
        </p:nvSpPr>
        <p:spPr>
          <a:xfrm>
            <a:off x="1161288" y="4526280"/>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Doctor Dashboard</a:t>
            </a:r>
            <a:endParaRPr lang="en-US" sz="1170" dirty="0"/>
          </a:p>
        </p:txBody>
      </p:sp>
      <p:sp>
        <p:nvSpPr>
          <p:cNvPr id="53" name="Text 44"/>
          <p:cNvSpPr/>
          <p:nvPr/>
        </p:nvSpPr>
        <p:spPr>
          <a:xfrm>
            <a:off x="685800" y="5038344"/>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Patients + review queue</a:t>
            </a:r>
            <a:endParaRPr lang="en-US" sz="890" dirty="0"/>
          </a:p>
        </p:txBody>
      </p:sp>
      <p:sp>
        <p:nvSpPr>
          <p:cNvPr id="54" name="Shape 45"/>
          <p:cNvSpPr/>
          <p:nvPr/>
        </p:nvSpPr>
        <p:spPr>
          <a:xfrm>
            <a:off x="2907792" y="4489704"/>
            <a:ext cx="868680" cy="329184"/>
          </a:xfrm>
          <a:prstGeom prst="roundRect">
            <a:avLst>
              <a:gd name="adj" fmla="val 38889"/>
            </a:avLst>
          </a:prstGeom>
          <a:solidFill>
            <a:srgbClr val="FFF6E5"/>
          </a:solidFill>
          <a:ln w="12700">
            <a:solidFill>
              <a:srgbClr val="FFF6E5"/>
            </a:solidFill>
            <a:prstDash val="solid"/>
          </a:ln>
        </p:spPr>
      </p:sp>
      <p:sp>
        <p:nvSpPr>
          <p:cNvPr id="55" name="Text 46"/>
          <p:cNvSpPr/>
          <p:nvPr/>
        </p:nvSpPr>
        <p:spPr>
          <a:xfrm>
            <a:off x="2980944" y="4562856"/>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56" name="Shape 47"/>
          <p:cNvSpPr/>
          <p:nvPr/>
        </p:nvSpPr>
        <p:spPr>
          <a:xfrm>
            <a:off x="4325112" y="4352544"/>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57" name="Shape 48"/>
          <p:cNvSpPr/>
          <p:nvPr/>
        </p:nvSpPr>
        <p:spPr>
          <a:xfrm>
            <a:off x="4489704" y="4517136"/>
            <a:ext cx="402336" cy="402336"/>
          </a:xfrm>
          <a:prstGeom prst="ellipse">
            <a:avLst/>
          </a:prstGeom>
          <a:solidFill>
            <a:srgbClr val="FFF6E5"/>
          </a:solidFill>
          <a:ln w="12700">
            <a:solidFill>
              <a:srgbClr val="FFF6E5"/>
            </a:solidFill>
            <a:prstDash val="solid"/>
          </a:ln>
        </p:spPr>
      </p:sp>
      <p:pic>
        <p:nvPicPr>
          <p:cNvPr id="5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90288" y="4617720"/>
            <a:ext cx="201168" cy="201168"/>
          </a:xfrm>
          <a:prstGeom prst="rect">
            <a:avLst/>
          </a:prstGeom>
        </p:spPr>
      </p:pic>
      <p:sp>
        <p:nvSpPr>
          <p:cNvPr id="59" name="Text 49"/>
          <p:cNvSpPr/>
          <p:nvPr/>
        </p:nvSpPr>
        <p:spPr>
          <a:xfrm>
            <a:off x="4983480" y="4526280"/>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Admin Panel</a:t>
            </a:r>
            <a:endParaRPr lang="en-US" sz="1170" dirty="0"/>
          </a:p>
        </p:txBody>
      </p:sp>
      <p:sp>
        <p:nvSpPr>
          <p:cNvPr id="60" name="Text 50"/>
          <p:cNvSpPr/>
          <p:nvPr/>
        </p:nvSpPr>
        <p:spPr>
          <a:xfrm>
            <a:off x="4507992" y="5038344"/>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Users • doctors • branches • AI metrics</a:t>
            </a:r>
            <a:endParaRPr lang="en-US" sz="890" dirty="0"/>
          </a:p>
        </p:txBody>
      </p:sp>
      <p:sp>
        <p:nvSpPr>
          <p:cNvPr id="61" name="Shape 51"/>
          <p:cNvSpPr/>
          <p:nvPr/>
        </p:nvSpPr>
        <p:spPr>
          <a:xfrm>
            <a:off x="6729984" y="4489704"/>
            <a:ext cx="868680" cy="329184"/>
          </a:xfrm>
          <a:prstGeom prst="roundRect">
            <a:avLst>
              <a:gd name="adj" fmla="val 38889"/>
            </a:avLst>
          </a:prstGeom>
          <a:solidFill>
            <a:srgbClr val="FFF6E5"/>
          </a:solidFill>
          <a:ln w="12700">
            <a:solidFill>
              <a:srgbClr val="FFF6E5"/>
            </a:solidFill>
            <a:prstDash val="solid"/>
          </a:ln>
        </p:spPr>
      </p:sp>
      <p:sp>
        <p:nvSpPr>
          <p:cNvPr id="62" name="Text 52"/>
          <p:cNvSpPr/>
          <p:nvPr/>
        </p:nvSpPr>
        <p:spPr>
          <a:xfrm>
            <a:off x="6803136" y="4562856"/>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63" name="Shape 53"/>
          <p:cNvSpPr/>
          <p:nvPr/>
        </p:nvSpPr>
        <p:spPr>
          <a:xfrm>
            <a:off x="8147304" y="4352544"/>
            <a:ext cx="3520440" cy="1234440"/>
          </a:xfrm>
          <a:prstGeom prst="roundRect">
            <a:avLst>
              <a:gd name="adj" fmla="val 5926"/>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64" name="Shape 54"/>
          <p:cNvSpPr/>
          <p:nvPr/>
        </p:nvSpPr>
        <p:spPr>
          <a:xfrm>
            <a:off x="8311896" y="4517136"/>
            <a:ext cx="402336" cy="402336"/>
          </a:xfrm>
          <a:prstGeom prst="ellipse">
            <a:avLst/>
          </a:prstGeom>
          <a:solidFill>
            <a:srgbClr val="EAF2FF"/>
          </a:solidFill>
          <a:ln w="12700">
            <a:solidFill>
              <a:srgbClr val="EAF2FF"/>
            </a:solidFill>
            <a:prstDash val="solid"/>
          </a:ln>
        </p:spPr>
      </p:sp>
      <p:pic>
        <p:nvPicPr>
          <p:cNvPr id="6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12480" y="4617720"/>
            <a:ext cx="201168" cy="201168"/>
          </a:xfrm>
          <a:prstGeom prst="rect">
            <a:avLst/>
          </a:prstGeom>
        </p:spPr>
      </p:pic>
      <p:sp>
        <p:nvSpPr>
          <p:cNvPr id="66" name="Text 55"/>
          <p:cNvSpPr/>
          <p:nvPr/>
        </p:nvSpPr>
        <p:spPr>
          <a:xfrm>
            <a:off x="8805672" y="4526280"/>
            <a:ext cx="2697480" cy="310896"/>
          </a:xfrm>
          <a:prstGeom prst="rect">
            <a:avLst/>
          </a:prstGeom>
          <a:noFill/>
          <a:ln/>
        </p:spPr>
        <p:txBody>
          <a:bodyPr wrap="square" lIns="0" tIns="0" rIns="0" bIns="0" rtlCol="0" anchor="ctr">
            <a:normAutofit/>
          </a:bodyPr>
          <a:lstStyle/>
          <a:p>
            <a:pPr indent="0" marL="0">
              <a:buNone/>
            </a:pPr>
            <a:r>
              <a:rPr lang="en-US" sz="1170" b="1" dirty="0">
                <a:solidFill>
                  <a:srgbClr val="142A37"/>
                </a:solidFill>
                <a:latin typeface="Noto Sans" pitchFamily="34" charset="0"/>
                <a:ea typeface="Noto Sans" pitchFamily="34" charset="-122"/>
                <a:cs typeface="Noto Sans" pitchFamily="34" charset="-120"/>
              </a:rPr>
              <a:t>Appointment Calendar</a:t>
            </a:r>
            <a:endParaRPr lang="en-US" sz="1170" dirty="0"/>
          </a:p>
        </p:txBody>
      </p:sp>
      <p:sp>
        <p:nvSpPr>
          <p:cNvPr id="67" name="Text 56"/>
          <p:cNvSpPr/>
          <p:nvPr/>
        </p:nvSpPr>
        <p:spPr>
          <a:xfrm>
            <a:off x="8330184" y="5038344"/>
            <a:ext cx="3154680" cy="393192"/>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Booking + follow-up</a:t>
            </a:r>
            <a:endParaRPr lang="en-US" sz="890" dirty="0"/>
          </a:p>
        </p:txBody>
      </p:sp>
      <p:sp>
        <p:nvSpPr>
          <p:cNvPr id="68" name="Shape 57"/>
          <p:cNvSpPr/>
          <p:nvPr/>
        </p:nvSpPr>
        <p:spPr>
          <a:xfrm>
            <a:off x="10552176" y="4489704"/>
            <a:ext cx="868680" cy="329184"/>
          </a:xfrm>
          <a:prstGeom prst="roundRect">
            <a:avLst>
              <a:gd name="adj" fmla="val 38889"/>
            </a:avLst>
          </a:prstGeom>
          <a:solidFill>
            <a:srgbClr val="EAF2FF"/>
          </a:solidFill>
          <a:ln w="12700">
            <a:solidFill>
              <a:srgbClr val="EAF2FF"/>
            </a:solidFill>
            <a:prstDash val="solid"/>
          </a:ln>
        </p:spPr>
      </p:sp>
      <p:sp>
        <p:nvSpPr>
          <p:cNvPr id="69" name="Text 58"/>
          <p:cNvSpPr/>
          <p:nvPr/>
        </p:nvSpPr>
        <p:spPr>
          <a:xfrm>
            <a:off x="10625328" y="4562856"/>
            <a:ext cx="72237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MEDIUM</a:t>
            </a:r>
            <a:endParaRPr lang="en-US" sz="87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AI / ML Lifecycle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Machine learning is the core analytical layer; the chatbot is a separate support capability.</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AI/ML</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716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667512" y="1536192"/>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36776"/>
            <a:ext cx="201168" cy="201168"/>
          </a:xfrm>
          <a:prstGeom prst="rect">
            <a:avLst/>
          </a:prstGeom>
        </p:spPr>
      </p:pic>
      <p:sp>
        <p:nvSpPr>
          <p:cNvPr id="10" name="Text 7"/>
          <p:cNvSpPr/>
          <p:nvPr/>
        </p:nvSpPr>
        <p:spPr>
          <a:xfrm>
            <a:off x="1161288"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Clinical question</a:t>
            </a:r>
            <a:endParaRPr lang="en-US" sz="1180" dirty="0"/>
          </a:p>
        </p:txBody>
      </p:sp>
      <p:sp>
        <p:nvSpPr>
          <p:cNvPr id="11" name="Text 8"/>
          <p:cNvSpPr/>
          <p:nvPr/>
        </p:nvSpPr>
        <p:spPr>
          <a:xfrm>
            <a:off x="685800" y="20574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Define one clear question for each module</a:t>
            </a:r>
            <a:endParaRPr lang="en-US" sz="930" dirty="0"/>
          </a:p>
        </p:txBody>
      </p:sp>
      <p:sp>
        <p:nvSpPr>
          <p:cNvPr id="12" name="Shape 9"/>
          <p:cNvSpPr/>
          <p:nvPr/>
        </p:nvSpPr>
        <p:spPr>
          <a:xfrm>
            <a:off x="3026664" y="2121408"/>
            <a:ext cx="274320" cy="0"/>
          </a:xfrm>
          <a:prstGeom prst="line">
            <a:avLst/>
          </a:prstGeom>
          <a:noFill/>
          <a:ln w="14605">
            <a:solidFill>
              <a:srgbClr val="DDE7EA"/>
            </a:solidFill>
            <a:prstDash val="solid"/>
            <a:headEnd type="none"/>
            <a:tailEnd type="triangle"/>
          </a:ln>
        </p:spPr>
      </p:sp>
      <p:sp>
        <p:nvSpPr>
          <p:cNvPr id="13" name="Shape 10"/>
          <p:cNvSpPr/>
          <p:nvPr/>
        </p:nvSpPr>
        <p:spPr>
          <a:xfrm>
            <a:off x="3355848" y="13716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4" name="Shape 11"/>
          <p:cNvSpPr/>
          <p:nvPr/>
        </p:nvSpPr>
        <p:spPr>
          <a:xfrm>
            <a:off x="3520440" y="1536192"/>
            <a:ext cx="402336" cy="402336"/>
          </a:xfrm>
          <a:prstGeom prst="ellipse">
            <a:avLst/>
          </a:prstGeom>
          <a:solidFill>
            <a:srgbClr val="EAF2FF"/>
          </a:solidFill>
          <a:ln w="12700">
            <a:solidFill>
              <a:srgbClr val="EAF2FF"/>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21024" y="1636776"/>
            <a:ext cx="201168" cy="201168"/>
          </a:xfrm>
          <a:prstGeom prst="rect">
            <a:avLst/>
          </a:prstGeom>
        </p:spPr>
      </p:pic>
      <p:sp>
        <p:nvSpPr>
          <p:cNvPr id="16" name="Text 12"/>
          <p:cNvSpPr/>
          <p:nvPr/>
        </p:nvSpPr>
        <p:spPr>
          <a:xfrm>
            <a:off x="4014216"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Dataset</a:t>
            </a:r>
            <a:endParaRPr lang="en-US" sz="1180" dirty="0"/>
          </a:p>
        </p:txBody>
      </p:sp>
      <p:sp>
        <p:nvSpPr>
          <p:cNvPr id="17" name="Text 13"/>
          <p:cNvSpPr/>
          <p:nvPr/>
        </p:nvSpPr>
        <p:spPr>
          <a:xfrm>
            <a:off x="3538728" y="20574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Define source, features, labels and licensing</a:t>
            </a:r>
            <a:endParaRPr lang="en-US" sz="930" dirty="0"/>
          </a:p>
        </p:txBody>
      </p:sp>
      <p:sp>
        <p:nvSpPr>
          <p:cNvPr id="18" name="Shape 14"/>
          <p:cNvSpPr/>
          <p:nvPr/>
        </p:nvSpPr>
        <p:spPr>
          <a:xfrm>
            <a:off x="5879592" y="2121408"/>
            <a:ext cx="274320" cy="0"/>
          </a:xfrm>
          <a:prstGeom prst="line">
            <a:avLst/>
          </a:prstGeom>
          <a:noFill/>
          <a:ln w="14605">
            <a:solidFill>
              <a:srgbClr val="DDE7EA"/>
            </a:solidFill>
            <a:prstDash val="solid"/>
            <a:headEnd type="none"/>
            <a:tailEnd type="triangle"/>
          </a:ln>
        </p:spPr>
      </p:sp>
      <p:sp>
        <p:nvSpPr>
          <p:cNvPr id="19" name="Shape 15"/>
          <p:cNvSpPr/>
          <p:nvPr/>
        </p:nvSpPr>
        <p:spPr>
          <a:xfrm>
            <a:off x="6208776" y="13716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0" name="Shape 16"/>
          <p:cNvSpPr/>
          <p:nvPr/>
        </p:nvSpPr>
        <p:spPr>
          <a:xfrm>
            <a:off x="6373368" y="1536192"/>
            <a:ext cx="402336" cy="402336"/>
          </a:xfrm>
          <a:prstGeom prst="ellipse">
            <a:avLst/>
          </a:prstGeom>
          <a:solidFill>
            <a:srgbClr val="EAF2FF"/>
          </a:solidFill>
          <a:ln w="12700">
            <a:solidFill>
              <a:srgbClr val="EAF2FF"/>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73952" y="1636776"/>
            <a:ext cx="201168" cy="201168"/>
          </a:xfrm>
          <a:prstGeom prst="rect">
            <a:avLst/>
          </a:prstGeom>
        </p:spPr>
      </p:pic>
      <p:sp>
        <p:nvSpPr>
          <p:cNvPr id="22" name="Text 17"/>
          <p:cNvSpPr/>
          <p:nvPr/>
        </p:nvSpPr>
        <p:spPr>
          <a:xfrm>
            <a:off x="6867144"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Data prep</a:t>
            </a:r>
            <a:endParaRPr lang="en-US" sz="1180" dirty="0"/>
          </a:p>
        </p:txBody>
      </p:sp>
      <p:sp>
        <p:nvSpPr>
          <p:cNvPr id="23" name="Text 18"/>
          <p:cNvSpPr/>
          <p:nvPr/>
        </p:nvSpPr>
        <p:spPr>
          <a:xfrm>
            <a:off x="6391656" y="20574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Clean + Train / Validation / Test without leakage</a:t>
            </a:r>
            <a:endParaRPr lang="en-US" sz="930" dirty="0"/>
          </a:p>
        </p:txBody>
      </p:sp>
      <p:sp>
        <p:nvSpPr>
          <p:cNvPr id="24" name="Shape 19"/>
          <p:cNvSpPr/>
          <p:nvPr/>
        </p:nvSpPr>
        <p:spPr>
          <a:xfrm>
            <a:off x="8732520" y="2121408"/>
            <a:ext cx="274320" cy="0"/>
          </a:xfrm>
          <a:prstGeom prst="line">
            <a:avLst/>
          </a:prstGeom>
          <a:noFill/>
          <a:ln w="14605">
            <a:solidFill>
              <a:srgbClr val="DDE7EA"/>
            </a:solidFill>
            <a:prstDash val="solid"/>
            <a:headEnd type="none"/>
            <a:tailEnd type="triangle"/>
          </a:ln>
        </p:spPr>
      </p:sp>
      <p:sp>
        <p:nvSpPr>
          <p:cNvPr id="25" name="Shape 20"/>
          <p:cNvSpPr/>
          <p:nvPr/>
        </p:nvSpPr>
        <p:spPr>
          <a:xfrm>
            <a:off x="9061704" y="13716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6" name="Shape 21"/>
          <p:cNvSpPr/>
          <p:nvPr/>
        </p:nvSpPr>
        <p:spPr>
          <a:xfrm>
            <a:off x="9226296" y="1536192"/>
            <a:ext cx="402336" cy="402336"/>
          </a:xfrm>
          <a:prstGeom prst="ellipse">
            <a:avLst/>
          </a:prstGeom>
          <a:solidFill>
            <a:srgbClr val="EAF2FF"/>
          </a:solidFill>
          <a:ln w="12700">
            <a:solidFill>
              <a:srgbClr val="EAF2FF"/>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26880" y="1636776"/>
            <a:ext cx="201168" cy="201168"/>
          </a:xfrm>
          <a:prstGeom prst="rect">
            <a:avLst/>
          </a:prstGeom>
        </p:spPr>
      </p:pic>
      <p:sp>
        <p:nvSpPr>
          <p:cNvPr id="28" name="Text 22"/>
          <p:cNvSpPr/>
          <p:nvPr/>
        </p:nvSpPr>
        <p:spPr>
          <a:xfrm>
            <a:off x="9720072" y="15453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Baselines</a:t>
            </a:r>
            <a:endParaRPr lang="en-US" sz="1180" dirty="0"/>
          </a:p>
        </p:txBody>
      </p:sp>
      <p:sp>
        <p:nvSpPr>
          <p:cNvPr id="29" name="Text 23"/>
          <p:cNvSpPr/>
          <p:nvPr/>
        </p:nvSpPr>
        <p:spPr>
          <a:xfrm>
            <a:off x="9244584" y="20574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Train several models</a:t>
            </a:r>
            <a:endParaRPr lang="en-US" sz="930" dirty="0"/>
          </a:p>
        </p:txBody>
      </p:sp>
      <p:sp>
        <p:nvSpPr>
          <p:cNvPr id="30" name="Shape 24"/>
          <p:cNvSpPr/>
          <p:nvPr/>
        </p:nvSpPr>
        <p:spPr>
          <a:xfrm>
            <a:off x="502920" y="34290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1" name="Shape 25"/>
          <p:cNvSpPr/>
          <p:nvPr/>
        </p:nvSpPr>
        <p:spPr>
          <a:xfrm>
            <a:off x="667512" y="3593592"/>
            <a:ext cx="402336" cy="402336"/>
          </a:xfrm>
          <a:prstGeom prst="ellipse">
            <a:avLst/>
          </a:prstGeom>
          <a:solidFill>
            <a:srgbClr val="FFF6E5"/>
          </a:solidFill>
          <a:ln w="12700">
            <a:solidFill>
              <a:srgbClr val="FFF6E5"/>
            </a:solidFill>
            <a:prstDash val="solid"/>
          </a:ln>
        </p:spPr>
      </p:sp>
      <p:pic>
        <p:nvPicPr>
          <p:cNvPr id="3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096" y="3694176"/>
            <a:ext cx="201168" cy="201168"/>
          </a:xfrm>
          <a:prstGeom prst="rect">
            <a:avLst/>
          </a:prstGeom>
        </p:spPr>
      </p:pic>
      <p:sp>
        <p:nvSpPr>
          <p:cNvPr id="33" name="Text 26"/>
          <p:cNvSpPr/>
          <p:nvPr/>
        </p:nvSpPr>
        <p:spPr>
          <a:xfrm>
            <a:off x="1161288" y="36027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Evaluation</a:t>
            </a:r>
            <a:endParaRPr lang="en-US" sz="1180" dirty="0"/>
          </a:p>
        </p:txBody>
      </p:sp>
      <p:sp>
        <p:nvSpPr>
          <p:cNvPr id="34" name="Text 27"/>
          <p:cNvSpPr/>
          <p:nvPr/>
        </p:nvSpPr>
        <p:spPr>
          <a:xfrm>
            <a:off x="685800" y="41148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Choose metrics that match medical risk</a:t>
            </a:r>
            <a:endParaRPr lang="en-US" sz="930" dirty="0"/>
          </a:p>
        </p:txBody>
      </p:sp>
      <p:sp>
        <p:nvSpPr>
          <p:cNvPr id="35" name="Shape 28"/>
          <p:cNvSpPr/>
          <p:nvPr/>
        </p:nvSpPr>
        <p:spPr>
          <a:xfrm>
            <a:off x="3026664" y="4178808"/>
            <a:ext cx="274320" cy="0"/>
          </a:xfrm>
          <a:prstGeom prst="line">
            <a:avLst/>
          </a:prstGeom>
          <a:noFill/>
          <a:ln w="14605">
            <a:solidFill>
              <a:srgbClr val="DDE7EA"/>
            </a:solidFill>
            <a:prstDash val="solid"/>
            <a:headEnd type="none"/>
            <a:tailEnd type="triangle"/>
          </a:ln>
        </p:spPr>
      </p:sp>
      <p:sp>
        <p:nvSpPr>
          <p:cNvPr id="36" name="Shape 29"/>
          <p:cNvSpPr/>
          <p:nvPr/>
        </p:nvSpPr>
        <p:spPr>
          <a:xfrm>
            <a:off x="3355848" y="34290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7" name="Shape 30"/>
          <p:cNvSpPr/>
          <p:nvPr/>
        </p:nvSpPr>
        <p:spPr>
          <a:xfrm>
            <a:off x="3520440" y="3593592"/>
            <a:ext cx="402336" cy="402336"/>
          </a:xfrm>
          <a:prstGeom prst="ellipse">
            <a:avLst/>
          </a:prstGeom>
          <a:solidFill>
            <a:srgbClr val="FDECEF"/>
          </a:solidFill>
          <a:ln w="12700">
            <a:solidFill>
              <a:srgbClr val="FDECEF"/>
            </a:solidFill>
            <a:prstDash val="solid"/>
          </a:ln>
        </p:spPr>
      </p:sp>
      <p:pic>
        <p:nvPicPr>
          <p:cNvPr id="3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21024" y="3694176"/>
            <a:ext cx="201168" cy="201168"/>
          </a:xfrm>
          <a:prstGeom prst="rect">
            <a:avLst/>
          </a:prstGeom>
        </p:spPr>
      </p:pic>
      <p:sp>
        <p:nvSpPr>
          <p:cNvPr id="39" name="Text 31"/>
          <p:cNvSpPr/>
          <p:nvPr/>
        </p:nvSpPr>
        <p:spPr>
          <a:xfrm>
            <a:off x="4014216" y="36027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Thresholds</a:t>
            </a:r>
            <a:endParaRPr lang="en-US" sz="1180" dirty="0"/>
          </a:p>
        </p:txBody>
      </p:sp>
      <p:sp>
        <p:nvSpPr>
          <p:cNvPr id="40" name="Text 32"/>
          <p:cNvSpPr/>
          <p:nvPr/>
        </p:nvSpPr>
        <p:spPr>
          <a:xfrm>
            <a:off x="3538728" y="41148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Tune risk thresholds + error analysis</a:t>
            </a:r>
            <a:endParaRPr lang="en-US" sz="930" dirty="0"/>
          </a:p>
        </p:txBody>
      </p:sp>
      <p:sp>
        <p:nvSpPr>
          <p:cNvPr id="41" name="Shape 33"/>
          <p:cNvSpPr/>
          <p:nvPr/>
        </p:nvSpPr>
        <p:spPr>
          <a:xfrm>
            <a:off x="5879592" y="4178808"/>
            <a:ext cx="274320" cy="0"/>
          </a:xfrm>
          <a:prstGeom prst="line">
            <a:avLst/>
          </a:prstGeom>
          <a:noFill/>
          <a:ln w="14605">
            <a:solidFill>
              <a:srgbClr val="DDE7EA"/>
            </a:solidFill>
            <a:prstDash val="solid"/>
            <a:headEnd type="none"/>
            <a:tailEnd type="triangle"/>
          </a:ln>
        </p:spPr>
      </p:sp>
      <p:sp>
        <p:nvSpPr>
          <p:cNvPr id="42" name="Shape 34"/>
          <p:cNvSpPr/>
          <p:nvPr/>
        </p:nvSpPr>
        <p:spPr>
          <a:xfrm>
            <a:off x="6208776" y="34290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5"/>
          <p:cNvSpPr/>
          <p:nvPr/>
        </p:nvSpPr>
        <p:spPr>
          <a:xfrm>
            <a:off x="6373368" y="3593592"/>
            <a:ext cx="402336" cy="402336"/>
          </a:xfrm>
          <a:prstGeom prst="ellipse">
            <a:avLst/>
          </a:prstGeom>
          <a:solidFill>
            <a:srgbClr val="EAF2FF"/>
          </a:solidFill>
          <a:ln w="12700">
            <a:solidFill>
              <a:srgbClr val="EAF2FF"/>
            </a:solidFill>
            <a:prstDash val="solid"/>
          </a:ln>
        </p:spPr>
      </p:sp>
      <p:pic>
        <p:nvPicPr>
          <p:cNvPr id="4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3952" y="3694176"/>
            <a:ext cx="201168" cy="201168"/>
          </a:xfrm>
          <a:prstGeom prst="rect">
            <a:avLst/>
          </a:prstGeom>
        </p:spPr>
      </p:pic>
      <p:sp>
        <p:nvSpPr>
          <p:cNvPr id="45" name="Text 36"/>
          <p:cNvSpPr/>
          <p:nvPr/>
        </p:nvSpPr>
        <p:spPr>
          <a:xfrm>
            <a:off x="6867144" y="36027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Governance</a:t>
            </a:r>
            <a:endParaRPr lang="en-US" sz="1180" dirty="0"/>
          </a:p>
        </p:txBody>
      </p:sp>
      <p:sp>
        <p:nvSpPr>
          <p:cNvPr id="46" name="Text 37"/>
          <p:cNvSpPr/>
          <p:nvPr/>
        </p:nvSpPr>
        <p:spPr>
          <a:xfrm>
            <a:off x="6391656" y="41148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Model versioning + validation report + monitoring</a:t>
            </a:r>
            <a:endParaRPr lang="en-US" sz="930" dirty="0"/>
          </a:p>
        </p:txBody>
      </p:sp>
      <p:sp>
        <p:nvSpPr>
          <p:cNvPr id="47" name="Shape 38"/>
          <p:cNvSpPr/>
          <p:nvPr/>
        </p:nvSpPr>
        <p:spPr>
          <a:xfrm>
            <a:off x="8732520" y="4178808"/>
            <a:ext cx="274320" cy="0"/>
          </a:xfrm>
          <a:prstGeom prst="line">
            <a:avLst/>
          </a:prstGeom>
          <a:noFill/>
          <a:ln w="14605">
            <a:solidFill>
              <a:srgbClr val="DDE7EA"/>
            </a:solidFill>
            <a:prstDash val="solid"/>
            <a:headEnd type="none"/>
            <a:tailEnd type="triangle"/>
          </a:ln>
        </p:spPr>
      </p:sp>
      <p:sp>
        <p:nvSpPr>
          <p:cNvPr id="48" name="Shape 39"/>
          <p:cNvSpPr/>
          <p:nvPr/>
        </p:nvSpPr>
        <p:spPr>
          <a:xfrm>
            <a:off x="9061704" y="3429000"/>
            <a:ext cx="2514600" cy="1572768"/>
          </a:xfrm>
          <a:prstGeom prst="roundRect">
            <a:avLst>
              <a:gd name="adj" fmla="val 465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9" name="Shape 40"/>
          <p:cNvSpPr/>
          <p:nvPr/>
        </p:nvSpPr>
        <p:spPr>
          <a:xfrm>
            <a:off x="9226296" y="3593592"/>
            <a:ext cx="402336" cy="402336"/>
          </a:xfrm>
          <a:prstGeom prst="ellipse">
            <a:avLst/>
          </a:prstGeom>
          <a:solidFill>
            <a:srgbClr val="E8F8F4"/>
          </a:solidFill>
          <a:ln w="12700">
            <a:solidFill>
              <a:srgbClr val="E8F8F4"/>
            </a:solidFill>
            <a:prstDash val="solid"/>
          </a:ln>
        </p:spPr>
      </p:sp>
      <p:pic>
        <p:nvPicPr>
          <p:cNvPr id="5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26880" y="3694176"/>
            <a:ext cx="201168" cy="201168"/>
          </a:xfrm>
          <a:prstGeom prst="rect">
            <a:avLst/>
          </a:prstGeom>
        </p:spPr>
      </p:pic>
      <p:sp>
        <p:nvSpPr>
          <p:cNvPr id="51" name="Text 41"/>
          <p:cNvSpPr/>
          <p:nvPr/>
        </p:nvSpPr>
        <p:spPr>
          <a:xfrm>
            <a:off x="9720072" y="3602736"/>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Update</a:t>
            </a:r>
            <a:endParaRPr lang="en-US" sz="1180" dirty="0"/>
          </a:p>
        </p:txBody>
      </p:sp>
      <p:sp>
        <p:nvSpPr>
          <p:cNvPr id="52" name="Text 42"/>
          <p:cNvSpPr/>
          <p:nvPr/>
        </p:nvSpPr>
        <p:spPr>
          <a:xfrm>
            <a:off x="9244584" y="4114800"/>
            <a:ext cx="2148840" cy="731520"/>
          </a:xfrm>
          <a:prstGeom prst="rect">
            <a:avLst/>
          </a:prstGeom>
          <a:noFill/>
          <a:ln/>
        </p:spPr>
        <p:txBody>
          <a:bodyPr wrap="square" lIns="254" tIns="254" rIns="254" bIns="254" rtlCol="0" anchor="t">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Keep previous version + change log</a:t>
            </a:r>
            <a:endParaRPr lang="en-US" sz="930" dirty="0"/>
          </a:p>
        </p:txBody>
      </p:sp>
      <p:sp>
        <p:nvSpPr>
          <p:cNvPr id="53" name="Shape 43"/>
          <p:cNvSpPr/>
          <p:nvPr/>
        </p:nvSpPr>
        <p:spPr>
          <a:xfrm>
            <a:off x="822960" y="5559552"/>
            <a:ext cx="1645920" cy="329184"/>
          </a:xfrm>
          <a:prstGeom prst="roundRect">
            <a:avLst>
              <a:gd name="adj" fmla="val 38889"/>
            </a:avLst>
          </a:prstGeom>
          <a:solidFill>
            <a:srgbClr val="F0EFFF"/>
          </a:solidFill>
          <a:ln w="12700">
            <a:solidFill>
              <a:srgbClr val="F0EFFF"/>
            </a:solidFill>
            <a:prstDash val="solid"/>
          </a:ln>
        </p:spPr>
      </p:sp>
      <p:sp>
        <p:nvSpPr>
          <p:cNvPr id="54" name="Text 44"/>
          <p:cNvSpPr/>
          <p:nvPr/>
        </p:nvSpPr>
        <p:spPr>
          <a:xfrm>
            <a:off x="896112" y="5632704"/>
            <a:ext cx="1499616" cy="146304"/>
          </a:xfrm>
          <a:prstGeom prst="rect">
            <a:avLst/>
          </a:prstGeom>
          <a:noFill/>
          <a:ln/>
        </p:spPr>
        <p:txBody>
          <a:bodyPr wrap="square" lIns="0" tIns="0" rIns="0" bIns="0" rtlCol="0" anchor="ctr">
            <a:normAutofit/>
          </a:bodyPr>
          <a:lstStyle/>
          <a:p>
            <a:pPr algn="ctr" indent="0" marL="0">
              <a:buNone/>
            </a:pPr>
            <a:r>
              <a:rPr lang="en-US" sz="870" b="1" dirty="0">
                <a:solidFill>
                  <a:srgbClr val="6C63FF"/>
                </a:solidFill>
                <a:latin typeface="Noto Sans" pitchFamily="34" charset="0"/>
                <a:ea typeface="Noto Sans" pitchFamily="34" charset="-122"/>
                <a:cs typeface="Noto Sans" pitchFamily="34" charset="-120"/>
              </a:rPr>
              <a:t>Chatbot = separate</a:t>
            </a:r>
            <a:endParaRPr lang="en-US" sz="870" dirty="0"/>
          </a:p>
        </p:txBody>
      </p:sp>
      <p:sp>
        <p:nvSpPr>
          <p:cNvPr id="55" name="Text 45"/>
          <p:cNvSpPr/>
          <p:nvPr/>
        </p:nvSpPr>
        <p:spPr>
          <a:xfrm>
            <a:off x="2651760" y="5577840"/>
            <a:ext cx="8046720" cy="219456"/>
          </a:xfrm>
          <a:prstGeom prst="rect">
            <a:avLst/>
          </a:prstGeom>
          <a:noFill/>
          <a:ln/>
        </p:spPr>
        <p:txBody>
          <a:bodyPr wrap="square" lIns="0" tIns="0" rIns="0" bIns="0" rtlCol="0" anchor="ctr">
            <a:normAutofit/>
          </a:bodyPr>
          <a:lstStyle/>
          <a:p>
            <a:pPr indent="0" marL="0">
              <a:buNone/>
            </a:pPr>
            <a:r>
              <a:rPr lang="en-US" sz="1000" b="1" dirty="0">
                <a:solidFill>
                  <a:srgbClr val="5F7180"/>
                </a:solidFill>
                <a:latin typeface="Noto Sans" pitchFamily="34" charset="0"/>
                <a:ea typeface="Noto Sans" pitchFamily="34" charset="-122"/>
                <a:cs typeface="Noto Sans" pitchFamily="34" charset="-120"/>
              </a:rPr>
              <a:t>Free-form conversation should not be the sole basis for medical risk decisions.</a:t>
            </a:r>
            <a:endParaRPr lang="en-US" sz="100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Model Validation &amp; Safety Metrics</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PRD explicitly warns against using “accuracy” as the only model quality indicator.</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SAFETY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40080" y="1463040"/>
            <a:ext cx="3429000" cy="1024128"/>
          </a:xfrm>
          <a:prstGeom prst="roundRect">
            <a:avLst>
              <a:gd name="adj" fmla="val 7143"/>
            </a:avLst>
          </a:prstGeom>
          <a:solidFill>
            <a:srgbClr val="FFFFFF"/>
          </a:solidFill>
          <a:ln w="12700">
            <a:solidFill>
              <a:srgbClr val="DDE7EA"/>
            </a:solidFill>
            <a:prstDash val="solid"/>
          </a:ln>
        </p:spPr>
      </p:sp>
      <p:sp>
        <p:nvSpPr>
          <p:cNvPr id="8" name="Text 6"/>
          <p:cNvSpPr/>
          <p:nvPr/>
        </p:nvSpPr>
        <p:spPr>
          <a:xfrm>
            <a:off x="777240" y="161848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E65B66"/>
                </a:solidFill>
                <a:latin typeface="Noto Sans" pitchFamily="34" charset="0"/>
                <a:ea typeface="Noto Sans" pitchFamily="34" charset="-122"/>
                <a:cs typeface="Noto Sans" pitchFamily="34" charset="-120"/>
              </a:rPr>
              <a:t>Metric</a:t>
            </a:r>
            <a:endParaRPr lang="en-US" sz="2200" dirty="0"/>
          </a:p>
        </p:txBody>
      </p:sp>
      <p:sp>
        <p:nvSpPr>
          <p:cNvPr id="9" name="Text 7"/>
          <p:cNvSpPr/>
          <p:nvPr/>
        </p:nvSpPr>
        <p:spPr>
          <a:xfrm>
            <a:off x="749808" y="201168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Sensitivity / Recall</a:t>
            </a:r>
            <a:endParaRPr lang="en-US" sz="950" dirty="0"/>
          </a:p>
        </p:txBody>
      </p:sp>
      <p:sp>
        <p:nvSpPr>
          <p:cNvPr id="10" name="Text 8"/>
          <p:cNvSpPr/>
          <p:nvPr/>
        </p:nvSpPr>
        <p:spPr>
          <a:xfrm>
            <a:off x="749808" y="223113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Especially important where false negatives are dangerous</a:t>
            </a:r>
            <a:endParaRPr lang="en-US" sz="790" dirty="0"/>
          </a:p>
        </p:txBody>
      </p:sp>
      <p:sp>
        <p:nvSpPr>
          <p:cNvPr id="11" name="Shape 9"/>
          <p:cNvSpPr/>
          <p:nvPr/>
        </p:nvSpPr>
        <p:spPr>
          <a:xfrm>
            <a:off x="4434840" y="1463040"/>
            <a:ext cx="3429000" cy="1024128"/>
          </a:xfrm>
          <a:prstGeom prst="roundRect">
            <a:avLst>
              <a:gd name="adj" fmla="val 7143"/>
            </a:avLst>
          </a:prstGeom>
          <a:solidFill>
            <a:srgbClr val="FFFFFF"/>
          </a:solidFill>
          <a:ln w="12700">
            <a:solidFill>
              <a:srgbClr val="DDE7EA"/>
            </a:solidFill>
            <a:prstDash val="solid"/>
          </a:ln>
        </p:spPr>
      </p:sp>
      <p:sp>
        <p:nvSpPr>
          <p:cNvPr id="12" name="Text 10"/>
          <p:cNvSpPr/>
          <p:nvPr/>
        </p:nvSpPr>
        <p:spPr>
          <a:xfrm>
            <a:off x="4572000" y="161848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12B8A6"/>
                </a:solidFill>
                <a:latin typeface="Noto Sans" pitchFamily="34" charset="0"/>
                <a:ea typeface="Noto Sans" pitchFamily="34" charset="-122"/>
                <a:cs typeface="Noto Sans" pitchFamily="34" charset="-120"/>
              </a:rPr>
              <a:t>Metric</a:t>
            </a:r>
            <a:endParaRPr lang="en-US" sz="2200" dirty="0"/>
          </a:p>
        </p:txBody>
      </p:sp>
      <p:sp>
        <p:nvSpPr>
          <p:cNvPr id="13" name="Text 11"/>
          <p:cNvSpPr/>
          <p:nvPr/>
        </p:nvSpPr>
        <p:spPr>
          <a:xfrm>
            <a:off x="4544568" y="201168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Specificity</a:t>
            </a:r>
            <a:endParaRPr lang="en-US" sz="950" dirty="0"/>
          </a:p>
        </p:txBody>
      </p:sp>
      <p:sp>
        <p:nvSpPr>
          <p:cNvPr id="14" name="Text 12"/>
          <p:cNvSpPr/>
          <p:nvPr/>
        </p:nvSpPr>
        <p:spPr>
          <a:xfrm>
            <a:off x="4544568" y="223113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Measures correct exclusion / negative classification</a:t>
            </a:r>
            <a:endParaRPr lang="en-US" sz="790" dirty="0"/>
          </a:p>
        </p:txBody>
      </p:sp>
      <p:sp>
        <p:nvSpPr>
          <p:cNvPr id="15" name="Shape 13"/>
          <p:cNvSpPr/>
          <p:nvPr/>
        </p:nvSpPr>
        <p:spPr>
          <a:xfrm>
            <a:off x="8229600" y="1463040"/>
            <a:ext cx="3429000" cy="1024128"/>
          </a:xfrm>
          <a:prstGeom prst="roundRect">
            <a:avLst>
              <a:gd name="adj" fmla="val 7143"/>
            </a:avLst>
          </a:prstGeom>
          <a:solidFill>
            <a:srgbClr val="FFFFFF"/>
          </a:solidFill>
          <a:ln w="12700">
            <a:solidFill>
              <a:srgbClr val="DDE7EA"/>
            </a:solidFill>
            <a:prstDash val="solid"/>
          </a:ln>
        </p:spPr>
      </p:sp>
      <p:sp>
        <p:nvSpPr>
          <p:cNvPr id="16" name="Text 14"/>
          <p:cNvSpPr/>
          <p:nvPr/>
        </p:nvSpPr>
        <p:spPr>
          <a:xfrm>
            <a:off x="8366760" y="161848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2F80ED"/>
                </a:solidFill>
                <a:latin typeface="Noto Sans" pitchFamily="34" charset="0"/>
                <a:ea typeface="Noto Sans" pitchFamily="34" charset="-122"/>
                <a:cs typeface="Noto Sans" pitchFamily="34" charset="-120"/>
              </a:rPr>
              <a:t>Metric</a:t>
            </a:r>
            <a:endParaRPr lang="en-US" sz="2200" dirty="0"/>
          </a:p>
        </p:txBody>
      </p:sp>
      <p:sp>
        <p:nvSpPr>
          <p:cNvPr id="17" name="Text 15"/>
          <p:cNvSpPr/>
          <p:nvPr/>
        </p:nvSpPr>
        <p:spPr>
          <a:xfrm>
            <a:off x="8339328" y="201168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Precision</a:t>
            </a:r>
            <a:endParaRPr lang="en-US" sz="950" dirty="0"/>
          </a:p>
        </p:txBody>
      </p:sp>
      <p:sp>
        <p:nvSpPr>
          <p:cNvPr id="18" name="Text 16"/>
          <p:cNvSpPr/>
          <p:nvPr/>
        </p:nvSpPr>
        <p:spPr>
          <a:xfrm>
            <a:off x="8339328" y="223113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How trustworthy positive flags are</a:t>
            </a:r>
            <a:endParaRPr lang="en-US" sz="790" dirty="0"/>
          </a:p>
        </p:txBody>
      </p:sp>
      <p:sp>
        <p:nvSpPr>
          <p:cNvPr id="19" name="Shape 17"/>
          <p:cNvSpPr/>
          <p:nvPr/>
        </p:nvSpPr>
        <p:spPr>
          <a:xfrm>
            <a:off x="640080" y="2971800"/>
            <a:ext cx="3429000" cy="1024128"/>
          </a:xfrm>
          <a:prstGeom prst="roundRect">
            <a:avLst>
              <a:gd name="adj" fmla="val 7143"/>
            </a:avLst>
          </a:prstGeom>
          <a:solidFill>
            <a:srgbClr val="FFFFFF"/>
          </a:solidFill>
          <a:ln w="12700">
            <a:solidFill>
              <a:srgbClr val="DDE7EA"/>
            </a:solidFill>
            <a:prstDash val="solid"/>
          </a:ln>
        </p:spPr>
      </p:sp>
      <p:sp>
        <p:nvSpPr>
          <p:cNvPr id="20" name="Text 18"/>
          <p:cNvSpPr/>
          <p:nvPr/>
        </p:nvSpPr>
        <p:spPr>
          <a:xfrm>
            <a:off x="777240" y="312724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6C63FF"/>
                </a:solidFill>
                <a:latin typeface="Noto Sans" pitchFamily="34" charset="0"/>
                <a:ea typeface="Noto Sans" pitchFamily="34" charset="-122"/>
                <a:cs typeface="Noto Sans" pitchFamily="34" charset="-120"/>
              </a:rPr>
              <a:t>Metric</a:t>
            </a:r>
            <a:endParaRPr lang="en-US" sz="2200" dirty="0"/>
          </a:p>
        </p:txBody>
      </p:sp>
      <p:sp>
        <p:nvSpPr>
          <p:cNvPr id="21" name="Text 19"/>
          <p:cNvSpPr/>
          <p:nvPr/>
        </p:nvSpPr>
        <p:spPr>
          <a:xfrm>
            <a:off x="749808" y="352044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F1</a:t>
            </a:r>
            <a:endParaRPr lang="en-US" sz="950" dirty="0"/>
          </a:p>
        </p:txBody>
      </p:sp>
      <p:sp>
        <p:nvSpPr>
          <p:cNvPr id="22" name="Text 20"/>
          <p:cNvSpPr/>
          <p:nvPr/>
        </p:nvSpPr>
        <p:spPr>
          <a:xfrm>
            <a:off x="749808" y="373989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Balance of precision and recall</a:t>
            </a:r>
            <a:endParaRPr lang="en-US" sz="790" dirty="0"/>
          </a:p>
        </p:txBody>
      </p:sp>
      <p:sp>
        <p:nvSpPr>
          <p:cNvPr id="23" name="Shape 21"/>
          <p:cNvSpPr/>
          <p:nvPr/>
        </p:nvSpPr>
        <p:spPr>
          <a:xfrm>
            <a:off x="4434840" y="2971800"/>
            <a:ext cx="3429000" cy="1024128"/>
          </a:xfrm>
          <a:prstGeom prst="roundRect">
            <a:avLst>
              <a:gd name="adj" fmla="val 7143"/>
            </a:avLst>
          </a:prstGeom>
          <a:solidFill>
            <a:srgbClr val="FFFFFF"/>
          </a:solidFill>
          <a:ln w="12700">
            <a:solidFill>
              <a:srgbClr val="DDE7EA"/>
            </a:solidFill>
            <a:prstDash val="solid"/>
          </a:ln>
        </p:spPr>
      </p:sp>
      <p:sp>
        <p:nvSpPr>
          <p:cNvPr id="24" name="Text 22"/>
          <p:cNvSpPr/>
          <p:nvPr/>
        </p:nvSpPr>
        <p:spPr>
          <a:xfrm>
            <a:off x="4572000" y="312724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F3B33D"/>
                </a:solidFill>
                <a:latin typeface="Noto Sans" pitchFamily="34" charset="0"/>
                <a:ea typeface="Noto Sans" pitchFamily="34" charset="-122"/>
                <a:cs typeface="Noto Sans" pitchFamily="34" charset="-120"/>
              </a:rPr>
              <a:t>Metric</a:t>
            </a:r>
            <a:endParaRPr lang="en-US" sz="2200" dirty="0"/>
          </a:p>
        </p:txBody>
      </p:sp>
      <p:sp>
        <p:nvSpPr>
          <p:cNvPr id="25" name="Text 23"/>
          <p:cNvSpPr/>
          <p:nvPr/>
        </p:nvSpPr>
        <p:spPr>
          <a:xfrm>
            <a:off x="4544568" y="352044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AUC</a:t>
            </a:r>
            <a:endParaRPr lang="en-US" sz="950" dirty="0"/>
          </a:p>
        </p:txBody>
      </p:sp>
      <p:sp>
        <p:nvSpPr>
          <p:cNvPr id="26" name="Text 24"/>
          <p:cNvSpPr/>
          <p:nvPr/>
        </p:nvSpPr>
        <p:spPr>
          <a:xfrm>
            <a:off x="4544568" y="373989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When suitable for the clinical classification task</a:t>
            </a:r>
            <a:endParaRPr lang="en-US" sz="790" dirty="0"/>
          </a:p>
        </p:txBody>
      </p:sp>
      <p:sp>
        <p:nvSpPr>
          <p:cNvPr id="27" name="Shape 25"/>
          <p:cNvSpPr/>
          <p:nvPr/>
        </p:nvSpPr>
        <p:spPr>
          <a:xfrm>
            <a:off x="8229600" y="2971800"/>
            <a:ext cx="3429000" cy="1024128"/>
          </a:xfrm>
          <a:prstGeom prst="roundRect">
            <a:avLst>
              <a:gd name="adj" fmla="val 7143"/>
            </a:avLst>
          </a:prstGeom>
          <a:solidFill>
            <a:srgbClr val="FFFFFF"/>
          </a:solidFill>
          <a:ln w="12700">
            <a:solidFill>
              <a:srgbClr val="DDE7EA"/>
            </a:solidFill>
            <a:prstDash val="solid"/>
          </a:ln>
        </p:spPr>
      </p:sp>
      <p:sp>
        <p:nvSpPr>
          <p:cNvPr id="28" name="Text 26"/>
          <p:cNvSpPr/>
          <p:nvPr/>
        </p:nvSpPr>
        <p:spPr>
          <a:xfrm>
            <a:off x="8366760" y="3127248"/>
            <a:ext cx="3154680" cy="320040"/>
          </a:xfrm>
          <a:prstGeom prst="rect">
            <a:avLst/>
          </a:prstGeom>
          <a:noFill/>
          <a:ln/>
        </p:spPr>
        <p:txBody>
          <a:bodyPr wrap="square" lIns="0" tIns="0" rIns="0" bIns="0" rtlCol="0" anchor="ctr">
            <a:normAutofit/>
          </a:bodyPr>
          <a:lstStyle/>
          <a:p>
            <a:pPr algn="ctr" indent="0" marL="0">
              <a:buNone/>
            </a:pPr>
            <a:r>
              <a:rPr lang="en-US" sz="2200" b="1" dirty="0">
                <a:solidFill>
                  <a:srgbClr val="0B3D4B"/>
                </a:solidFill>
                <a:latin typeface="Noto Sans" pitchFamily="34" charset="0"/>
                <a:ea typeface="Noto Sans" pitchFamily="34" charset="-122"/>
                <a:cs typeface="Noto Sans" pitchFamily="34" charset="-120"/>
              </a:rPr>
              <a:t>FP / FN</a:t>
            </a:r>
            <a:endParaRPr lang="en-US" sz="2200" dirty="0"/>
          </a:p>
        </p:txBody>
      </p:sp>
      <p:sp>
        <p:nvSpPr>
          <p:cNvPr id="29" name="Text 27"/>
          <p:cNvSpPr/>
          <p:nvPr/>
        </p:nvSpPr>
        <p:spPr>
          <a:xfrm>
            <a:off x="8339328" y="3520440"/>
            <a:ext cx="3209544" cy="182880"/>
          </a:xfrm>
          <a:prstGeom prst="rect">
            <a:avLst/>
          </a:prstGeom>
          <a:noFill/>
          <a:ln/>
        </p:spPr>
        <p:txBody>
          <a:bodyPr wrap="square" lIns="0" tIns="0" rIns="0" bIns="0" rtlCol="0" anchor="ctr">
            <a:normAutofit/>
          </a:bodyPr>
          <a:lstStyle/>
          <a:p>
            <a:pPr algn="ctr" indent="0" marL="0">
              <a:buNone/>
            </a:pPr>
            <a:r>
              <a:rPr lang="en-US" sz="950" b="1" dirty="0">
                <a:solidFill>
                  <a:srgbClr val="142A37"/>
                </a:solidFill>
                <a:latin typeface="Noto Sans" pitchFamily="34" charset="0"/>
                <a:ea typeface="Noto Sans" pitchFamily="34" charset="-122"/>
                <a:cs typeface="Noto Sans" pitchFamily="34" charset="-120"/>
              </a:rPr>
              <a:t>Confusion Matrix</a:t>
            </a:r>
            <a:endParaRPr lang="en-US" sz="950" dirty="0"/>
          </a:p>
        </p:txBody>
      </p:sp>
      <p:sp>
        <p:nvSpPr>
          <p:cNvPr id="30" name="Text 28"/>
          <p:cNvSpPr/>
          <p:nvPr/>
        </p:nvSpPr>
        <p:spPr>
          <a:xfrm>
            <a:off x="8339328" y="3739896"/>
            <a:ext cx="3209544" cy="146304"/>
          </a:xfrm>
          <a:prstGeom prst="rect">
            <a:avLst/>
          </a:prstGeom>
          <a:noFill/>
          <a:ln/>
        </p:spPr>
        <p:txBody>
          <a:bodyPr wrap="square" lIns="0" tIns="0" rIns="0" bIns="0" rtlCol="0" anchor="ctr">
            <a:normAutofit/>
          </a:bodyPr>
          <a:lstStyle/>
          <a:p>
            <a:pPr algn="ctr" indent="0" marL="0">
              <a:buNone/>
            </a:pPr>
            <a:r>
              <a:rPr lang="en-US" sz="790" dirty="0">
                <a:solidFill>
                  <a:srgbClr val="5F7180"/>
                </a:solidFill>
                <a:latin typeface="Noto Sans" pitchFamily="34" charset="0"/>
                <a:ea typeface="Noto Sans" pitchFamily="34" charset="-122"/>
                <a:cs typeface="Noto Sans" pitchFamily="34" charset="-120"/>
              </a:rPr>
              <a:t>Must inspect false positives and false negatives</a:t>
            </a:r>
            <a:endParaRPr lang="en-US" sz="790" dirty="0"/>
          </a:p>
        </p:txBody>
      </p:sp>
      <p:sp>
        <p:nvSpPr>
          <p:cNvPr id="31" name="Shape 29"/>
          <p:cNvSpPr/>
          <p:nvPr/>
        </p:nvSpPr>
        <p:spPr>
          <a:xfrm>
            <a:off x="1371600" y="4800600"/>
            <a:ext cx="4434840" cy="1051560"/>
          </a:xfrm>
          <a:prstGeom prst="roundRect">
            <a:avLst>
              <a:gd name="adj" fmla="val 695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2" name="Shape 30"/>
          <p:cNvSpPr/>
          <p:nvPr/>
        </p:nvSpPr>
        <p:spPr>
          <a:xfrm>
            <a:off x="1536192" y="4965192"/>
            <a:ext cx="402336" cy="402336"/>
          </a:xfrm>
          <a:prstGeom prst="ellipse">
            <a:avLst/>
          </a:prstGeom>
          <a:solidFill>
            <a:srgbClr val="FFF6E5"/>
          </a:solidFill>
          <a:ln w="12700">
            <a:solidFill>
              <a:srgbClr val="FFF6E5"/>
            </a:solidFill>
            <a:prstDash val="solid"/>
          </a:ln>
        </p:spPr>
      </p:sp>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36776" y="5065776"/>
            <a:ext cx="201168" cy="201168"/>
          </a:xfrm>
          <a:prstGeom prst="rect">
            <a:avLst/>
          </a:prstGeom>
        </p:spPr>
      </p:pic>
      <p:sp>
        <p:nvSpPr>
          <p:cNvPr id="34" name="Text 31"/>
          <p:cNvSpPr/>
          <p:nvPr/>
        </p:nvSpPr>
        <p:spPr>
          <a:xfrm>
            <a:off x="2029968" y="4974336"/>
            <a:ext cx="3611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Threshold policy</a:t>
            </a:r>
            <a:endParaRPr lang="en-US" sz="1400" dirty="0"/>
          </a:p>
        </p:txBody>
      </p:sp>
      <p:sp>
        <p:nvSpPr>
          <p:cNvPr id="35" name="Text 32"/>
          <p:cNvSpPr/>
          <p:nvPr/>
        </p:nvSpPr>
        <p:spPr>
          <a:xfrm>
            <a:off x="1554480" y="5486400"/>
            <a:ext cx="4069080" cy="21031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Define conservative risk thresholds and document why the threshold was selected for the use case.</a:t>
            </a:r>
            <a:endParaRPr lang="en-US" sz="980" dirty="0"/>
          </a:p>
        </p:txBody>
      </p:sp>
      <p:sp>
        <p:nvSpPr>
          <p:cNvPr id="36" name="Shape 33"/>
          <p:cNvSpPr/>
          <p:nvPr/>
        </p:nvSpPr>
        <p:spPr>
          <a:xfrm>
            <a:off x="6126480" y="4800600"/>
            <a:ext cx="4434840" cy="1051560"/>
          </a:xfrm>
          <a:prstGeom prst="roundRect">
            <a:avLst>
              <a:gd name="adj" fmla="val 695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7" name="Shape 34"/>
          <p:cNvSpPr/>
          <p:nvPr/>
        </p:nvSpPr>
        <p:spPr>
          <a:xfrm>
            <a:off x="6291072" y="4965192"/>
            <a:ext cx="402336" cy="402336"/>
          </a:xfrm>
          <a:prstGeom prst="ellipse">
            <a:avLst/>
          </a:prstGeom>
          <a:solidFill>
            <a:srgbClr val="E8F8F4"/>
          </a:solidFill>
          <a:ln w="12700">
            <a:solidFill>
              <a:srgbClr val="E8F8F4"/>
            </a:solidFill>
            <a:prstDash val="solid"/>
          </a:ln>
        </p:spPr>
      </p:sp>
      <p:pic>
        <p:nvPicPr>
          <p:cNvPr id="3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1656" y="5065776"/>
            <a:ext cx="201168" cy="201168"/>
          </a:xfrm>
          <a:prstGeom prst="rect">
            <a:avLst/>
          </a:prstGeom>
        </p:spPr>
      </p:pic>
      <p:sp>
        <p:nvSpPr>
          <p:cNvPr id="39" name="Text 35"/>
          <p:cNvSpPr/>
          <p:nvPr/>
        </p:nvSpPr>
        <p:spPr>
          <a:xfrm>
            <a:off x="6784848" y="4974336"/>
            <a:ext cx="36118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Independent test set</a:t>
            </a:r>
            <a:endParaRPr lang="en-US" sz="1400" dirty="0"/>
          </a:p>
        </p:txBody>
      </p:sp>
      <p:sp>
        <p:nvSpPr>
          <p:cNvPr id="40" name="Text 36"/>
          <p:cNvSpPr/>
          <p:nvPr/>
        </p:nvSpPr>
        <p:spPr>
          <a:xfrm>
            <a:off x="6309360" y="5486400"/>
            <a:ext cx="4069080" cy="210312"/>
          </a:xfrm>
          <a:prstGeom prst="rect">
            <a:avLst/>
          </a:prstGeom>
          <a:noFill/>
          <a:ln/>
        </p:spPr>
        <p:txBody>
          <a:bodyPr wrap="square" lIns="254" tIns="254" rIns="254" bIns="254" rtlCol="0" anchor="t">
            <a:normAutofit/>
          </a:bodyPr>
          <a:lstStyle/>
          <a:p>
            <a:pPr indent="0" marL="0">
              <a:buNone/>
            </a:pPr>
            <a:r>
              <a:rPr lang="en-US" sz="980" dirty="0">
                <a:solidFill>
                  <a:srgbClr val="5F7180"/>
                </a:solidFill>
                <a:latin typeface="Noto Sans" pitchFamily="34" charset="0"/>
                <a:ea typeface="Noto Sans" pitchFamily="34" charset="-122"/>
                <a:cs typeface="Noto Sans" pitchFamily="34" charset="-120"/>
              </a:rPr>
              <a:t>A reproducible result on documented test data is part of the acceptance criteria for the Respiratory model.</a:t>
            </a:r>
            <a:endParaRPr lang="en-US" sz="98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Medical Report Concept</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Every completed disease assessment should produce a doctor-reviewed report.</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REPORT</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85800" y="1325880"/>
            <a:ext cx="4572000" cy="4526280"/>
          </a:xfrm>
          <a:prstGeom prst="roundRect">
            <a:avLst>
              <a:gd name="adj" fmla="val 1010"/>
            </a:avLst>
          </a:prstGeom>
          <a:solidFill>
            <a:srgbClr val="FFFFFF"/>
          </a:solidFill>
          <a:ln w="15240">
            <a:solidFill>
              <a:srgbClr val="DDE7EA"/>
            </a:solidFill>
            <a:prstDash val="solid"/>
          </a:ln>
          <a:effectLst>
            <a:outerShdw sx="100000" sy="100000" kx="0" ky="0" algn="bl" rotWithShape="0" blurRad="12700" dist="50800" dir="2700000">
              <a:srgbClr val="94A7AD">
                <a:alpha val="18000"/>
              </a:srgbClr>
            </a:outerShdw>
          </a:effectLst>
        </p:spPr>
      </p:sp>
      <p:sp>
        <p:nvSpPr>
          <p:cNvPr id="8" name="Text 6"/>
          <p:cNvSpPr/>
          <p:nvPr/>
        </p:nvSpPr>
        <p:spPr>
          <a:xfrm>
            <a:off x="960120" y="1581912"/>
            <a:ext cx="2011680" cy="228600"/>
          </a:xfrm>
          <a:prstGeom prst="rect">
            <a:avLst/>
          </a:prstGeom>
          <a:noFill/>
          <a:ln/>
        </p:spPr>
        <p:txBody>
          <a:bodyPr wrap="square" lIns="0" tIns="0" rIns="0" bIns="0" rtlCol="0" anchor="ctr"/>
          <a:lstStyle/>
          <a:p>
            <a:pPr indent="0" marL="0">
              <a:buNone/>
            </a:pPr>
            <a:r>
              <a:rPr lang="en-US" sz="1100" b="1" spc="110" kern="0" dirty="0">
                <a:solidFill>
                  <a:srgbClr val="0B3D4B"/>
                </a:solidFill>
                <a:latin typeface="Noto Sans" pitchFamily="34" charset="0"/>
                <a:ea typeface="Noto Sans" pitchFamily="34" charset="-122"/>
                <a:cs typeface="Noto Sans" pitchFamily="34" charset="-120"/>
              </a:rPr>
              <a:t>HEALTHVIBE AI</a:t>
            </a:r>
            <a:endParaRPr lang="en-US" sz="1100" dirty="0"/>
          </a:p>
        </p:txBody>
      </p:sp>
      <p:sp>
        <p:nvSpPr>
          <p:cNvPr id="9" name="Text 7"/>
          <p:cNvSpPr/>
          <p:nvPr/>
        </p:nvSpPr>
        <p:spPr>
          <a:xfrm>
            <a:off x="960120" y="1947672"/>
            <a:ext cx="3383280" cy="320040"/>
          </a:xfrm>
          <a:prstGeom prst="rect">
            <a:avLst/>
          </a:prstGeom>
          <a:noFill/>
          <a:ln/>
        </p:spPr>
        <p:txBody>
          <a:bodyPr wrap="square" lIns="0" tIns="0" rIns="0" bIns="0" rtlCol="0" anchor="ctr"/>
          <a:lstStyle/>
          <a:p>
            <a:pPr indent="0" marL="0">
              <a:buNone/>
            </a:pPr>
            <a:r>
              <a:rPr lang="en-US" sz="1800" b="1" dirty="0">
                <a:solidFill>
                  <a:srgbClr val="142A37"/>
                </a:solidFill>
                <a:latin typeface="Noto Sans" pitchFamily="34" charset="0"/>
                <a:ea typeface="Noto Sans" pitchFamily="34" charset="-122"/>
                <a:cs typeface="Noto Sans" pitchFamily="34" charset="-120"/>
              </a:rPr>
              <a:t>Respiratory Assessment Report</a:t>
            </a:r>
            <a:endParaRPr lang="en-US" sz="1800" dirty="0"/>
          </a:p>
        </p:txBody>
      </p:sp>
      <p:sp>
        <p:nvSpPr>
          <p:cNvPr id="10" name="Text 8"/>
          <p:cNvSpPr/>
          <p:nvPr/>
        </p:nvSpPr>
        <p:spPr>
          <a:xfrm>
            <a:off x="960120" y="2377440"/>
            <a:ext cx="3291840" cy="228600"/>
          </a:xfrm>
          <a:prstGeom prst="rect">
            <a:avLst/>
          </a:prstGeom>
          <a:noFill/>
          <a:ln/>
        </p:spPr>
        <p:txBody>
          <a:bodyPr wrap="square" lIns="0" tIns="0" rIns="0" bIns="0" rtlCol="0" anchor="ctr"/>
          <a:lstStyle/>
          <a:p>
            <a:pPr indent="0" marL="0">
              <a:buNone/>
            </a:pPr>
            <a:r>
              <a:rPr lang="en-US" sz="950" dirty="0">
                <a:solidFill>
                  <a:srgbClr val="5F7180"/>
                </a:solidFill>
                <a:latin typeface="Noto Sans" pitchFamily="34" charset="0"/>
                <a:ea typeface="Noto Sans" pitchFamily="34" charset="-122"/>
                <a:cs typeface="Noto Sans" pitchFamily="34" charset="-120"/>
              </a:rPr>
              <a:t>Patient  •  Doctor  •  Date  •  Module</a:t>
            </a:r>
            <a:endParaRPr lang="en-US" sz="950" dirty="0"/>
          </a:p>
        </p:txBody>
      </p:sp>
      <p:sp>
        <p:nvSpPr>
          <p:cNvPr id="11" name="Shape 9"/>
          <p:cNvSpPr/>
          <p:nvPr/>
        </p:nvSpPr>
        <p:spPr>
          <a:xfrm>
            <a:off x="960120" y="2816352"/>
            <a:ext cx="3474720" cy="685800"/>
          </a:xfrm>
          <a:prstGeom prst="roundRect">
            <a:avLst>
              <a:gd name="adj" fmla="val 16000"/>
            </a:avLst>
          </a:prstGeom>
          <a:solidFill>
            <a:srgbClr val="FFF6E5"/>
          </a:solidFill>
          <a:ln w="12700">
            <a:solidFill>
              <a:srgbClr val="F2D28A"/>
            </a:solidFill>
            <a:prstDash val="solid"/>
          </a:ln>
        </p:spPr>
      </p:sp>
      <p:sp>
        <p:nvSpPr>
          <p:cNvPr id="12" name="Text 10"/>
          <p:cNvSpPr/>
          <p:nvPr/>
        </p:nvSpPr>
        <p:spPr>
          <a:xfrm>
            <a:off x="1170432" y="3026664"/>
            <a:ext cx="3017520" cy="219456"/>
          </a:xfrm>
          <a:prstGeom prst="rect">
            <a:avLst/>
          </a:prstGeom>
          <a:noFill/>
          <a:ln/>
        </p:spPr>
        <p:txBody>
          <a:bodyPr wrap="square" lIns="0" tIns="0" rIns="0" bIns="0" rtlCol="0" anchor="ctr"/>
          <a:lstStyle/>
          <a:p>
            <a:pPr algn="ctr" indent="0" marL="0">
              <a:buNone/>
            </a:pPr>
            <a:r>
              <a:rPr lang="en-US" sz="1300" b="1" dirty="0">
                <a:solidFill>
                  <a:srgbClr val="A56E12"/>
                </a:solidFill>
                <a:latin typeface="Noto Sans" pitchFamily="34" charset="0"/>
                <a:ea typeface="Noto Sans" pitchFamily="34" charset="-122"/>
                <a:cs typeface="Noto Sans" pitchFamily="34" charset="-120"/>
              </a:rPr>
              <a:t>CAUTION • follow-up required</a:t>
            </a:r>
            <a:endParaRPr lang="en-US" sz="1300" dirty="0"/>
          </a:p>
        </p:txBody>
      </p:sp>
      <p:sp>
        <p:nvSpPr>
          <p:cNvPr id="13" name="Text 11"/>
          <p:cNvSpPr/>
          <p:nvPr/>
        </p:nvSpPr>
        <p:spPr>
          <a:xfrm>
            <a:off x="960120" y="3730752"/>
            <a:ext cx="3566160" cy="274320"/>
          </a:xfrm>
          <a:prstGeom prst="rect">
            <a:avLst/>
          </a:prstGeom>
          <a:noFill/>
          <a:ln/>
        </p:spPr>
        <p:txBody>
          <a:bodyPr wrap="square" lIns="0" tIns="0" rIns="0" bIns="0" rtlCol="0" anchor="ctr"/>
          <a:lstStyle/>
          <a:p>
            <a:pPr indent="0" marL="0">
              <a:buNone/>
            </a:pPr>
            <a:r>
              <a:rPr lang="en-US" sz="1000" b="1" dirty="0">
                <a:solidFill>
                  <a:srgbClr val="142A37"/>
                </a:solidFill>
                <a:latin typeface="Noto Sans" pitchFamily="34" charset="0"/>
                <a:ea typeface="Noto Sans" pitchFamily="34" charset="-122"/>
                <a:cs typeface="Noto Sans" pitchFamily="34" charset="-120"/>
              </a:rPr>
              <a:t>Risk classification  •  Confidence  •  Doctor status</a:t>
            </a:r>
            <a:endParaRPr lang="en-US" sz="1000" dirty="0"/>
          </a:p>
        </p:txBody>
      </p:sp>
      <p:sp>
        <p:nvSpPr>
          <p:cNvPr id="14" name="Text 12"/>
          <p:cNvSpPr/>
          <p:nvPr/>
        </p:nvSpPr>
        <p:spPr>
          <a:xfrm>
            <a:off x="960120" y="4187952"/>
            <a:ext cx="3474720" cy="914400"/>
          </a:xfrm>
          <a:prstGeom prst="rect">
            <a:avLst/>
          </a:prstGeom>
          <a:noFill/>
          <a:ln/>
        </p:spPr>
        <p:txBody>
          <a:bodyPr wrap="square" lIns="254" tIns="254" rIns="254" bIns="254" rtlCol="0" anchor="ctr">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Recommendations</a:t>
            </a:r>
            <a:endParaRPr lang="en-US" sz="920" dirty="0"/>
          </a:p>
          <a:p>
            <a:pPr indent="0" marL="0">
              <a:buNone/>
            </a:pPr>
            <a:r>
              <a:rPr lang="en-US" sz="920" dirty="0">
                <a:solidFill>
                  <a:srgbClr val="5F7180"/>
                </a:solidFill>
                <a:latin typeface="Noto Sans" pitchFamily="34" charset="0"/>
                <a:ea typeface="Noto Sans" pitchFamily="34" charset="-122"/>
                <a:cs typeface="Noto Sans" pitchFamily="34" charset="-120"/>
              </a:rPr>
              <a:t>• Personalized from patient data</a:t>
            </a:r>
            <a:endParaRPr lang="en-US" sz="920" dirty="0"/>
          </a:p>
          <a:p>
            <a:pPr indent="0" marL="0">
              <a:buNone/>
            </a:pPr>
            <a:r>
              <a:rPr lang="en-US" sz="920" dirty="0">
                <a:solidFill>
                  <a:srgbClr val="5F7180"/>
                </a:solidFill>
                <a:latin typeface="Noto Sans" pitchFamily="34" charset="0"/>
                <a:ea typeface="Noto Sans" pitchFamily="34" charset="-122"/>
                <a:cs typeface="Noto Sans" pitchFamily="34" charset="-120"/>
              </a:rPr>
              <a:t>• Reviewed by doctor</a:t>
            </a:r>
            <a:endParaRPr lang="en-US" sz="920" dirty="0"/>
          </a:p>
          <a:p>
            <a:pPr indent="0" marL="0">
              <a:buNone/>
            </a:pPr>
            <a:r>
              <a:rPr lang="en-US" sz="920" dirty="0">
                <a:solidFill>
                  <a:srgbClr val="5F7180"/>
                </a:solidFill>
                <a:latin typeface="Noto Sans" pitchFamily="34" charset="0"/>
                <a:ea typeface="Noto Sans" pitchFamily="34" charset="-122"/>
                <a:cs typeface="Noto Sans" pitchFamily="34" charset="-120"/>
              </a:rPr>
              <a:t>• Stored with model version and timestamp</a:t>
            </a:r>
            <a:endParaRPr lang="en-US" sz="920" dirty="0"/>
          </a:p>
        </p:txBody>
      </p:sp>
      <p:sp>
        <p:nvSpPr>
          <p:cNvPr id="15" name="Text 13"/>
          <p:cNvSpPr/>
          <p:nvPr/>
        </p:nvSpPr>
        <p:spPr>
          <a:xfrm>
            <a:off x="960120" y="5303520"/>
            <a:ext cx="3474720" cy="182880"/>
          </a:xfrm>
          <a:prstGeom prst="rect">
            <a:avLst/>
          </a:prstGeom>
          <a:noFill/>
          <a:ln/>
        </p:spPr>
        <p:txBody>
          <a:bodyPr wrap="square" lIns="0" tIns="0" rIns="0" bIns="0" rtlCol="0" anchor="ctr">
            <a:normAutofit/>
          </a:bodyPr>
          <a:lstStyle/>
          <a:p>
            <a:pPr indent="0" marL="0">
              <a:buNone/>
            </a:pPr>
            <a:r>
              <a:rPr lang="en-US" sz="840" b="1" dirty="0">
                <a:solidFill>
                  <a:srgbClr val="E65B66"/>
                </a:solidFill>
                <a:latin typeface="Noto Sans" pitchFamily="34" charset="0"/>
                <a:ea typeface="Noto Sans" pitchFamily="34" charset="-122"/>
                <a:cs typeface="Noto Sans" pitchFamily="34" charset="-120"/>
              </a:rPr>
              <a:t>Medical disclaimer appears on every report.</a:t>
            </a:r>
            <a:endParaRPr lang="en-US" sz="840" dirty="0"/>
          </a:p>
        </p:txBody>
      </p:sp>
      <p:sp>
        <p:nvSpPr>
          <p:cNvPr id="16" name="Shape 14"/>
          <p:cNvSpPr/>
          <p:nvPr/>
        </p:nvSpPr>
        <p:spPr>
          <a:xfrm>
            <a:off x="5623560" y="1371600"/>
            <a:ext cx="1417320" cy="329184"/>
          </a:xfrm>
          <a:prstGeom prst="roundRect">
            <a:avLst>
              <a:gd name="adj" fmla="val 38889"/>
            </a:avLst>
          </a:prstGeom>
          <a:solidFill>
            <a:srgbClr val="E8F8F4"/>
          </a:solidFill>
          <a:ln w="12700">
            <a:solidFill>
              <a:srgbClr val="E8F8F4"/>
            </a:solidFill>
            <a:prstDash val="solid"/>
          </a:ln>
        </p:spPr>
      </p:sp>
      <p:sp>
        <p:nvSpPr>
          <p:cNvPr id="17" name="Text 15"/>
          <p:cNvSpPr/>
          <p:nvPr/>
        </p:nvSpPr>
        <p:spPr>
          <a:xfrm>
            <a:off x="5696712" y="144475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Branding</a:t>
            </a:r>
            <a:endParaRPr lang="en-US" sz="870" dirty="0"/>
          </a:p>
        </p:txBody>
      </p:sp>
      <p:sp>
        <p:nvSpPr>
          <p:cNvPr id="18" name="Text 16"/>
          <p:cNvSpPr/>
          <p:nvPr/>
        </p:nvSpPr>
        <p:spPr>
          <a:xfrm>
            <a:off x="7223760" y="144475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HealthVibe logo + app details</a:t>
            </a:r>
            <a:endParaRPr lang="en-US" sz="1000" dirty="0"/>
          </a:p>
        </p:txBody>
      </p:sp>
      <p:sp>
        <p:nvSpPr>
          <p:cNvPr id="19" name="Shape 17"/>
          <p:cNvSpPr/>
          <p:nvPr/>
        </p:nvSpPr>
        <p:spPr>
          <a:xfrm>
            <a:off x="5623560" y="2011680"/>
            <a:ext cx="1417320" cy="329184"/>
          </a:xfrm>
          <a:prstGeom prst="roundRect">
            <a:avLst>
              <a:gd name="adj" fmla="val 38889"/>
            </a:avLst>
          </a:prstGeom>
          <a:solidFill>
            <a:srgbClr val="E8F8F4"/>
          </a:solidFill>
          <a:ln w="12700">
            <a:solidFill>
              <a:srgbClr val="E8F8F4"/>
            </a:solidFill>
            <a:prstDash val="solid"/>
          </a:ln>
        </p:spPr>
      </p:sp>
      <p:sp>
        <p:nvSpPr>
          <p:cNvPr id="20" name="Text 18"/>
          <p:cNvSpPr/>
          <p:nvPr/>
        </p:nvSpPr>
        <p:spPr>
          <a:xfrm>
            <a:off x="5696712" y="208483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Patient</a:t>
            </a:r>
            <a:endParaRPr lang="en-US" sz="870" dirty="0"/>
          </a:p>
        </p:txBody>
      </p:sp>
      <p:sp>
        <p:nvSpPr>
          <p:cNvPr id="21" name="Text 19"/>
          <p:cNvSpPr/>
          <p:nvPr/>
        </p:nvSpPr>
        <p:spPr>
          <a:xfrm>
            <a:off x="7223760" y="208483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Name / ID + image or avatar if available</a:t>
            </a:r>
            <a:endParaRPr lang="en-US" sz="1000" dirty="0"/>
          </a:p>
        </p:txBody>
      </p:sp>
      <p:sp>
        <p:nvSpPr>
          <p:cNvPr id="22" name="Shape 20"/>
          <p:cNvSpPr/>
          <p:nvPr/>
        </p:nvSpPr>
        <p:spPr>
          <a:xfrm>
            <a:off x="5623560" y="2651760"/>
            <a:ext cx="1417320" cy="329184"/>
          </a:xfrm>
          <a:prstGeom prst="roundRect">
            <a:avLst>
              <a:gd name="adj" fmla="val 38889"/>
            </a:avLst>
          </a:prstGeom>
          <a:solidFill>
            <a:srgbClr val="E8F8F4"/>
          </a:solidFill>
          <a:ln w="12700">
            <a:solidFill>
              <a:srgbClr val="E8F8F4"/>
            </a:solidFill>
            <a:prstDash val="solid"/>
          </a:ln>
        </p:spPr>
      </p:sp>
      <p:sp>
        <p:nvSpPr>
          <p:cNvPr id="23" name="Text 21"/>
          <p:cNvSpPr/>
          <p:nvPr/>
        </p:nvSpPr>
        <p:spPr>
          <a:xfrm>
            <a:off x="5696712" y="272491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Doctor</a:t>
            </a:r>
            <a:endParaRPr lang="en-US" sz="870" dirty="0"/>
          </a:p>
        </p:txBody>
      </p:sp>
      <p:sp>
        <p:nvSpPr>
          <p:cNvPr id="24" name="Text 22"/>
          <p:cNvSpPr/>
          <p:nvPr/>
        </p:nvSpPr>
        <p:spPr>
          <a:xfrm>
            <a:off x="7223760" y="272491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Reviewer name + verification status</a:t>
            </a:r>
            <a:endParaRPr lang="en-US" sz="1000" dirty="0"/>
          </a:p>
        </p:txBody>
      </p:sp>
      <p:sp>
        <p:nvSpPr>
          <p:cNvPr id="25" name="Shape 23"/>
          <p:cNvSpPr/>
          <p:nvPr/>
        </p:nvSpPr>
        <p:spPr>
          <a:xfrm>
            <a:off x="5623560" y="3291840"/>
            <a:ext cx="1417320" cy="329184"/>
          </a:xfrm>
          <a:prstGeom prst="roundRect">
            <a:avLst>
              <a:gd name="adj" fmla="val 38889"/>
            </a:avLst>
          </a:prstGeom>
          <a:solidFill>
            <a:srgbClr val="FFF6E5"/>
          </a:solidFill>
          <a:ln w="12700">
            <a:solidFill>
              <a:srgbClr val="FFF6E5"/>
            </a:solidFill>
            <a:prstDash val="solid"/>
          </a:ln>
        </p:spPr>
      </p:sp>
      <p:sp>
        <p:nvSpPr>
          <p:cNvPr id="26" name="Text 24"/>
          <p:cNvSpPr/>
          <p:nvPr/>
        </p:nvSpPr>
        <p:spPr>
          <a:xfrm>
            <a:off x="5696712" y="336499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A56E12"/>
                </a:solidFill>
                <a:latin typeface="Noto Sans" pitchFamily="34" charset="0"/>
                <a:ea typeface="Noto Sans" pitchFamily="34" charset="-122"/>
                <a:cs typeface="Noto Sans" pitchFamily="34" charset="-120"/>
              </a:rPr>
              <a:t>Result</a:t>
            </a:r>
            <a:endParaRPr lang="en-US" sz="870" dirty="0"/>
          </a:p>
        </p:txBody>
      </p:sp>
      <p:sp>
        <p:nvSpPr>
          <p:cNvPr id="27" name="Text 25"/>
          <p:cNvSpPr/>
          <p:nvPr/>
        </p:nvSpPr>
        <p:spPr>
          <a:xfrm>
            <a:off x="7223760" y="336499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Risk + confidence + traffic-light status</a:t>
            </a:r>
            <a:endParaRPr lang="en-US" sz="1000" dirty="0"/>
          </a:p>
        </p:txBody>
      </p:sp>
      <p:sp>
        <p:nvSpPr>
          <p:cNvPr id="28" name="Shape 26"/>
          <p:cNvSpPr/>
          <p:nvPr/>
        </p:nvSpPr>
        <p:spPr>
          <a:xfrm>
            <a:off x="5623560" y="3931920"/>
            <a:ext cx="1417320" cy="329184"/>
          </a:xfrm>
          <a:prstGeom prst="roundRect">
            <a:avLst>
              <a:gd name="adj" fmla="val 38889"/>
            </a:avLst>
          </a:prstGeom>
          <a:solidFill>
            <a:srgbClr val="E8F8F4"/>
          </a:solidFill>
          <a:ln w="12700">
            <a:solidFill>
              <a:srgbClr val="E8F8F4"/>
            </a:solidFill>
            <a:prstDash val="solid"/>
          </a:ln>
        </p:spPr>
      </p:sp>
      <p:sp>
        <p:nvSpPr>
          <p:cNvPr id="29" name="Text 27"/>
          <p:cNvSpPr/>
          <p:nvPr/>
        </p:nvSpPr>
        <p:spPr>
          <a:xfrm>
            <a:off x="5696712" y="400507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Recommendations</a:t>
            </a:r>
            <a:endParaRPr lang="en-US" sz="870" dirty="0"/>
          </a:p>
        </p:txBody>
      </p:sp>
      <p:sp>
        <p:nvSpPr>
          <p:cNvPr id="30" name="Text 28"/>
          <p:cNvSpPr/>
          <p:nvPr/>
        </p:nvSpPr>
        <p:spPr>
          <a:xfrm>
            <a:off x="7223760" y="400507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Based on user data + approved clinical content</a:t>
            </a:r>
            <a:endParaRPr lang="en-US" sz="1000" dirty="0"/>
          </a:p>
        </p:txBody>
      </p:sp>
      <p:sp>
        <p:nvSpPr>
          <p:cNvPr id="31" name="Shape 29"/>
          <p:cNvSpPr/>
          <p:nvPr/>
        </p:nvSpPr>
        <p:spPr>
          <a:xfrm>
            <a:off x="5623560" y="4572000"/>
            <a:ext cx="1417320" cy="329184"/>
          </a:xfrm>
          <a:prstGeom prst="roundRect">
            <a:avLst>
              <a:gd name="adj" fmla="val 38889"/>
            </a:avLst>
          </a:prstGeom>
          <a:solidFill>
            <a:srgbClr val="E8F8F4"/>
          </a:solidFill>
          <a:ln w="12700">
            <a:solidFill>
              <a:srgbClr val="E8F8F4"/>
            </a:solidFill>
            <a:prstDash val="solid"/>
          </a:ln>
        </p:spPr>
      </p:sp>
      <p:sp>
        <p:nvSpPr>
          <p:cNvPr id="32" name="Text 30"/>
          <p:cNvSpPr/>
          <p:nvPr/>
        </p:nvSpPr>
        <p:spPr>
          <a:xfrm>
            <a:off x="5696712" y="464515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Language</a:t>
            </a:r>
            <a:endParaRPr lang="en-US" sz="870" dirty="0"/>
          </a:p>
        </p:txBody>
      </p:sp>
      <p:sp>
        <p:nvSpPr>
          <p:cNvPr id="33" name="Text 31"/>
          <p:cNvSpPr/>
          <p:nvPr/>
        </p:nvSpPr>
        <p:spPr>
          <a:xfrm>
            <a:off x="7223760" y="464515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Doctor: English • Patient: Arabic or English</a:t>
            </a:r>
            <a:endParaRPr lang="en-US" sz="1000" dirty="0"/>
          </a:p>
        </p:txBody>
      </p:sp>
      <p:sp>
        <p:nvSpPr>
          <p:cNvPr id="34" name="Shape 32"/>
          <p:cNvSpPr/>
          <p:nvPr/>
        </p:nvSpPr>
        <p:spPr>
          <a:xfrm>
            <a:off x="5623560" y="5212080"/>
            <a:ext cx="1417320" cy="329184"/>
          </a:xfrm>
          <a:prstGeom prst="roundRect">
            <a:avLst>
              <a:gd name="adj" fmla="val 38889"/>
            </a:avLst>
          </a:prstGeom>
          <a:solidFill>
            <a:srgbClr val="E8F8F4"/>
          </a:solidFill>
          <a:ln w="12700">
            <a:solidFill>
              <a:srgbClr val="E8F8F4"/>
            </a:solidFill>
            <a:prstDash val="solid"/>
          </a:ln>
        </p:spPr>
      </p:sp>
      <p:sp>
        <p:nvSpPr>
          <p:cNvPr id="35" name="Text 33"/>
          <p:cNvSpPr/>
          <p:nvPr/>
        </p:nvSpPr>
        <p:spPr>
          <a:xfrm>
            <a:off x="5696712" y="5285232"/>
            <a:ext cx="127101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Delivery</a:t>
            </a:r>
            <a:endParaRPr lang="en-US" sz="870" dirty="0"/>
          </a:p>
        </p:txBody>
      </p:sp>
      <p:sp>
        <p:nvSpPr>
          <p:cNvPr id="36" name="Text 34"/>
          <p:cNvSpPr/>
          <p:nvPr/>
        </p:nvSpPr>
        <p:spPr>
          <a:xfrm>
            <a:off x="7223760" y="5285232"/>
            <a:ext cx="3931920" cy="329184"/>
          </a:xfrm>
          <a:prstGeom prst="rect">
            <a:avLst/>
          </a:prstGeom>
          <a:noFill/>
          <a:ln/>
        </p:spPr>
        <p:txBody>
          <a:bodyPr wrap="square" lIns="0" tIns="0" rIns="0" bIns="0" rtlCol="0" anchor="ctr">
            <a:normAutofit/>
          </a:bodyPr>
          <a:lstStyle/>
          <a:p>
            <a:pPr indent="0" marL="0">
              <a:buNone/>
            </a:pPr>
            <a:r>
              <a:rPr lang="en-US" sz="1000" dirty="0">
                <a:solidFill>
                  <a:srgbClr val="5F7180"/>
                </a:solidFill>
                <a:latin typeface="Noto Sans" pitchFamily="34" charset="0"/>
                <a:ea typeface="Noto Sans" pitchFamily="34" charset="-122"/>
                <a:cs typeface="Noto Sans" pitchFamily="34" charset="-120"/>
              </a:rPr>
              <a:t>Downloadable PDF • email • WhatsApp link later</a:t>
            </a:r>
            <a:endParaRPr lang="en-US" sz="100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Data &amp; Patient History</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HealthVibe centralizes a longitudinal record, but access differs by role.</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DATA</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716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667512" y="1536192"/>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36776"/>
            <a:ext cx="201168" cy="201168"/>
          </a:xfrm>
          <a:prstGeom prst="rect">
            <a:avLst/>
          </a:prstGeom>
        </p:spPr>
      </p:pic>
      <p:sp>
        <p:nvSpPr>
          <p:cNvPr id="10" name="Text 7"/>
          <p:cNvSpPr/>
          <p:nvPr/>
        </p:nvSpPr>
        <p:spPr>
          <a:xfrm>
            <a:off x="1161288" y="15453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Account &amp; identity</a:t>
            </a:r>
            <a:endParaRPr lang="en-US" sz="1150" dirty="0"/>
          </a:p>
        </p:txBody>
      </p:sp>
      <p:sp>
        <p:nvSpPr>
          <p:cNvPr id="11" name="Text 8"/>
          <p:cNvSpPr/>
          <p:nvPr/>
        </p:nvSpPr>
        <p:spPr>
          <a:xfrm>
            <a:off x="685800" y="20574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Basic user identity + account data</a:t>
            </a:r>
            <a:endParaRPr lang="en-US" sz="920" dirty="0"/>
          </a:p>
        </p:txBody>
      </p:sp>
      <p:sp>
        <p:nvSpPr>
          <p:cNvPr id="12" name="Shape 9"/>
          <p:cNvSpPr/>
          <p:nvPr/>
        </p:nvSpPr>
        <p:spPr>
          <a:xfrm>
            <a:off x="3337560" y="13716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3502152" y="1536192"/>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02736" y="1636776"/>
            <a:ext cx="201168" cy="201168"/>
          </a:xfrm>
          <a:prstGeom prst="rect">
            <a:avLst/>
          </a:prstGeom>
        </p:spPr>
      </p:pic>
      <p:sp>
        <p:nvSpPr>
          <p:cNvPr id="15" name="Text 11"/>
          <p:cNvSpPr/>
          <p:nvPr/>
        </p:nvSpPr>
        <p:spPr>
          <a:xfrm>
            <a:off x="3995928" y="15453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Medical Profile</a:t>
            </a:r>
            <a:endParaRPr lang="en-US" sz="1150" dirty="0"/>
          </a:p>
        </p:txBody>
      </p:sp>
      <p:sp>
        <p:nvSpPr>
          <p:cNvPr id="16" name="Text 12"/>
          <p:cNvSpPr/>
          <p:nvPr/>
        </p:nvSpPr>
        <p:spPr>
          <a:xfrm>
            <a:off x="3520440" y="20574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Persistent health information</a:t>
            </a:r>
            <a:endParaRPr lang="en-US" sz="920" dirty="0"/>
          </a:p>
        </p:txBody>
      </p:sp>
      <p:sp>
        <p:nvSpPr>
          <p:cNvPr id="17" name="Shape 13"/>
          <p:cNvSpPr/>
          <p:nvPr/>
        </p:nvSpPr>
        <p:spPr>
          <a:xfrm>
            <a:off x="6172200" y="13716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6336792" y="1536192"/>
            <a:ext cx="402336" cy="402336"/>
          </a:xfrm>
          <a:prstGeom prst="ellipse">
            <a:avLst/>
          </a:prstGeom>
          <a:solidFill>
            <a:srgbClr val="E8F8F4"/>
          </a:solidFill>
          <a:ln w="12700">
            <a:solidFill>
              <a:srgbClr val="E8F8F4"/>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37376" y="1636776"/>
            <a:ext cx="201168" cy="201168"/>
          </a:xfrm>
          <a:prstGeom prst="rect">
            <a:avLst/>
          </a:prstGeom>
        </p:spPr>
      </p:pic>
      <p:sp>
        <p:nvSpPr>
          <p:cNvPr id="20" name="Text 15"/>
          <p:cNvSpPr/>
          <p:nvPr/>
        </p:nvSpPr>
        <p:spPr>
          <a:xfrm>
            <a:off x="6830568" y="15453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Module Inputs</a:t>
            </a:r>
            <a:endParaRPr lang="en-US" sz="1150" dirty="0"/>
          </a:p>
        </p:txBody>
      </p:sp>
      <p:sp>
        <p:nvSpPr>
          <p:cNvPr id="21" name="Text 16"/>
          <p:cNvSpPr/>
          <p:nvPr/>
        </p:nvSpPr>
        <p:spPr>
          <a:xfrm>
            <a:off x="6355080" y="20574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Symptoms + measurements per condition</a:t>
            </a:r>
            <a:endParaRPr lang="en-US" sz="920" dirty="0"/>
          </a:p>
        </p:txBody>
      </p:sp>
      <p:sp>
        <p:nvSpPr>
          <p:cNvPr id="22" name="Shape 17"/>
          <p:cNvSpPr/>
          <p:nvPr/>
        </p:nvSpPr>
        <p:spPr>
          <a:xfrm>
            <a:off x="9006840" y="13716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9171432" y="1536192"/>
            <a:ext cx="402336" cy="402336"/>
          </a:xfrm>
          <a:prstGeom prst="ellipse">
            <a:avLst/>
          </a:prstGeom>
          <a:solidFill>
            <a:srgbClr val="E8F8F4"/>
          </a:solidFill>
          <a:ln w="12700">
            <a:solidFill>
              <a:srgbClr val="E8F8F4"/>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72016" y="1636776"/>
            <a:ext cx="201168" cy="201168"/>
          </a:xfrm>
          <a:prstGeom prst="rect">
            <a:avLst/>
          </a:prstGeom>
        </p:spPr>
      </p:pic>
      <p:sp>
        <p:nvSpPr>
          <p:cNvPr id="25" name="Text 19"/>
          <p:cNvSpPr/>
          <p:nvPr/>
        </p:nvSpPr>
        <p:spPr>
          <a:xfrm>
            <a:off x="9665208" y="15453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Approved Results</a:t>
            </a:r>
            <a:endParaRPr lang="en-US" sz="1150" dirty="0"/>
          </a:p>
        </p:txBody>
      </p:sp>
      <p:sp>
        <p:nvSpPr>
          <p:cNvPr id="26" name="Text 20"/>
          <p:cNvSpPr/>
          <p:nvPr/>
        </p:nvSpPr>
        <p:spPr>
          <a:xfrm>
            <a:off x="9189720" y="20574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Risk outputs after doctor review</a:t>
            </a:r>
            <a:endParaRPr lang="en-US" sz="920" dirty="0"/>
          </a:p>
        </p:txBody>
      </p:sp>
      <p:sp>
        <p:nvSpPr>
          <p:cNvPr id="27" name="Shape 21"/>
          <p:cNvSpPr/>
          <p:nvPr/>
        </p:nvSpPr>
        <p:spPr>
          <a:xfrm>
            <a:off x="502920" y="32004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667512" y="3364992"/>
            <a:ext cx="402336" cy="402336"/>
          </a:xfrm>
          <a:prstGeom prst="ellipse">
            <a:avLst/>
          </a:prstGeom>
          <a:solidFill>
            <a:srgbClr val="E8F8F4"/>
          </a:solidFill>
          <a:ln w="12700">
            <a:solidFill>
              <a:srgbClr val="E8F8F4"/>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096" y="3465576"/>
            <a:ext cx="201168" cy="201168"/>
          </a:xfrm>
          <a:prstGeom prst="rect">
            <a:avLst/>
          </a:prstGeom>
        </p:spPr>
      </p:pic>
      <p:sp>
        <p:nvSpPr>
          <p:cNvPr id="30" name="Text 23"/>
          <p:cNvSpPr/>
          <p:nvPr/>
        </p:nvSpPr>
        <p:spPr>
          <a:xfrm>
            <a:off x="1161288" y="33741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Reports</a:t>
            </a:r>
            <a:endParaRPr lang="en-US" sz="1150" dirty="0"/>
          </a:p>
        </p:txBody>
      </p:sp>
      <p:sp>
        <p:nvSpPr>
          <p:cNvPr id="31" name="Text 24"/>
          <p:cNvSpPr/>
          <p:nvPr/>
        </p:nvSpPr>
        <p:spPr>
          <a:xfrm>
            <a:off x="685800" y="38862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Versioned PDF records</a:t>
            </a:r>
            <a:endParaRPr lang="en-US" sz="920" dirty="0"/>
          </a:p>
        </p:txBody>
      </p:sp>
      <p:sp>
        <p:nvSpPr>
          <p:cNvPr id="32" name="Shape 25"/>
          <p:cNvSpPr/>
          <p:nvPr/>
        </p:nvSpPr>
        <p:spPr>
          <a:xfrm>
            <a:off x="3337560" y="32004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3502152" y="3364992"/>
            <a:ext cx="402336" cy="402336"/>
          </a:xfrm>
          <a:prstGeom prst="ellipse">
            <a:avLst/>
          </a:prstGeom>
          <a:solidFill>
            <a:srgbClr val="E8F8F4"/>
          </a:solidFill>
          <a:ln w="12700">
            <a:solidFill>
              <a:srgbClr val="E8F8F4"/>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02736" y="3465576"/>
            <a:ext cx="201168" cy="201168"/>
          </a:xfrm>
          <a:prstGeom prst="rect">
            <a:avLst/>
          </a:prstGeom>
        </p:spPr>
      </p:pic>
      <p:sp>
        <p:nvSpPr>
          <p:cNvPr id="35" name="Text 27"/>
          <p:cNvSpPr/>
          <p:nvPr/>
        </p:nvSpPr>
        <p:spPr>
          <a:xfrm>
            <a:off x="3995928" y="33741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Doctor Relationship</a:t>
            </a:r>
            <a:endParaRPr lang="en-US" sz="1150" dirty="0"/>
          </a:p>
        </p:txBody>
      </p:sp>
      <p:sp>
        <p:nvSpPr>
          <p:cNvPr id="36" name="Text 28"/>
          <p:cNvSpPr/>
          <p:nvPr/>
        </p:nvSpPr>
        <p:spPr>
          <a:xfrm>
            <a:off x="3520440" y="38862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Assigned clinician linkage</a:t>
            </a:r>
            <a:endParaRPr lang="en-US" sz="920" dirty="0"/>
          </a:p>
        </p:txBody>
      </p:sp>
      <p:sp>
        <p:nvSpPr>
          <p:cNvPr id="37" name="Shape 29"/>
          <p:cNvSpPr/>
          <p:nvPr/>
        </p:nvSpPr>
        <p:spPr>
          <a:xfrm>
            <a:off x="6172200" y="32004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8" name="Shape 30"/>
          <p:cNvSpPr/>
          <p:nvPr/>
        </p:nvSpPr>
        <p:spPr>
          <a:xfrm>
            <a:off x="6336792" y="3364992"/>
            <a:ext cx="402336" cy="402336"/>
          </a:xfrm>
          <a:prstGeom prst="ellipse">
            <a:avLst/>
          </a:prstGeom>
          <a:solidFill>
            <a:srgbClr val="E8F8F4"/>
          </a:solidFill>
          <a:ln w="12700">
            <a:solidFill>
              <a:srgbClr val="E8F8F4"/>
            </a:solidFill>
            <a:prstDash val="solid"/>
          </a:ln>
        </p:spPr>
      </p:sp>
      <p:pic>
        <p:nvPicPr>
          <p:cNvPr id="3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37376" y="3465576"/>
            <a:ext cx="201168" cy="201168"/>
          </a:xfrm>
          <a:prstGeom prst="rect">
            <a:avLst/>
          </a:prstGeom>
        </p:spPr>
      </p:pic>
      <p:sp>
        <p:nvSpPr>
          <p:cNvPr id="40" name="Text 31"/>
          <p:cNvSpPr/>
          <p:nvPr/>
        </p:nvSpPr>
        <p:spPr>
          <a:xfrm>
            <a:off x="6830568" y="33741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Appointments &amp; Notifications</a:t>
            </a:r>
            <a:endParaRPr lang="en-US" sz="1150" dirty="0"/>
          </a:p>
        </p:txBody>
      </p:sp>
      <p:sp>
        <p:nvSpPr>
          <p:cNvPr id="41" name="Text 32"/>
          <p:cNvSpPr/>
          <p:nvPr/>
        </p:nvSpPr>
        <p:spPr>
          <a:xfrm>
            <a:off x="6355080" y="38862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Follow-up timeline</a:t>
            </a:r>
            <a:endParaRPr lang="en-US" sz="920" dirty="0"/>
          </a:p>
        </p:txBody>
      </p:sp>
      <p:sp>
        <p:nvSpPr>
          <p:cNvPr id="42" name="Shape 33"/>
          <p:cNvSpPr/>
          <p:nvPr/>
        </p:nvSpPr>
        <p:spPr>
          <a:xfrm>
            <a:off x="9006840" y="3200400"/>
            <a:ext cx="2514600" cy="1325880"/>
          </a:xfrm>
          <a:prstGeom prst="roundRect">
            <a:avLst>
              <a:gd name="adj" fmla="val 5517"/>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4"/>
          <p:cNvSpPr/>
          <p:nvPr/>
        </p:nvSpPr>
        <p:spPr>
          <a:xfrm>
            <a:off x="9171432" y="3364992"/>
            <a:ext cx="402336" cy="402336"/>
          </a:xfrm>
          <a:prstGeom prst="ellipse">
            <a:avLst/>
          </a:prstGeom>
          <a:solidFill>
            <a:srgbClr val="E8F8F4"/>
          </a:solidFill>
          <a:ln w="12700">
            <a:solidFill>
              <a:srgbClr val="E8F8F4"/>
            </a:solidFill>
            <a:prstDash val="solid"/>
          </a:ln>
        </p:spPr>
      </p:sp>
      <p:pic>
        <p:nvPicPr>
          <p:cNvPr id="4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272016" y="3465576"/>
            <a:ext cx="201168" cy="201168"/>
          </a:xfrm>
          <a:prstGeom prst="rect">
            <a:avLst/>
          </a:prstGeom>
        </p:spPr>
      </p:pic>
      <p:sp>
        <p:nvSpPr>
          <p:cNvPr id="45" name="Text 35"/>
          <p:cNvSpPr/>
          <p:nvPr/>
        </p:nvSpPr>
        <p:spPr>
          <a:xfrm>
            <a:off x="9665208" y="3374136"/>
            <a:ext cx="1691640" cy="310896"/>
          </a:xfrm>
          <a:prstGeom prst="rect">
            <a:avLst/>
          </a:prstGeom>
          <a:noFill/>
          <a:ln/>
        </p:spPr>
        <p:txBody>
          <a:bodyPr wrap="square" lIns="0" tIns="0" rIns="0" bIns="0" rtlCol="0" anchor="ctr">
            <a:normAutofit/>
          </a:bodyPr>
          <a:lstStyle/>
          <a:p>
            <a:pPr indent="0" marL="0">
              <a:buNone/>
            </a:pPr>
            <a:r>
              <a:rPr lang="en-US" sz="1150" b="1" dirty="0">
                <a:solidFill>
                  <a:srgbClr val="142A37"/>
                </a:solidFill>
                <a:latin typeface="Noto Sans" pitchFamily="34" charset="0"/>
                <a:ea typeface="Noto Sans" pitchFamily="34" charset="-122"/>
                <a:cs typeface="Noto Sans" pitchFamily="34" charset="-120"/>
              </a:rPr>
              <a:t>Future Files</a:t>
            </a:r>
            <a:endParaRPr lang="en-US" sz="1150" dirty="0"/>
          </a:p>
        </p:txBody>
      </p:sp>
      <p:sp>
        <p:nvSpPr>
          <p:cNvPr id="46" name="Text 36"/>
          <p:cNvSpPr/>
          <p:nvPr/>
        </p:nvSpPr>
        <p:spPr>
          <a:xfrm>
            <a:off x="9189720" y="3886200"/>
            <a:ext cx="2148840" cy="484632"/>
          </a:xfrm>
          <a:prstGeom prst="rect">
            <a:avLst/>
          </a:prstGeom>
          <a:noFill/>
          <a:ln/>
        </p:spPr>
        <p:txBody>
          <a:bodyPr wrap="square" lIns="254" tIns="254" rIns="254" bIns="254" rtlCol="0" anchor="t">
            <a:normAutofit/>
          </a:bodyPr>
          <a:lstStyle/>
          <a:p>
            <a:pPr indent="0" marL="0">
              <a:buNone/>
            </a:pPr>
            <a:r>
              <a:rPr lang="en-US" sz="920" dirty="0">
                <a:solidFill>
                  <a:srgbClr val="5F7180"/>
                </a:solidFill>
                <a:latin typeface="Noto Sans" pitchFamily="34" charset="0"/>
                <a:ea typeface="Noto Sans" pitchFamily="34" charset="-122"/>
                <a:cs typeface="Noto Sans" pitchFamily="34" charset="-120"/>
              </a:rPr>
              <a:t>Labs • imaging • medication photos</a:t>
            </a:r>
            <a:endParaRPr lang="en-US" sz="920" dirty="0"/>
          </a:p>
        </p:txBody>
      </p:sp>
      <p:sp>
        <p:nvSpPr>
          <p:cNvPr id="47" name="Shape 37"/>
          <p:cNvSpPr/>
          <p:nvPr/>
        </p:nvSpPr>
        <p:spPr>
          <a:xfrm>
            <a:off x="914400" y="5303520"/>
            <a:ext cx="10287000" cy="621792"/>
          </a:xfrm>
          <a:prstGeom prst="roundRect">
            <a:avLst>
              <a:gd name="adj" fmla="val 14706"/>
            </a:avLst>
          </a:prstGeom>
          <a:solidFill>
            <a:srgbClr val="EAF2FF"/>
          </a:solidFill>
          <a:ln w="12700">
            <a:solidFill>
              <a:srgbClr val="C6DFFF"/>
            </a:solidFill>
            <a:prstDash val="solid"/>
          </a:ln>
        </p:spPr>
      </p:sp>
      <p:sp>
        <p:nvSpPr>
          <p:cNvPr id="48" name="Text 38"/>
          <p:cNvSpPr/>
          <p:nvPr/>
        </p:nvSpPr>
        <p:spPr>
          <a:xfrm>
            <a:off x="1143000" y="5468112"/>
            <a:ext cx="9829800" cy="274320"/>
          </a:xfrm>
          <a:prstGeom prst="rect">
            <a:avLst/>
          </a:prstGeom>
          <a:noFill/>
          <a:ln/>
        </p:spPr>
        <p:txBody>
          <a:bodyPr wrap="square" lIns="0" tIns="0" rIns="0" bIns="0" rtlCol="0" anchor="ctr">
            <a:normAutofit/>
          </a:bodyPr>
          <a:lstStyle/>
          <a:p>
            <a:pPr algn="ctr" indent="0" marL="0">
              <a:buNone/>
            </a:pPr>
            <a:r>
              <a:rPr lang="en-US" sz="950" b="1" dirty="0">
                <a:solidFill>
                  <a:srgbClr val="2F80ED"/>
                </a:solidFill>
                <a:latin typeface="Noto Sans" pitchFamily="34" charset="0"/>
                <a:ea typeface="Noto Sans" pitchFamily="34" charset="-122"/>
                <a:cs typeface="Noto Sans" pitchFamily="34" charset="-120"/>
              </a:rPr>
              <a:t>Delete account / data workflow is required. Retention, backup and deletion policy must be defined before production according to the target market’s legal requirements.</a:t>
            </a:r>
            <a:endParaRPr lang="en-US" sz="95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Security, Privacy &amp; Compliance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product handles sensitive medical data — security controls are “Must”, not post-launch nice-to-haves.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SECURITY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53312"/>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667512" y="1517904"/>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18488"/>
            <a:ext cx="201168" cy="201168"/>
          </a:xfrm>
          <a:prstGeom prst="rect">
            <a:avLst/>
          </a:prstGeom>
        </p:spPr>
      </p:pic>
      <p:sp>
        <p:nvSpPr>
          <p:cNvPr id="10" name="Text 7"/>
          <p:cNvSpPr/>
          <p:nvPr/>
        </p:nvSpPr>
        <p:spPr>
          <a:xfrm>
            <a:off x="1161288" y="1527048"/>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Password security</a:t>
            </a:r>
            <a:endParaRPr lang="en-US" sz="1140" dirty="0"/>
          </a:p>
        </p:txBody>
      </p:sp>
      <p:sp>
        <p:nvSpPr>
          <p:cNvPr id="11" name="Text 8"/>
          <p:cNvSpPr/>
          <p:nvPr/>
        </p:nvSpPr>
        <p:spPr>
          <a:xfrm>
            <a:off x="685800" y="2039112"/>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Strong hashing; never store plaintext passwords</a:t>
            </a:r>
            <a:endParaRPr lang="en-US" sz="890" dirty="0"/>
          </a:p>
        </p:txBody>
      </p:sp>
      <p:sp>
        <p:nvSpPr>
          <p:cNvPr id="12" name="Shape 9"/>
          <p:cNvSpPr/>
          <p:nvPr/>
        </p:nvSpPr>
        <p:spPr>
          <a:xfrm>
            <a:off x="4325112" y="1353312"/>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4489704" y="1517904"/>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0288" y="1618488"/>
            <a:ext cx="201168" cy="201168"/>
          </a:xfrm>
          <a:prstGeom prst="rect">
            <a:avLst/>
          </a:prstGeom>
        </p:spPr>
      </p:pic>
      <p:sp>
        <p:nvSpPr>
          <p:cNvPr id="15" name="Text 11"/>
          <p:cNvSpPr/>
          <p:nvPr/>
        </p:nvSpPr>
        <p:spPr>
          <a:xfrm>
            <a:off x="4983480" y="1527048"/>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Encryption in transit</a:t>
            </a:r>
            <a:endParaRPr lang="en-US" sz="1140" dirty="0"/>
          </a:p>
        </p:txBody>
      </p:sp>
      <p:sp>
        <p:nvSpPr>
          <p:cNvPr id="16" name="Text 12"/>
          <p:cNvSpPr/>
          <p:nvPr/>
        </p:nvSpPr>
        <p:spPr>
          <a:xfrm>
            <a:off x="4507992" y="2039112"/>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HTTPS / TLS</a:t>
            </a:r>
            <a:endParaRPr lang="en-US" sz="890" dirty="0"/>
          </a:p>
        </p:txBody>
      </p:sp>
      <p:sp>
        <p:nvSpPr>
          <p:cNvPr id="17" name="Shape 13"/>
          <p:cNvSpPr/>
          <p:nvPr/>
        </p:nvSpPr>
        <p:spPr>
          <a:xfrm>
            <a:off x="8147304" y="1353312"/>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8311896" y="1517904"/>
            <a:ext cx="402336" cy="402336"/>
          </a:xfrm>
          <a:prstGeom prst="ellipse">
            <a:avLst/>
          </a:prstGeom>
          <a:solidFill>
            <a:srgbClr val="E8F8F4"/>
          </a:solidFill>
          <a:ln w="12700">
            <a:solidFill>
              <a:srgbClr val="E8F8F4"/>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2480" y="1618488"/>
            <a:ext cx="201168" cy="201168"/>
          </a:xfrm>
          <a:prstGeom prst="rect">
            <a:avLst/>
          </a:prstGeom>
        </p:spPr>
      </p:pic>
      <p:sp>
        <p:nvSpPr>
          <p:cNvPr id="20" name="Text 15"/>
          <p:cNvSpPr/>
          <p:nvPr/>
        </p:nvSpPr>
        <p:spPr>
          <a:xfrm>
            <a:off x="8805672" y="1527048"/>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Encryption at rest</a:t>
            </a:r>
            <a:endParaRPr lang="en-US" sz="1140" dirty="0"/>
          </a:p>
        </p:txBody>
      </p:sp>
      <p:sp>
        <p:nvSpPr>
          <p:cNvPr id="21" name="Text 16"/>
          <p:cNvSpPr/>
          <p:nvPr/>
        </p:nvSpPr>
        <p:spPr>
          <a:xfrm>
            <a:off x="8330184" y="2039112"/>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Protect sensitive medical data and stored files</a:t>
            </a:r>
            <a:endParaRPr lang="en-US" sz="890" dirty="0"/>
          </a:p>
        </p:txBody>
      </p:sp>
      <p:sp>
        <p:nvSpPr>
          <p:cNvPr id="22" name="Shape 17"/>
          <p:cNvSpPr/>
          <p:nvPr/>
        </p:nvSpPr>
        <p:spPr>
          <a:xfrm>
            <a:off x="502920" y="2834640"/>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667512" y="2999232"/>
            <a:ext cx="402336" cy="402336"/>
          </a:xfrm>
          <a:prstGeom prst="ellipse">
            <a:avLst/>
          </a:prstGeom>
          <a:solidFill>
            <a:srgbClr val="E8F8F4"/>
          </a:solidFill>
          <a:ln w="12700">
            <a:solidFill>
              <a:srgbClr val="E8F8F4"/>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096" y="3099816"/>
            <a:ext cx="201168" cy="201168"/>
          </a:xfrm>
          <a:prstGeom prst="rect">
            <a:avLst/>
          </a:prstGeom>
        </p:spPr>
      </p:pic>
      <p:sp>
        <p:nvSpPr>
          <p:cNvPr id="25" name="Text 19"/>
          <p:cNvSpPr/>
          <p:nvPr/>
        </p:nvSpPr>
        <p:spPr>
          <a:xfrm>
            <a:off x="1161288" y="3008376"/>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RBAC</a:t>
            </a:r>
            <a:endParaRPr lang="en-US" sz="1140" dirty="0"/>
          </a:p>
        </p:txBody>
      </p:sp>
      <p:sp>
        <p:nvSpPr>
          <p:cNvPr id="26" name="Text 20"/>
          <p:cNvSpPr/>
          <p:nvPr/>
        </p:nvSpPr>
        <p:spPr>
          <a:xfrm>
            <a:off x="685800" y="3520440"/>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Patient / Doctor / Admin + admin sub-roles</a:t>
            </a:r>
            <a:endParaRPr lang="en-US" sz="890" dirty="0"/>
          </a:p>
        </p:txBody>
      </p:sp>
      <p:sp>
        <p:nvSpPr>
          <p:cNvPr id="27" name="Shape 21"/>
          <p:cNvSpPr/>
          <p:nvPr/>
        </p:nvSpPr>
        <p:spPr>
          <a:xfrm>
            <a:off x="4325112" y="2834640"/>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4489704" y="2999232"/>
            <a:ext cx="402336" cy="402336"/>
          </a:xfrm>
          <a:prstGeom prst="ellipse">
            <a:avLst/>
          </a:prstGeom>
          <a:solidFill>
            <a:srgbClr val="FFF6E5"/>
          </a:solidFill>
          <a:ln w="12700">
            <a:solidFill>
              <a:srgbClr val="FFF6E5"/>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0288" y="3099816"/>
            <a:ext cx="201168" cy="201168"/>
          </a:xfrm>
          <a:prstGeom prst="rect">
            <a:avLst/>
          </a:prstGeom>
        </p:spPr>
      </p:pic>
      <p:sp>
        <p:nvSpPr>
          <p:cNvPr id="30" name="Text 23"/>
          <p:cNvSpPr/>
          <p:nvPr/>
        </p:nvSpPr>
        <p:spPr>
          <a:xfrm>
            <a:off x="4983480" y="3008376"/>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Consent</a:t>
            </a:r>
            <a:endParaRPr lang="en-US" sz="1140" dirty="0"/>
          </a:p>
        </p:txBody>
      </p:sp>
      <p:sp>
        <p:nvSpPr>
          <p:cNvPr id="31" name="Text 24"/>
          <p:cNvSpPr/>
          <p:nvPr/>
        </p:nvSpPr>
        <p:spPr>
          <a:xfrm>
            <a:off x="4507992" y="3520440"/>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Explicit consent before medical data collection / use</a:t>
            </a:r>
            <a:endParaRPr lang="en-US" sz="890" dirty="0"/>
          </a:p>
        </p:txBody>
      </p:sp>
      <p:sp>
        <p:nvSpPr>
          <p:cNvPr id="32" name="Shape 25"/>
          <p:cNvSpPr/>
          <p:nvPr/>
        </p:nvSpPr>
        <p:spPr>
          <a:xfrm>
            <a:off x="8147304" y="2834640"/>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8311896" y="2999232"/>
            <a:ext cx="402336" cy="402336"/>
          </a:xfrm>
          <a:prstGeom prst="ellipse">
            <a:avLst/>
          </a:prstGeom>
          <a:solidFill>
            <a:srgbClr val="E8F8F4"/>
          </a:solidFill>
          <a:ln w="12700">
            <a:solidFill>
              <a:srgbClr val="E8F8F4"/>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12480" y="3099816"/>
            <a:ext cx="201168" cy="201168"/>
          </a:xfrm>
          <a:prstGeom prst="rect">
            <a:avLst/>
          </a:prstGeom>
        </p:spPr>
      </p:pic>
      <p:sp>
        <p:nvSpPr>
          <p:cNvPr id="35" name="Text 27"/>
          <p:cNvSpPr/>
          <p:nvPr/>
        </p:nvSpPr>
        <p:spPr>
          <a:xfrm>
            <a:off x="8805672" y="3008376"/>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Audit Log</a:t>
            </a:r>
            <a:endParaRPr lang="en-US" sz="1140" dirty="0"/>
          </a:p>
        </p:txBody>
      </p:sp>
      <p:sp>
        <p:nvSpPr>
          <p:cNvPr id="36" name="Text 28"/>
          <p:cNvSpPr/>
          <p:nvPr/>
        </p:nvSpPr>
        <p:spPr>
          <a:xfrm>
            <a:off x="8330184" y="3520440"/>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Who viewed / changed / approved data and when</a:t>
            </a:r>
            <a:endParaRPr lang="en-US" sz="890" dirty="0"/>
          </a:p>
        </p:txBody>
      </p:sp>
      <p:sp>
        <p:nvSpPr>
          <p:cNvPr id="37" name="Shape 29"/>
          <p:cNvSpPr/>
          <p:nvPr/>
        </p:nvSpPr>
        <p:spPr>
          <a:xfrm>
            <a:off x="502920" y="4315968"/>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8" name="Shape 30"/>
          <p:cNvSpPr/>
          <p:nvPr/>
        </p:nvSpPr>
        <p:spPr>
          <a:xfrm>
            <a:off x="667512" y="4480560"/>
            <a:ext cx="402336" cy="402336"/>
          </a:xfrm>
          <a:prstGeom prst="ellipse">
            <a:avLst/>
          </a:prstGeom>
          <a:solidFill>
            <a:srgbClr val="E8F8F4"/>
          </a:solidFill>
          <a:ln w="12700">
            <a:solidFill>
              <a:srgbClr val="E8F8F4"/>
            </a:solidFill>
            <a:prstDash val="solid"/>
          </a:ln>
        </p:spPr>
      </p:sp>
      <p:pic>
        <p:nvPicPr>
          <p:cNvPr id="3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8096" y="4581144"/>
            <a:ext cx="201168" cy="201168"/>
          </a:xfrm>
          <a:prstGeom prst="rect">
            <a:avLst/>
          </a:prstGeom>
        </p:spPr>
      </p:pic>
      <p:sp>
        <p:nvSpPr>
          <p:cNvPr id="40" name="Text 31"/>
          <p:cNvSpPr/>
          <p:nvPr/>
        </p:nvSpPr>
        <p:spPr>
          <a:xfrm>
            <a:off x="1161288" y="4489704"/>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Terms &amp; Privacy</a:t>
            </a:r>
            <a:endParaRPr lang="en-US" sz="1140" dirty="0"/>
          </a:p>
        </p:txBody>
      </p:sp>
      <p:sp>
        <p:nvSpPr>
          <p:cNvPr id="41" name="Text 32"/>
          <p:cNvSpPr/>
          <p:nvPr/>
        </p:nvSpPr>
        <p:spPr>
          <a:xfrm>
            <a:off x="685800" y="5001768"/>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Required before real launch</a:t>
            </a:r>
            <a:endParaRPr lang="en-US" sz="890" dirty="0"/>
          </a:p>
        </p:txBody>
      </p:sp>
      <p:sp>
        <p:nvSpPr>
          <p:cNvPr id="42" name="Shape 33"/>
          <p:cNvSpPr/>
          <p:nvPr/>
        </p:nvSpPr>
        <p:spPr>
          <a:xfrm>
            <a:off x="4325112" y="4315968"/>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4"/>
          <p:cNvSpPr/>
          <p:nvPr/>
        </p:nvSpPr>
        <p:spPr>
          <a:xfrm>
            <a:off x="4489704" y="4480560"/>
            <a:ext cx="402336" cy="402336"/>
          </a:xfrm>
          <a:prstGeom prst="ellipse">
            <a:avLst/>
          </a:prstGeom>
          <a:solidFill>
            <a:srgbClr val="E8F8F4"/>
          </a:solidFill>
          <a:ln w="12700">
            <a:solidFill>
              <a:srgbClr val="E8F8F4"/>
            </a:solidFill>
            <a:prstDash val="solid"/>
          </a:ln>
        </p:spPr>
      </p:sp>
      <p:pic>
        <p:nvPicPr>
          <p:cNvPr id="4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90288" y="4581144"/>
            <a:ext cx="201168" cy="201168"/>
          </a:xfrm>
          <a:prstGeom prst="rect">
            <a:avLst/>
          </a:prstGeom>
        </p:spPr>
      </p:pic>
      <p:sp>
        <p:nvSpPr>
          <p:cNvPr id="45" name="Text 35"/>
          <p:cNvSpPr/>
          <p:nvPr/>
        </p:nvSpPr>
        <p:spPr>
          <a:xfrm>
            <a:off x="4983480" y="4489704"/>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Account deletion</a:t>
            </a:r>
            <a:endParaRPr lang="en-US" sz="1140" dirty="0"/>
          </a:p>
        </p:txBody>
      </p:sp>
      <p:sp>
        <p:nvSpPr>
          <p:cNvPr id="46" name="Text 36"/>
          <p:cNvSpPr/>
          <p:nvPr/>
        </p:nvSpPr>
        <p:spPr>
          <a:xfrm>
            <a:off x="4507992" y="5001768"/>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Clear deletion workflow + retention policy</a:t>
            </a:r>
            <a:endParaRPr lang="en-US" sz="890" dirty="0"/>
          </a:p>
        </p:txBody>
      </p:sp>
      <p:sp>
        <p:nvSpPr>
          <p:cNvPr id="47" name="Shape 37"/>
          <p:cNvSpPr/>
          <p:nvPr/>
        </p:nvSpPr>
        <p:spPr>
          <a:xfrm>
            <a:off x="8147304" y="4315968"/>
            <a:ext cx="3493008" cy="1216152"/>
          </a:xfrm>
          <a:prstGeom prst="roundRect">
            <a:avLst>
              <a:gd name="adj" fmla="val 6015"/>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8" name="Shape 38"/>
          <p:cNvSpPr/>
          <p:nvPr/>
        </p:nvSpPr>
        <p:spPr>
          <a:xfrm>
            <a:off x="8311896" y="4480560"/>
            <a:ext cx="402336" cy="402336"/>
          </a:xfrm>
          <a:prstGeom prst="ellipse">
            <a:avLst/>
          </a:prstGeom>
          <a:solidFill>
            <a:srgbClr val="E8F8F4"/>
          </a:solidFill>
          <a:ln w="12700">
            <a:solidFill>
              <a:srgbClr val="E8F8F4"/>
            </a:solidFill>
            <a:prstDash val="solid"/>
          </a:ln>
        </p:spPr>
      </p:sp>
      <p:pic>
        <p:nvPicPr>
          <p:cNvPr id="4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12480" y="4581144"/>
            <a:ext cx="201168" cy="201168"/>
          </a:xfrm>
          <a:prstGeom prst="rect">
            <a:avLst/>
          </a:prstGeom>
        </p:spPr>
      </p:pic>
      <p:sp>
        <p:nvSpPr>
          <p:cNvPr id="50" name="Text 39"/>
          <p:cNvSpPr/>
          <p:nvPr/>
        </p:nvSpPr>
        <p:spPr>
          <a:xfrm>
            <a:off x="8805672" y="4489704"/>
            <a:ext cx="2670048" cy="310896"/>
          </a:xfrm>
          <a:prstGeom prst="rect">
            <a:avLst/>
          </a:prstGeom>
          <a:noFill/>
          <a:ln/>
        </p:spPr>
        <p:txBody>
          <a:bodyPr wrap="square" lIns="0" tIns="0" rIns="0" bIns="0" rtlCol="0" anchor="ctr">
            <a:normAutofit/>
          </a:bodyPr>
          <a:lstStyle/>
          <a:p>
            <a:pPr indent="0" marL="0">
              <a:buNone/>
            </a:pPr>
            <a:r>
              <a:rPr lang="en-US" sz="1140" b="1" dirty="0">
                <a:solidFill>
                  <a:srgbClr val="142A37"/>
                </a:solidFill>
                <a:latin typeface="Noto Sans" pitchFamily="34" charset="0"/>
                <a:ea typeface="Noto Sans" pitchFamily="34" charset="-122"/>
                <a:cs typeface="Noto Sans" pitchFamily="34" charset="-120"/>
              </a:rPr>
              <a:t>Doctor verification</a:t>
            </a:r>
            <a:endParaRPr lang="en-US" sz="1140" dirty="0"/>
          </a:p>
        </p:txBody>
      </p:sp>
      <p:sp>
        <p:nvSpPr>
          <p:cNvPr id="51" name="Text 40"/>
          <p:cNvSpPr/>
          <p:nvPr/>
        </p:nvSpPr>
        <p:spPr>
          <a:xfrm>
            <a:off x="8330184" y="5001768"/>
            <a:ext cx="3127248" cy="374904"/>
          </a:xfrm>
          <a:prstGeom prst="rect">
            <a:avLst/>
          </a:prstGeom>
          <a:noFill/>
          <a:ln/>
        </p:spPr>
        <p:txBody>
          <a:bodyPr wrap="square" lIns="254" tIns="254" rIns="254" bIns="254" rtlCol="0" anchor="t">
            <a:normAutofit/>
          </a:bodyPr>
          <a:lstStyle/>
          <a:p>
            <a:pPr indent="0" marL="0">
              <a:buNone/>
            </a:pPr>
            <a:r>
              <a:rPr lang="en-US" sz="890" dirty="0">
                <a:solidFill>
                  <a:srgbClr val="5F7180"/>
                </a:solidFill>
                <a:latin typeface="Noto Sans" pitchFamily="34" charset="0"/>
                <a:ea typeface="Noto Sans" pitchFamily="34" charset="-122"/>
                <a:cs typeface="Noto Sans" pitchFamily="34" charset="-120"/>
              </a:rPr>
              <a:t>Required before production doctor activation</a:t>
            </a:r>
            <a:endParaRPr lang="en-US" sz="890" dirty="0"/>
          </a:p>
        </p:txBody>
      </p:sp>
      <p:sp>
        <p:nvSpPr>
          <p:cNvPr id="52" name="Shape 41"/>
          <p:cNvSpPr/>
          <p:nvPr/>
        </p:nvSpPr>
        <p:spPr>
          <a:xfrm>
            <a:off x="1143000" y="5897880"/>
            <a:ext cx="9829800" cy="347472"/>
          </a:xfrm>
          <a:prstGeom prst="roundRect">
            <a:avLst>
              <a:gd name="adj" fmla="val 21053"/>
            </a:avLst>
          </a:prstGeom>
          <a:solidFill>
            <a:srgbClr val="FDECEF"/>
          </a:solidFill>
          <a:ln w="12700">
            <a:solidFill>
              <a:srgbClr val="F2C5CB"/>
            </a:solidFill>
            <a:prstDash val="solid"/>
          </a:ln>
        </p:spPr>
      </p:sp>
      <p:sp>
        <p:nvSpPr>
          <p:cNvPr id="53" name="Text 42"/>
          <p:cNvSpPr/>
          <p:nvPr/>
        </p:nvSpPr>
        <p:spPr>
          <a:xfrm>
            <a:off x="1325880" y="5998464"/>
            <a:ext cx="9464040" cy="146304"/>
          </a:xfrm>
          <a:prstGeom prst="rect">
            <a:avLst/>
          </a:prstGeom>
          <a:noFill/>
          <a:ln/>
        </p:spPr>
        <p:txBody>
          <a:bodyPr wrap="square" lIns="0" tIns="0" rIns="0" bIns="0" rtlCol="0" anchor="ctr">
            <a:normAutofit/>
          </a:bodyPr>
          <a:lstStyle/>
          <a:p>
            <a:pPr algn="ctr" indent="0" marL="0">
              <a:buNone/>
            </a:pPr>
            <a:r>
              <a:rPr lang="en-US" sz="880" b="1" dirty="0">
                <a:solidFill>
                  <a:srgbClr val="E65B66"/>
                </a:solidFill>
                <a:latin typeface="Noto Sans" pitchFamily="34" charset="0"/>
                <a:ea typeface="Noto Sans" pitchFamily="34" charset="-122"/>
                <a:cs typeface="Noto Sans" pitchFamily="34" charset="-120"/>
              </a:rPr>
              <a:t>Legal review before launch: determine what Egyptian law applies and whether frameworks such as GDPR / HIPAA apply in any target market.</a:t>
            </a:r>
            <a:endParaRPr lang="en-US" sz="88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Integration Landscape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Some integrations support the MVP; others are explicitly post-MVP.</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INTEGRATIONS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4983480" y="2057400"/>
            <a:ext cx="2240280" cy="2240280"/>
          </a:xfrm>
          <a:prstGeom prst="ellipse">
            <a:avLst/>
          </a:prstGeom>
          <a:solidFill>
            <a:srgbClr val="092B33"/>
          </a:solidFill>
          <a:ln w="12700">
            <a:solidFill>
              <a:srgbClr val="092B33"/>
            </a:solidFill>
            <a:prstDash val="solid"/>
          </a:ln>
        </p:spPr>
      </p:sp>
      <p:sp>
        <p:nvSpPr>
          <p:cNvPr id="8" name="Text 6"/>
          <p:cNvSpPr/>
          <p:nvPr/>
        </p:nvSpPr>
        <p:spPr>
          <a:xfrm>
            <a:off x="5321808" y="2697480"/>
            <a:ext cx="15544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pitchFamily="34" charset="0"/>
                <a:ea typeface="Noto Sans" pitchFamily="34" charset="-122"/>
                <a:cs typeface="Noto Sans" pitchFamily="34" charset="-120"/>
              </a:rPr>
              <a:t>HealthVibe</a:t>
            </a:r>
            <a:endParaRPr lang="en-US" sz="1800" dirty="0"/>
          </a:p>
          <a:p>
            <a:pPr algn="ctr" indent="0" marL="0">
              <a:buNone/>
            </a:pPr>
            <a:r>
              <a:rPr lang="en-US" sz="1800" b="1" dirty="0">
                <a:solidFill>
                  <a:srgbClr val="FFFFFF"/>
                </a:solidFill>
                <a:latin typeface="Noto Sans" pitchFamily="34" charset="0"/>
                <a:ea typeface="Noto Sans" pitchFamily="34" charset="-122"/>
                <a:cs typeface="Noto Sans" pitchFamily="34" charset="-120"/>
              </a:rPr>
              <a:t>Core</a:t>
            </a:r>
            <a:endParaRPr lang="en-US" sz="1800" dirty="0"/>
          </a:p>
        </p:txBody>
      </p:sp>
      <p:sp>
        <p:nvSpPr>
          <p:cNvPr id="9" name="Shape 7"/>
          <p:cNvSpPr/>
          <p:nvPr/>
        </p:nvSpPr>
        <p:spPr>
          <a:xfrm>
            <a:off x="594360" y="1143000"/>
            <a:ext cx="1920240" cy="960120"/>
          </a:xfrm>
          <a:prstGeom prst="roundRect">
            <a:avLst>
              <a:gd name="adj" fmla="val 7619"/>
            </a:avLst>
          </a:prstGeom>
          <a:solidFill>
            <a:srgbClr val="FFFFFF"/>
          </a:solidFill>
          <a:ln w="13970">
            <a:solidFill>
              <a:srgbClr val="DDE7EA"/>
            </a:solidFill>
            <a:prstDash val="solid"/>
          </a:ln>
        </p:spPr>
      </p:sp>
      <p:sp>
        <p:nvSpPr>
          <p:cNvPr id="10" name="Shape 8"/>
          <p:cNvSpPr/>
          <p:nvPr/>
        </p:nvSpPr>
        <p:spPr>
          <a:xfrm>
            <a:off x="758952" y="1307592"/>
            <a:ext cx="402336" cy="402336"/>
          </a:xfrm>
          <a:prstGeom prst="ellipse">
            <a:avLst/>
          </a:prstGeom>
          <a:solidFill>
            <a:srgbClr val="E8F8F4"/>
          </a:solidFill>
          <a:ln w="12700">
            <a:solidFill>
              <a:srgbClr val="E8F8F4"/>
            </a:solidFill>
            <a:prstDash val="solid"/>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408176"/>
            <a:ext cx="201168" cy="201168"/>
          </a:xfrm>
          <a:prstGeom prst="rect">
            <a:avLst/>
          </a:prstGeom>
        </p:spPr>
      </p:pic>
      <p:sp>
        <p:nvSpPr>
          <p:cNvPr id="12" name="Text 9"/>
          <p:cNvSpPr/>
          <p:nvPr/>
        </p:nvSpPr>
        <p:spPr>
          <a:xfrm>
            <a:off x="1252728" y="131673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Email</a:t>
            </a:r>
            <a:endParaRPr lang="en-US" sz="1080" dirty="0"/>
          </a:p>
        </p:txBody>
      </p:sp>
      <p:sp>
        <p:nvSpPr>
          <p:cNvPr id="13" name="Text 10"/>
          <p:cNvSpPr/>
          <p:nvPr/>
        </p:nvSpPr>
        <p:spPr>
          <a:xfrm>
            <a:off x="777240" y="182880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MVP / Phase 1</a:t>
            </a:r>
            <a:endParaRPr lang="en-US" sz="850" dirty="0"/>
          </a:p>
        </p:txBody>
      </p:sp>
      <p:sp>
        <p:nvSpPr>
          <p:cNvPr id="14" name="Shape 11"/>
          <p:cNvSpPr/>
          <p:nvPr/>
        </p:nvSpPr>
        <p:spPr>
          <a:xfrm>
            <a:off x="1554480" y="1618488"/>
            <a:ext cx="4544568" cy="1563624"/>
          </a:xfrm>
          <a:prstGeom prst="line">
            <a:avLst/>
          </a:prstGeom>
          <a:noFill/>
          <a:ln w="10160">
            <a:solidFill>
              <a:srgbClr val="DDE7EA"/>
            </a:solidFill>
            <a:prstDash val="solid"/>
            <a:headEnd type="none"/>
            <a:tailEnd type="triangle"/>
          </a:ln>
        </p:spPr>
      </p:sp>
      <p:sp>
        <p:nvSpPr>
          <p:cNvPr id="15" name="Shape 12"/>
          <p:cNvSpPr/>
          <p:nvPr/>
        </p:nvSpPr>
        <p:spPr>
          <a:xfrm>
            <a:off x="594360" y="4160520"/>
            <a:ext cx="1920240" cy="960120"/>
          </a:xfrm>
          <a:prstGeom prst="roundRect">
            <a:avLst>
              <a:gd name="adj" fmla="val 7619"/>
            </a:avLst>
          </a:prstGeom>
          <a:solidFill>
            <a:srgbClr val="FFFFFF"/>
          </a:solidFill>
          <a:ln w="13970">
            <a:solidFill>
              <a:srgbClr val="DDE7EA"/>
            </a:solidFill>
            <a:prstDash val="solid"/>
          </a:ln>
        </p:spPr>
      </p:sp>
      <p:sp>
        <p:nvSpPr>
          <p:cNvPr id="16" name="Shape 13"/>
          <p:cNvSpPr/>
          <p:nvPr/>
        </p:nvSpPr>
        <p:spPr>
          <a:xfrm>
            <a:off x="758952" y="4325112"/>
            <a:ext cx="402336" cy="402336"/>
          </a:xfrm>
          <a:prstGeom prst="ellipse">
            <a:avLst/>
          </a:prstGeom>
          <a:solidFill>
            <a:srgbClr val="E8F8F4"/>
          </a:solidFill>
          <a:ln w="12700">
            <a:solidFill>
              <a:srgbClr val="E8F8F4"/>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536" y="4425696"/>
            <a:ext cx="201168" cy="201168"/>
          </a:xfrm>
          <a:prstGeom prst="rect">
            <a:avLst/>
          </a:prstGeom>
        </p:spPr>
      </p:pic>
      <p:sp>
        <p:nvSpPr>
          <p:cNvPr id="18" name="Text 14"/>
          <p:cNvSpPr/>
          <p:nvPr/>
        </p:nvSpPr>
        <p:spPr>
          <a:xfrm>
            <a:off x="1252728" y="433425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SMS</a:t>
            </a:r>
            <a:endParaRPr lang="en-US" sz="1080" dirty="0"/>
          </a:p>
        </p:txBody>
      </p:sp>
      <p:sp>
        <p:nvSpPr>
          <p:cNvPr id="19" name="Text 15"/>
          <p:cNvSpPr/>
          <p:nvPr/>
        </p:nvSpPr>
        <p:spPr>
          <a:xfrm>
            <a:off x="777240" y="484632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20" name="Shape 16"/>
          <p:cNvSpPr/>
          <p:nvPr/>
        </p:nvSpPr>
        <p:spPr>
          <a:xfrm>
            <a:off x="1554480" y="4636008"/>
            <a:ext cx="4544568" cy="-1453896"/>
          </a:xfrm>
          <a:prstGeom prst="line">
            <a:avLst/>
          </a:prstGeom>
          <a:noFill/>
          <a:ln w="10160">
            <a:solidFill>
              <a:srgbClr val="DDE7EA"/>
            </a:solidFill>
            <a:prstDash val="solid"/>
            <a:headEnd type="none"/>
            <a:tailEnd type="triangle"/>
          </a:ln>
        </p:spPr>
      </p:sp>
      <p:sp>
        <p:nvSpPr>
          <p:cNvPr id="21" name="Shape 17"/>
          <p:cNvSpPr/>
          <p:nvPr/>
        </p:nvSpPr>
        <p:spPr>
          <a:xfrm>
            <a:off x="2788920" y="4709160"/>
            <a:ext cx="1920240" cy="960120"/>
          </a:xfrm>
          <a:prstGeom prst="roundRect">
            <a:avLst>
              <a:gd name="adj" fmla="val 7619"/>
            </a:avLst>
          </a:prstGeom>
          <a:solidFill>
            <a:srgbClr val="FFFFFF"/>
          </a:solidFill>
          <a:ln w="13970">
            <a:solidFill>
              <a:srgbClr val="DDE7EA"/>
            </a:solidFill>
            <a:prstDash val="solid"/>
          </a:ln>
        </p:spPr>
      </p:sp>
      <p:sp>
        <p:nvSpPr>
          <p:cNvPr id="22" name="Shape 18"/>
          <p:cNvSpPr/>
          <p:nvPr/>
        </p:nvSpPr>
        <p:spPr>
          <a:xfrm>
            <a:off x="2953512" y="4873752"/>
            <a:ext cx="402336" cy="402336"/>
          </a:xfrm>
          <a:prstGeom prst="ellipse">
            <a:avLst/>
          </a:prstGeom>
          <a:solidFill>
            <a:srgbClr val="E8F8F4"/>
          </a:solidFill>
          <a:ln w="12700">
            <a:solidFill>
              <a:srgbClr val="E8F8F4"/>
            </a:solidFill>
            <a:prstDash val="solid"/>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54096" y="4974336"/>
            <a:ext cx="201168" cy="201168"/>
          </a:xfrm>
          <a:prstGeom prst="rect">
            <a:avLst/>
          </a:prstGeom>
        </p:spPr>
      </p:pic>
      <p:sp>
        <p:nvSpPr>
          <p:cNvPr id="24" name="Text 19"/>
          <p:cNvSpPr/>
          <p:nvPr/>
        </p:nvSpPr>
        <p:spPr>
          <a:xfrm>
            <a:off x="3447288" y="488289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WhatsApp</a:t>
            </a:r>
            <a:endParaRPr lang="en-US" sz="1080" dirty="0"/>
          </a:p>
        </p:txBody>
      </p:sp>
      <p:sp>
        <p:nvSpPr>
          <p:cNvPr id="25" name="Text 20"/>
          <p:cNvSpPr/>
          <p:nvPr/>
        </p:nvSpPr>
        <p:spPr>
          <a:xfrm>
            <a:off x="2971800" y="539496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26" name="Shape 21"/>
          <p:cNvSpPr/>
          <p:nvPr/>
        </p:nvSpPr>
        <p:spPr>
          <a:xfrm>
            <a:off x="3749040" y="5184648"/>
            <a:ext cx="2350008" cy="-2002536"/>
          </a:xfrm>
          <a:prstGeom prst="line">
            <a:avLst/>
          </a:prstGeom>
          <a:noFill/>
          <a:ln w="10160">
            <a:solidFill>
              <a:srgbClr val="DDE7EA"/>
            </a:solidFill>
            <a:prstDash val="solid"/>
            <a:headEnd type="none"/>
            <a:tailEnd type="triangle"/>
          </a:ln>
        </p:spPr>
      </p:sp>
      <p:sp>
        <p:nvSpPr>
          <p:cNvPr id="27" name="Shape 22"/>
          <p:cNvSpPr/>
          <p:nvPr/>
        </p:nvSpPr>
        <p:spPr>
          <a:xfrm>
            <a:off x="9052560" y="4709160"/>
            <a:ext cx="1920240" cy="960120"/>
          </a:xfrm>
          <a:prstGeom prst="roundRect">
            <a:avLst>
              <a:gd name="adj" fmla="val 7619"/>
            </a:avLst>
          </a:prstGeom>
          <a:solidFill>
            <a:srgbClr val="FFFFFF"/>
          </a:solidFill>
          <a:ln w="13970">
            <a:solidFill>
              <a:srgbClr val="DDE7EA"/>
            </a:solidFill>
            <a:prstDash val="solid"/>
          </a:ln>
        </p:spPr>
      </p:sp>
      <p:sp>
        <p:nvSpPr>
          <p:cNvPr id="28" name="Shape 23"/>
          <p:cNvSpPr/>
          <p:nvPr/>
        </p:nvSpPr>
        <p:spPr>
          <a:xfrm>
            <a:off x="9217152" y="4873752"/>
            <a:ext cx="402336" cy="402336"/>
          </a:xfrm>
          <a:prstGeom prst="ellipse">
            <a:avLst/>
          </a:prstGeom>
          <a:solidFill>
            <a:srgbClr val="E8F8F4"/>
          </a:solidFill>
          <a:ln w="12700">
            <a:solidFill>
              <a:srgbClr val="E8F8F4"/>
            </a:solidFill>
            <a:prstDash val="solid"/>
          </a:ln>
        </p:spPr>
      </p:sp>
      <p:pic>
        <p:nvPicPr>
          <p:cNvPr id="2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17736" y="4974336"/>
            <a:ext cx="201168" cy="201168"/>
          </a:xfrm>
          <a:prstGeom prst="rect">
            <a:avLst/>
          </a:prstGeom>
        </p:spPr>
      </p:pic>
      <p:sp>
        <p:nvSpPr>
          <p:cNvPr id="30" name="Text 24"/>
          <p:cNvSpPr/>
          <p:nvPr/>
        </p:nvSpPr>
        <p:spPr>
          <a:xfrm>
            <a:off x="9710928" y="488289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Cloud Storage</a:t>
            </a:r>
            <a:endParaRPr lang="en-US" sz="1080" dirty="0"/>
          </a:p>
        </p:txBody>
      </p:sp>
      <p:sp>
        <p:nvSpPr>
          <p:cNvPr id="31" name="Text 25"/>
          <p:cNvSpPr/>
          <p:nvPr/>
        </p:nvSpPr>
        <p:spPr>
          <a:xfrm>
            <a:off x="9235440" y="539496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32" name="Shape 26"/>
          <p:cNvSpPr/>
          <p:nvPr/>
        </p:nvSpPr>
        <p:spPr>
          <a:xfrm>
            <a:off x="10012680" y="5184648"/>
            <a:ext cx="-3913632" cy="-2002536"/>
          </a:xfrm>
          <a:prstGeom prst="line">
            <a:avLst/>
          </a:prstGeom>
          <a:noFill/>
          <a:ln w="10160">
            <a:solidFill>
              <a:srgbClr val="DDE7EA"/>
            </a:solidFill>
            <a:prstDash val="solid"/>
            <a:headEnd type="none"/>
            <a:tailEnd type="triangle"/>
          </a:ln>
        </p:spPr>
      </p:sp>
      <p:sp>
        <p:nvSpPr>
          <p:cNvPr id="33" name="Shape 27"/>
          <p:cNvSpPr/>
          <p:nvPr/>
        </p:nvSpPr>
        <p:spPr>
          <a:xfrm>
            <a:off x="9372600" y="1143000"/>
            <a:ext cx="1920240" cy="960120"/>
          </a:xfrm>
          <a:prstGeom prst="roundRect">
            <a:avLst>
              <a:gd name="adj" fmla="val 7619"/>
            </a:avLst>
          </a:prstGeom>
          <a:solidFill>
            <a:srgbClr val="FFFFFF"/>
          </a:solidFill>
          <a:ln w="13970">
            <a:solidFill>
              <a:srgbClr val="DDE7EA"/>
            </a:solidFill>
            <a:prstDash val="solid"/>
          </a:ln>
        </p:spPr>
      </p:sp>
      <p:sp>
        <p:nvSpPr>
          <p:cNvPr id="34" name="Shape 28"/>
          <p:cNvSpPr/>
          <p:nvPr/>
        </p:nvSpPr>
        <p:spPr>
          <a:xfrm>
            <a:off x="9537192" y="1307592"/>
            <a:ext cx="402336" cy="402336"/>
          </a:xfrm>
          <a:prstGeom prst="ellipse">
            <a:avLst/>
          </a:prstGeom>
          <a:solidFill>
            <a:srgbClr val="E8F8F4"/>
          </a:solidFill>
          <a:ln w="12700">
            <a:solidFill>
              <a:srgbClr val="E8F8F4"/>
            </a:solidFill>
            <a:prstDash val="solid"/>
          </a:ln>
        </p:spPr>
      </p:sp>
      <p:pic>
        <p:nvPicPr>
          <p:cNvPr id="3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37776" y="1408176"/>
            <a:ext cx="201168" cy="201168"/>
          </a:xfrm>
          <a:prstGeom prst="rect">
            <a:avLst/>
          </a:prstGeom>
        </p:spPr>
      </p:pic>
      <p:sp>
        <p:nvSpPr>
          <p:cNvPr id="36" name="Text 29"/>
          <p:cNvSpPr/>
          <p:nvPr/>
        </p:nvSpPr>
        <p:spPr>
          <a:xfrm>
            <a:off x="10030968" y="131673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AI Chatbot API</a:t>
            </a:r>
            <a:endParaRPr lang="en-US" sz="1080" dirty="0"/>
          </a:p>
        </p:txBody>
      </p:sp>
      <p:sp>
        <p:nvSpPr>
          <p:cNvPr id="37" name="Text 30"/>
          <p:cNvSpPr/>
          <p:nvPr/>
        </p:nvSpPr>
        <p:spPr>
          <a:xfrm>
            <a:off x="9555480" y="182880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38" name="Shape 31"/>
          <p:cNvSpPr/>
          <p:nvPr/>
        </p:nvSpPr>
        <p:spPr>
          <a:xfrm>
            <a:off x="10332720" y="1618488"/>
            <a:ext cx="-4233672" cy="1563624"/>
          </a:xfrm>
          <a:prstGeom prst="line">
            <a:avLst/>
          </a:prstGeom>
          <a:noFill/>
          <a:ln w="10160">
            <a:solidFill>
              <a:srgbClr val="DDE7EA"/>
            </a:solidFill>
            <a:prstDash val="solid"/>
            <a:headEnd type="none"/>
            <a:tailEnd type="triangle"/>
          </a:ln>
        </p:spPr>
      </p:sp>
      <p:sp>
        <p:nvSpPr>
          <p:cNvPr id="39" name="Shape 32"/>
          <p:cNvSpPr/>
          <p:nvPr/>
        </p:nvSpPr>
        <p:spPr>
          <a:xfrm>
            <a:off x="9052560" y="2834640"/>
            <a:ext cx="1920240" cy="960120"/>
          </a:xfrm>
          <a:prstGeom prst="roundRect">
            <a:avLst>
              <a:gd name="adj" fmla="val 7619"/>
            </a:avLst>
          </a:prstGeom>
          <a:solidFill>
            <a:srgbClr val="FFFFFF"/>
          </a:solidFill>
          <a:ln w="13970">
            <a:solidFill>
              <a:srgbClr val="DDE7EA"/>
            </a:solidFill>
            <a:prstDash val="solid"/>
          </a:ln>
        </p:spPr>
      </p:sp>
      <p:sp>
        <p:nvSpPr>
          <p:cNvPr id="40" name="Shape 33"/>
          <p:cNvSpPr/>
          <p:nvPr/>
        </p:nvSpPr>
        <p:spPr>
          <a:xfrm>
            <a:off x="9217152" y="2999232"/>
            <a:ext cx="402336" cy="402336"/>
          </a:xfrm>
          <a:prstGeom prst="ellipse">
            <a:avLst/>
          </a:prstGeom>
          <a:solidFill>
            <a:srgbClr val="E8F8F4"/>
          </a:solidFill>
          <a:ln w="12700">
            <a:solidFill>
              <a:srgbClr val="E8F8F4"/>
            </a:solidFill>
            <a:prstDash val="solid"/>
          </a:ln>
        </p:spPr>
      </p:sp>
      <p:pic>
        <p:nvPicPr>
          <p:cNvPr id="4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17736" y="3099816"/>
            <a:ext cx="201168" cy="201168"/>
          </a:xfrm>
          <a:prstGeom prst="rect">
            <a:avLst/>
          </a:prstGeom>
        </p:spPr>
      </p:pic>
      <p:sp>
        <p:nvSpPr>
          <p:cNvPr id="42" name="Text 34"/>
          <p:cNvSpPr/>
          <p:nvPr/>
        </p:nvSpPr>
        <p:spPr>
          <a:xfrm>
            <a:off x="9710928" y="300837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Google OAuth</a:t>
            </a:r>
            <a:endParaRPr lang="en-US" sz="1080" dirty="0"/>
          </a:p>
        </p:txBody>
      </p:sp>
      <p:sp>
        <p:nvSpPr>
          <p:cNvPr id="43" name="Text 35"/>
          <p:cNvSpPr/>
          <p:nvPr/>
        </p:nvSpPr>
        <p:spPr>
          <a:xfrm>
            <a:off x="9235440" y="352044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44" name="Shape 36"/>
          <p:cNvSpPr/>
          <p:nvPr/>
        </p:nvSpPr>
        <p:spPr>
          <a:xfrm>
            <a:off x="10012680" y="3310128"/>
            <a:ext cx="-3913632" cy="-128016"/>
          </a:xfrm>
          <a:prstGeom prst="line">
            <a:avLst/>
          </a:prstGeom>
          <a:noFill/>
          <a:ln w="10160">
            <a:solidFill>
              <a:srgbClr val="DDE7EA"/>
            </a:solidFill>
            <a:prstDash val="solid"/>
            <a:headEnd type="none"/>
            <a:tailEnd type="triangle"/>
          </a:ln>
        </p:spPr>
      </p:sp>
      <p:sp>
        <p:nvSpPr>
          <p:cNvPr id="45" name="Shape 37"/>
          <p:cNvSpPr/>
          <p:nvPr/>
        </p:nvSpPr>
        <p:spPr>
          <a:xfrm>
            <a:off x="2788920" y="1051560"/>
            <a:ext cx="1920240" cy="960120"/>
          </a:xfrm>
          <a:prstGeom prst="roundRect">
            <a:avLst>
              <a:gd name="adj" fmla="val 7619"/>
            </a:avLst>
          </a:prstGeom>
          <a:solidFill>
            <a:srgbClr val="FFFFFF"/>
          </a:solidFill>
          <a:ln w="13970">
            <a:solidFill>
              <a:srgbClr val="DDE7EA"/>
            </a:solidFill>
            <a:prstDash val="solid"/>
          </a:ln>
        </p:spPr>
      </p:sp>
      <p:sp>
        <p:nvSpPr>
          <p:cNvPr id="46" name="Shape 38"/>
          <p:cNvSpPr/>
          <p:nvPr/>
        </p:nvSpPr>
        <p:spPr>
          <a:xfrm>
            <a:off x="2953512" y="1216152"/>
            <a:ext cx="402336" cy="402336"/>
          </a:xfrm>
          <a:prstGeom prst="ellipse">
            <a:avLst/>
          </a:prstGeom>
          <a:solidFill>
            <a:srgbClr val="E8F8F4"/>
          </a:solidFill>
          <a:ln w="12700">
            <a:solidFill>
              <a:srgbClr val="E8F8F4"/>
            </a:solidFill>
            <a:prstDash val="solid"/>
          </a:ln>
        </p:spPr>
      </p:sp>
      <p:pic>
        <p:nvPicPr>
          <p:cNvPr id="4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54096" y="1316736"/>
            <a:ext cx="201168" cy="201168"/>
          </a:xfrm>
          <a:prstGeom prst="rect">
            <a:avLst/>
          </a:prstGeom>
        </p:spPr>
      </p:pic>
      <p:sp>
        <p:nvSpPr>
          <p:cNvPr id="48" name="Text 39"/>
          <p:cNvSpPr/>
          <p:nvPr/>
        </p:nvSpPr>
        <p:spPr>
          <a:xfrm>
            <a:off x="3447288" y="122529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Calendar</a:t>
            </a:r>
            <a:endParaRPr lang="en-US" sz="1080" dirty="0"/>
          </a:p>
        </p:txBody>
      </p:sp>
      <p:sp>
        <p:nvSpPr>
          <p:cNvPr id="49" name="Text 40"/>
          <p:cNvSpPr/>
          <p:nvPr/>
        </p:nvSpPr>
        <p:spPr>
          <a:xfrm>
            <a:off x="2971800" y="173736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50" name="Shape 41"/>
          <p:cNvSpPr/>
          <p:nvPr/>
        </p:nvSpPr>
        <p:spPr>
          <a:xfrm>
            <a:off x="3749040" y="1527048"/>
            <a:ext cx="2350008" cy="1655064"/>
          </a:xfrm>
          <a:prstGeom prst="line">
            <a:avLst/>
          </a:prstGeom>
          <a:noFill/>
          <a:ln w="10160">
            <a:solidFill>
              <a:srgbClr val="DDE7EA"/>
            </a:solidFill>
            <a:prstDash val="solid"/>
            <a:headEnd type="none"/>
            <a:tailEnd type="triangle"/>
          </a:ln>
        </p:spPr>
      </p:sp>
      <p:sp>
        <p:nvSpPr>
          <p:cNvPr id="51" name="Shape 42"/>
          <p:cNvSpPr/>
          <p:nvPr/>
        </p:nvSpPr>
        <p:spPr>
          <a:xfrm>
            <a:off x="2788920" y="2834640"/>
            <a:ext cx="1920240" cy="960120"/>
          </a:xfrm>
          <a:prstGeom prst="roundRect">
            <a:avLst>
              <a:gd name="adj" fmla="val 7619"/>
            </a:avLst>
          </a:prstGeom>
          <a:solidFill>
            <a:srgbClr val="FFFFFF"/>
          </a:solidFill>
          <a:ln w="13970">
            <a:solidFill>
              <a:srgbClr val="DDE7EA"/>
            </a:solidFill>
            <a:prstDash val="solid"/>
          </a:ln>
        </p:spPr>
      </p:sp>
      <p:sp>
        <p:nvSpPr>
          <p:cNvPr id="52" name="Shape 43"/>
          <p:cNvSpPr/>
          <p:nvPr/>
        </p:nvSpPr>
        <p:spPr>
          <a:xfrm>
            <a:off x="2953512" y="2999232"/>
            <a:ext cx="402336" cy="402336"/>
          </a:xfrm>
          <a:prstGeom prst="ellipse">
            <a:avLst/>
          </a:prstGeom>
          <a:solidFill>
            <a:srgbClr val="E8F8F4"/>
          </a:solidFill>
          <a:ln w="12700">
            <a:solidFill>
              <a:srgbClr val="E8F8F4"/>
            </a:solidFill>
            <a:prstDash val="solid"/>
          </a:ln>
        </p:spPr>
      </p:sp>
      <p:pic>
        <p:nvPicPr>
          <p:cNvPr id="5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54096" y="3099816"/>
            <a:ext cx="201168" cy="201168"/>
          </a:xfrm>
          <a:prstGeom prst="rect">
            <a:avLst/>
          </a:prstGeom>
        </p:spPr>
      </p:pic>
      <p:sp>
        <p:nvSpPr>
          <p:cNvPr id="54" name="Text 44"/>
          <p:cNvSpPr/>
          <p:nvPr/>
        </p:nvSpPr>
        <p:spPr>
          <a:xfrm>
            <a:off x="3447288" y="300837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Appointment Booking</a:t>
            </a:r>
            <a:endParaRPr lang="en-US" sz="1080" dirty="0"/>
          </a:p>
        </p:txBody>
      </p:sp>
      <p:sp>
        <p:nvSpPr>
          <p:cNvPr id="55" name="Text 45"/>
          <p:cNvSpPr/>
          <p:nvPr/>
        </p:nvSpPr>
        <p:spPr>
          <a:xfrm>
            <a:off x="2971800" y="352044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a:t>
            </a:r>
            <a:endParaRPr lang="en-US" sz="850" dirty="0"/>
          </a:p>
        </p:txBody>
      </p:sp>
      <p:sp>
        <p:nvSpPr>
          <p:cNvPr id="56" name="Shape 46"/>
          <p:cNvSpPr/>
          <p:nvPr/>
        </p:nvSpPr>
        <p:spPr>
          <a:xfrm>
            <a:off x="3749040" y="3310128"/>
            <a:ext cx="2350008" cy="-128016"/>
          </a:xfrm>
          <a:prstGeom prst="line">
            <a:avLst/>
          </a:prstGeom>
          <a:noFill/>
          <a:ln w="10160">
            <a:solidFill>
              <a:srgbClr val="DDE7EA"/>
            </a:solidFill>
            <a:prstDash val="solid"/>
            <a:headEnd type="none"/>
            <a:tailEnd type="triangle"/>
          </a:ln>
        </p:spPr>
      </p:sp>
      <p:sp>
        <p:nvSpPr>
          <p:cNvPr id="57" name="Shape 47"/>
          <p:cNvSpPr/>
          <p:nvPr/>
        </p:nvSpPr>
        <p:spPr>
          <a:xfrm>
            <a:off x="7132320" y="4709160"/>
            <a:ext cx="1920240" cy="960120"/>
          </a:xfrm>
          <a:prstGeom prst="roundRect">
            <a:avLst>
              <a:gd name="adj" fmla="val 7619"/>
            </a:avLst>
          </a:prstGeom>
          <a:solidFill>
            <a:srgbClr val="FFFFFF"/>
          </a:solidFill>
          <a:ln w="13970">
            <a:solidFill>
              <a:srgbClr val="DDE7EA"/>
            </a:solidFill>
            <a:prstDash val="solid"/>
          </a:ln>
        </p:spPr>
      </p:sp>
      <p:sp>
        <p:nvSpPr>
          <p:cNvPr id="58" name="Shape 48"/>
          <p:cNvSpPr/>
          <p:nvPr/>
        </p:nvSpPr>
        <p:spPr>
          <a:xfrm>
            <a:off x="7296912" y="4873752"/>
            <a:ext cx="402336" cy="402336"/>
          </a:xfrm>
          <a:prstGeom prst="ellipse">
            <a:avLst/>
          </a:prstGeom>
          <a:solidFill>
            <a:srgbClr val="E8F8F4"/>
          </a:solidFill>
          <a:ln w="12700">
            <a:solidFill>
              <a:srgbClr val="E8F8F4"/>
            </a:solidFill>
            <a:prstDash val="solid"/>
          </a:ln>
        </p:spPr>
      </p:sp>
      <p:pic>
        <p:nvPicPr>
          <p:cNvPr id="5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97496" y="4974336"/>
            <a:ext cx="201168" cy="201168"/>
          </a:xfrm>
          <a:prstGeom prst="rect">
            <a:avLst/>
          </a:prstGeom>
        </p:spPr>
      </p:pic>
      <p:sp>
        <p:nvSpPr>
          <p:cNvPr id="60" name="Text 49"/>
          <p:cNvSpPr/>
          <p:nvPr/>
        </p:nvSpPr>
        <p:spPr>
          <a:xfrm>
            <a:off x="7790688" y="488289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Payments</a:t>
            </a:r>
            <a:endParaRPr lang="en-US" sz="1080" dirty="0"/>
          </a:p>
        </p:txBody>
      </p:sp>
      <p:sp>
        <p:nvSpPr>
          <p:cNvPr id="61" name="Text 50"/>
          <p:cNvSpPr/>
          <p:nvPr/>
        </p:nvSpPr>
        <p:spPr>
          <a:xfrm>
            <a:off x="7315200" y="539496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Phase 1–2</a:t>
            </a:r>
            <a:endParaRPr lang="en-US" sz="850" dirty="0"/>
          </a:p>
        </p:txBody>
      </p:sp>
      <p:sp>
        <p:nvSpPr>
          <p:cNvPr id="62" name="Shape 51"/>
          <p:cNvSpPr/>
          <p:nvPr/>
        </p:nvSpPr>
        <p:spPr>
          <a:xfrm>
            <a:off x="8092440" y="5184648"/>
            <a:ext cx="-1993392" cy="-2002536"/>
          </a:xfrm>
          <a:prstGeom prst="line">
            <a:avLst/>
          </a:prstGeom>
          <a:noFill/>
          <a:ln w="10160">
            <a:solidFill>
              <a:srgbClr val="DDE7EA"/>
            </a:solidFill>
            <a:prstDash val="solid"/>
            <a:headEnd type="none"/>
            <a:tailEnd type="triangle"/>
          </a:ln>
        </p:spPr>
      </p:sp>
      <p:sp>
        <p:nvSpPr>
          <p:cNvPr id="63" name="Shape 52"/>
          <p:cNvSpPr/>
          <p:nvPr/>
        </p:nvSpPr>
        <p:spPr>
          <a:xfrm>
            <a:off x="7178040" y="1051560"/>
            <a:ext cx="1920240" cy="960120"/>
          </a:xfrm>
          <a:prstGeom prst="roundRect">
            <a:avLst>
              <a:gd name="adj" fmla="val 7619"/>
            </a:avLst>
          </a:prstGeom>
          <a:solidFill>
            <a:srgbClr val="FFFFFF"/>
          </a:solidFill>
          <a:ln w="13970">
            <a:solidFill>
              <a:srgbClr val="DDE7EA"/>
            </a:solidFill>
            <a:prstDash val="solid"/>
          </a:ln>
        </p:spPr>
      </p:sp>
      <p:sp>
        <p:nvSpPr>
          <p:cNvPr id="64" name="Shape 53"/>
          <p:cNvSpPr/>
          <p:nvPr/>
        </p:nvSpPr>
        <p:spPr>
          <a:xfrm>
            <a:off x="7342632" y="1216152"/>
            <a:ext cx="402336" cy="402336"/>
          </a:xfrm>
          <a:prstGeom prst="ellipse">
            <a:avLst/>
          </a:prstGeom>
          <a:solidFill>
            <a:srgbClr val="E8F8F4"/>
          </a:solidFill>
          <a:ln w="12700">
            <a:solidFill>
              <a:srgbClr val="E8F8F4"/>
            </a:solidFill>
            <a:prstDash val="solid"/>
          </a:ln>
        </p:spPr>
      </p:sp>
      <p:pic>
        <p:nvPicPr>
          <p:cNvPr id="65"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43216" y="1316736"/>
            <a:ext cx="201168" cy="201168"/>
          </a:xfrm>
          <a:prstGeom prst="rect">
            <a:avLst/>
          </a:prstGeom>
        </p:spPr>
      </p:pic>
      <p:sp>
        <p:nvSpPr>
          <p:cNvPr id="66" name="Text 54"/>
          <p:cNvSpPr/>
          <p:nvPr/>
        </p:nvSpPr>
        <p:spPr>
          <a:xfrm>
            <a:off x="7836408" y="1225296"/>
            <a:ext cx="1097280" cy="310896"/>
          </a:xfrm>
          <a:prstGeom prst="rect">
            <a:avLst/>
          </a:prstGeom>
          <a:noFill/>
          <a:ln/>
        </p:spPr>
        <p:txBody>
          <a:bodyPr wrap="square" lIns="0" tIns="0" rIns="0" bIns="0" rtlCol="0" anchor="ctr">
            <a:normAutofit/>
          </a:bodyPr>
          <a:lstStyle/>
          <a:p>
            <a:pPr indent="0" marL="0">
              <a:buNone/>
            </a:pPr>
            <a:r>
              <a:rPr lang="en-US" sz="1080" b="1" dirty="0">
                <a:solidFill>
                  <a:srgbClr val="142A37"/>
                </a:solidFill>
                <a:latin typeface="Noto Sans" pitchFamily="34" charset="0"/>
                <a:ea typeface="Noto Sans" pitchFamily="34" charset="-122"/>
                <a:cs typeface="Noto Sans" pitchFamily="34" charset="-120"/>
              </a:rPr>
              <a:t>Hospital Systems</a:t>
            </a:r>
            <a:endParaRPr lang="en-US" sz="1080" dirty="0"/>
          </a:p>
        </p:txBody>
      </p:sp>
      <p:sp>
        <p:nvSpPr>
          <p:cNvPr id="67" name="Text 55"/>
          <p:cNvSpPr/>
          <p:nvPr/>
        </p:nvSpPr>
        <p:spPr>
          <a:xfrm>
            <a:off x="7360920" y="1737360"/>
            <a:ext cx="1554480" cy="118872"/>
          </a:xfrm>
          <a:prstGeom prst="rect">
            <a:avLst/>
          </a:prstGeom>
          <a:noFill/>
          <a:ln/>
        </p:spPr>
        <p:txBody>
          <a:bodyPr wrap="square" lIns="254" tIns="254" rIns="254" bIns="254" rtlCol="0" anchor="t">
            <a:normAutofit/>
          </a:bodyPr>
          <a:lstStyle/>
          <a:p>
            <a:pPr indent="0" marL="0">
              <a:buNone/>
            </a:pPr>
            <a:r>
              <a:rPr lang="en-US" sz="850" dirty="0">
                <a:solidFill>
                  <a:srgbClr val="5F7180"/>
                </a:solidFill>
                <a:latin typeface="Noto Sans" pitchFamily="34" charset="0"/>
                <a:ea typeface="Noto Sans" pitchFamily="34" charset="-122"/>
                <a:cs typeface="Noto Sans" pitchFamily="34" charset="-120"/>
              </a:rPr>
              <a:t>Post-MVP</a:t>
            </a:r>
            <a:endParaRPr lang="en-US" sz="850" dirty="0"/>
          </a:p>
        </p:txBody>
      </p:sp>
      <p:sp>
        <p:nvSpPr>
          <p:cNvPr id="68" name="Shape 56"/>
          <p:cNvSpPr/>
          <p:nvPr/>
        </p:nvSpPr>
        <p:spPr>
          <a:xfrm>
            <a:off x="8138160" y="1527048"/>
            <a:ext cx="-2039112" cy="1655064"/>
          </a:xfrm>
          <a:prstGeom prst="line">
            <a:avLst/>
          </a:prstGeom>
          <a:noFill/>
          <a:ln w="10160">
            <a:solidFill>
              <a:srgbClr val="DDE7EA"/>
            </a:solidFill>
            <a:prstDash val="solid"/>
            <a:headEnd type="none"/>
            <a:tailEnd type="triangle"/>
          </a:ln>
        </p:spPr>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Demo Architecture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Streamlit is the current demo vehicle; Kaggle is a dataset source — not the production patient database.</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TECHNICAL</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85800" y="1828800"/>
            <a:ext cx="1783080" cy="1828800"/>
          </a:xfrm>
          <a:prstGeom prst="roundRect">
            <a:avLst>
              <a:gd name="adj" fmla="val 410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850392" y="1993392"/>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2093976"/>
            <a:ext cx="201168" cy="201168"/>
          </a:xfrm>
          <a:prstGeom prst="rect">
            <a:avLst/>
          </a:prstGeom>
        </p:spPr>
      </p:pic>
      <p:sp>
        <p:nvSpPr>
          <p:cNvPr id="10" name="Text 7"/>
          <p:cNvSpPr/>
          <p:nvPr/>
        </p:nvSpPr>
        <p:spPr>
          <a:xfrm>
            <a:off x="1344168" y="2002536"/>
            <a:ext cx="960120" cy="310896"/>
          </a:xfrm>
          <a:prstGeom prst="rect">
            <a:avLst/>
          </a:prstGeom>
          <a:noFill/>
          <a:ln/>
        </p:spPr>
        <p:txBody>
          <a:bodyPr wrap="square" lIns="0" tIns="0" rIns="0" bIns="0" rtlCol="0" anchor="ctr">
            <a:normAutofit/>
          </a:bodyPr>
          <a:lstStyle/>
          <a:p>
            <a:pPr indent="0" marL="0">
              <a:buNone/>
            </a:pPr>
            <a:r>
              <a:rPr lang="en-US" sz="1120" b="1" dirty="0">
                <a:solidFill>
                  <a:srgbClr val="142A37"/>
                </a:solidFill>
                <a:latin typeface="Noto Sans" pitchFamily="34" charset="0"/>
                <a:ea typeface="Noto Sans" pitchFamily="34" charset="-122"/>
                <a:cs typeface="Noto Sans" pitchFamily="34" charset="-120"/>
              </a:rPr>
              <a:t>Mobile-friendly UI</a:t>
            </a:r>
            <a:endParaRPr lang="en-US" sz="1120" dirty="0"/>
          </a:p>
        </p:txBody>
      </p:sp>
      <p:sp>
        <p:nvSpPr>
          <p:cNvPr id="11" name="Text 8"/>
          <p:cNvSpPr/>
          <p:nvPr/>
        </p:nvSpPr>
        <p:spPr>
          <a:xfrm>
            <a:off x="868680" y="2514600"/>
            <a:ext cx="1417320" cy="98755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Streamlit demo</a:t>
            </a:r>
            <a:endParaRPr lang="en-US" sz="910" dirty="0"/>
          </a:p>
        </p:txBody>
      </p:sp>
      <p:sp>
        <p:nvSpPr>
          <p:cNvPr id="12" name="Shape 9"/>
          <p:cNvSpPr/>
          <p:nvPr/>
        </p:nvSpPr>
        <p:spPr>
          <a:xfrm>
            <a:off x="2478024" y="2743200"/>
            <a:ext cx="475488" cy="0"/>
          </a:xfrm>
          <a:prstGeom prst="line">
            <a:avLst/>
          </a:prstGeom>
          <a:noFill/>
          <a:ln w="17780">
            <a:solidFill>
              <a:srgbClr val="12B8A6"/>
            </a:solidFill>
            <a:prstDash val="solid"/>
            <a:headEnd type="none"/>
            <a:tailEnd type="triangle"/>
          </a:ln>
        </p:spPr>
      </p:sp>
      <p:sp>
        <p:nvSpPr>
          <p:cNvPr id="13" name="Shape 10"/>
          <p:cNvSpPr/>
          <p:nvPr/>
        </p:nvSpPr>
        <p:spPr>
          <a:xfrm>
            <a:off x="2971800" y="1828800"/>
            <a:ext cx="1783080" cy="1828800"/>
          </a:xfrm>
          <a:prstGeom prst="roundRect">
            <a:avLst>
              <a:gd name="adj" fmla="val 410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4" name="Shape 11"/>
          <p:cNvSpPr/>
          <p:nvPr/>
        </p:nvSpPr>
        <p:spPr>
          <a:xfrm>
            <a:off x="3136392" y="1993392"/>
            <a:ext cx="402336" cy="402336"/>
          </a:xfrm>
          <a:prstGeom prst="ellipse">
            <a:avLst/>
          </a:prstGeom>
          <a:solidFill>
            <a:srgbClr val="F0EFFF"/>
          </a:solidFill>
          <a:ln w="12700">
            <a:solidFill>
              <a:srgbClr val="F0EFFF"/>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6976" y="2093976"/>
            <a:ext cx="201168" cy="201168"/>
          </a:xfrm>
          <a:prstGeom prst="rect">
            <a:avLst/>
          </a:prstGeom>
        </p:spPr>
      </p:pic>
      <p:sp>
        <p:nvSpPr>
          <p:cNvPr id="16" name="Text 12"/>
          <p:cNvSpPr/>
          <p:nvPr/>
        </p:nvSpPr>
        <p:spPr>
          <a:xfrm>
            <a:off x="3630168" y="2002536"/>
            <a:ext cx="960120" cy="310896"/>
          </a:xfrm>
          <a:prstGeom prst="rect">
            <a:avLst/>
          </a:prstGeom>
          <a:noFill/>
          <a:ln/>
        </p:spPr>
        <p:txBody>
          <a:bodyPr wrap="square" lIns="0" tIns="0" rIns="0" bIns="0" rtlCol="0" anchor="ctr">
            <a:normAutofit/>
          </a:bodyPr>
          <a:lstStyle/>
          <a:p>
            <a:pPr indent="0" marL="0">
              <a:buNone/>
            </a:pPr>
            <a:r>
              <a:rPr lang="en-US" sz="1120" b="1" dirty="0">
                <a:solidFill>
                  <a:srgbClr val="142A37"/>
                </a:solidFill>
                <a:latin typeface="Noto Sans" pitchFamily="34" charset="0"/>
                <a:ea typeface="Noto Sans" pitchFamily="34" charset="-122"/>
                <a:cs typeface="Noto Sans" pitchFamily="34" charset="-120"/>
              </a:rPr>
              <a:t>Python / ML</a:t>
            </a:r>
            <a:endParaRPr lang="en-US" sz="1120" dirty="0"/>
          </a:p>
        </p:txBody>
      </p:sp>
      <p:sp>
        <p:nvSpPr>
          <p:cNvPr id="17" name="Text 13"/>
          <p:cNvSpPr/>
          <p:nvPr/>
        </p:nvSpPr>
        <p:spPr>
          <a:xfrm>
            <a:off x="3154680" y="2514600"/>
            <a:ext cx="1417320" cy="98755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scikit-learn or suitable model</a:t>
            </a:r>
            <a:endParaRPr lang="en-US" sz="910" dirty="0"/>
          </a:p>
        </p:txBody>
      </p:sp>
      <p:sp>
        <p:nvSpPr>
          <p:cNvPr id="18" name="Shape 14"/>
          <p:cNvSpPr/>
          <p:nvPr/>
        </p:nvSpPr>
        <p:spPr>
          <a:xfrm>
            <a:off x="4764024" y="2743200"/>
            <a:ext cx="475488" cy="0"/>
          </a:xfrm>
          <a:prstGeom prst="line">
            <a:avLst/>
          </a:prstGeom>
          <a:noFill/>
          <a:ln w="17780">
            <a:solidFill>
              <a:srgbClr val="12B8A6"/>
            </a:solidFill>
            <a:prstDash val="solid"/>
            <a:headEnd type="none"/>
            <a:tailEnd type="triangle"/>
          </a:ln>
        </p:spPr>
      </p:sp>
      <p:sp>
        <p:nvSpPr>
          <p:cNvPr id="19" name="Shape 15"/>
          <p:cNvSpPr/>
          <p:nvPr/>
        </p:nvSpPr>
        <p:spPr>
          <a:xfrm>
            <a:off x="5257800" y="1828800"/>
            <a:ext cx="1783080" cy="1828800"/>
          </a:xfrm>
          <a:prstGeom prst="roundRect">
            <a:avLst>
              <a:gd name="adj" fmla="val 410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0" name="Shape 16"/>
          <p:cNvSpPr/>
          <p:nvPr/>
        </p:nvSpPr>
        <p:spPr>
          <a:xfrm>
            <a:off x="5422392" y="1993392"/>
            <a:ext cx="402336" cy="402336"/>
          </a:xfrm>
          <a:prstGeom prst="ellipse">
            <a:avLst/>
          </a:prstGeom>
          <a:solidFill>
            <a:srgbClr val="EAF2FF"/>
          </a:solidFill>
          <a:ln w="12700">
            <a:solidFill>
              <a:srgbClr val="EAF2FF"/>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2976" y="2093976"/>
            <a:ext cx="201168" cy="201168"/>
          </a:xfrm>
          <a:prstGeom prst="rect">
            <a:avLst/>
          </a:prstGeom>
        </p:spPr>
      </p:pic>
      <p:sp>
        <p:nvSpPr>
          <p:cNvPr id="22" name="Text 17"/>
          <p:cNvSpPr/>
          <p:nvPr/>
        </p:nvSpPr>
        <p:spPr>
          <a:xfrm>
            <a:off x="5916168" y="2002536"/>
            <a:ext cx="960120" cy="310896"/>
          </a:xfrm>
          <a:prstGeom prst="rect">
            <a:avLst/>
          </a:prstGeom>
          <a:noFill/>
          <a:ln/>
        </p:spPr>
        <p:txBody>
          <a:bodyPr wrap="square" lIns="0" tIns="0" rIns="0" bIns="0" rtlCol="0" anchor="ctr">
            <a:normAutofit/>
          </a:bodyPr>
          <a:lstStyle/>
          <a:p>
            <a:pPr indent="0" marL="0">
              <a:buNone/>
            </a:pPr>
            <a:r>
              <a:rPr lang="en-US" sz="1120" b="1" dirty="0">
                <a:solidFill>
                  <a:srgbClr val="142A37"/>
                </a:solidFill>
                <a:latin typeface="Noto Sans" pitchFamily="34" charset="0"/>
                <a:ea typeface="Noto Sans" pitchFamily="34" charset="-122"/>
                <a:cs typeface="Noto Sans" pitchFamily="34" charset="-120"/>
              </a:rPr>
              <a:t>Dataset</a:t>
            </a:r>
            <a:endParaRPr lang="en-US" sz="1120" dirty="0"/>
          </a:p>
        </p:txBody>
      </p:sp>
      <p:sp>
        <p:nvSpPr>
          <p:cNvPr id="23" name="Text 18"/>
          <p:cNvSpPr/>
          <p:nvPr/>
        </p:nvSpPr>
        <p:spPr>
          <a:xfrm>
            <a:off x="5440680" y="2514600"/>
            <a:ext cx="1417320" cy="98755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Kaggle or other licensed / quality-checked source</a:t>
            </a:r>
            <a:endParaRPr lang="en-US" sz="910" dirty="0"/>
          </a:p>
        </p:txBody>
      </p:sp>
      <p:sp>
        <p:nvSpPr>
          <p:cNvPr id="24" name="Shape 19"/>
          <p:cNvSpPr/>
          <p:nvPr/>
        </p:nvSpPr>
        <p:spPr>
          <a:xfrm>
            <a:off x="7050024" y="2743200"/>
            <a:ext cx="475488" cy="0"/>
          </a:xfrm>
          <a:prstGeom prst="line">
            <a:avLst/>
          </a:prstGeom>
          <a:noFill/>
          <a:ln w="17780">
            <a:solidFill>
              <a:srgbClr val="12B8A6"/>
            </a:solidFill>
            <a:prstDash val="solid"/>
            <a:headEnd type="none"/>
            <a:tailEnd type="triangle"/>
          </a:ln>
        </p:spPr>
      </p:sp>
      <p:sp>
        <p:nvSpPr>
          <p:cNvPr id="25" name="Shape 20"/>
          <p:cNvSpPr/>
          <p:nvPr/>
        </p:nvSpPr>
        <p:spPr>
          <a:xfrm>
            <a:off x="7543800" y="1828800"/>
            <a:ext cx="1783080" cy="1828800"/>
          </a:xfrm>
          <a:prstGeom prst="roundRect">
            <a:avLst>
              <a:gd name="adj" fmla="val 410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6" name="Shape 21"/>
          <p:cNvSpPr/>
          <p:nvPr/>
        </p:nvSpPr>
        <p:spPr>
          <a:xfrm>
            <a:off x="7708392" y="1993392"/>
            <a:ext cx="402336" cy="402336"/>
          </a:xfrm>
          <a:prstGeom prst="ellipse">
            <a:avLst/>
          </a:prstGeom>
          <a:solidFill>
            <a:srgbClr val="E8F8F4"/>
          </a:solidFill>
          <a:ln w="12700">
            <a:solidFill>
              <a:srgbClr val="E8F8F4"/>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8976" y="2093976"/>
            <a:ext cx="201168" cy="201168"/>
          </a:xfrm>
          <a:prstGeom prst="rect">
            <a:avLst/>
          </a:prstGeom>
        </p:spPr>
      </p:pic>
      <p:sp>
        <p:nvSpPr>
          <p:cNvPr id="28" name="Text 22"/>
          <p:cNvSpPr/>
          <p:nvPr/>
        </p:nvSpPr>
        <p:spPr>
          <a:xfrm>
            <a:off x="8202168" y="2002536"/>
            <a:ext cx="960120" cy="310896"/>
          </a:xfrm>
          <a:prstGeom prst="rect">
            <a:avLst/>
          </a:prstGeom>
          <a:noFill/>
          <a:ln/>
        </p:spPr>
        <p:txBody>
          <a:bodyPr wrap="square" lIns="0" tIns="0" rIns="0" bIns="0" rtlCol="0" anchor="ctr">
            <a:normAutofit/>
          </a:bodyPr>
          <a:lstStyle/>
          <a:p>
            <a:pPr indent="0" marL="0">
              <a:buNone/>
            </a:pPr>
            <a:r>
              <a:rPr lang="en-US" sz="1120" b="1" dirty="0">
                <a:solidFill>
                  <a:srgbClr val="142A37"/>
                </a:solidFill>
                <a:latin typeface="Noto Sans" pitchFamily="34" charset="0"/>
                <a:ea typeface="Noto Sans" pitchFamily="34" charset="-122"/>
                <a:cs typeface="Noto Sans" pitchFamily="34" charset="-120"/>
              </a:rPr>
              <a:t>Cloud Deployment</a:t>
            </a:r>
            <a:endParaRPr lang="en-US" sz="1120" dirty="0"/>
          </a:p>
        </p:txBody>
      </p:sp>
      <p:sp>
        <p:nvSpPr>
          <p:cNvPr id="29" name="Text 23"/>
          <p:cNvSpPr/>
          <p:nvPr/>
        </p:nvSpPr>
        <p:spPr>
          <a:xfrm>
            <a:off x="7726680" y="2514600"/>
            <a:ext cx="1417320" cy="98755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Public demo link</a:t>
            </a:r>
            <a:endParaRPr lang="en-US" sz="910" dirty="0"/>
          </a:p>
        </p:txBody>
      </p:sp>
      <p:sp>
        <p:nvSpPr>
          <p:cNvPr id="30" name="Shape 24"/>
          <p:cNvSpPr/>
          <p:nvPr/>
        </p:nvSpPr>
        <p:spPr>
          <a:xfrm>
            <a:off x="9336024" y="2743200"/>
            <a:ext cx="475488" cy="0"/>
          </a:xfrm>
          <a:prstGeom prst="line">
            <a:avLst/>
          </a:prstGeom>
          <a:noFill/>
          <a:ln w="17780">
            <a:solidFill>
              <a:srgbClr val="12B8A6"/>
            </a:solidFill>
            <a:prstDash val="solid"/>
            <a:headEnd type="none"/>
            <a:tailEnd type="triangle"/>
          </a:ln>
        </p:spPr>
      </p:sp>
      <p:sp>
        <p:nvSpPr>
          <p:cNvPr id="31" name="Shape 25"/>
          <p:cNvSpPr/>
          <p:nvPr/>
        </p:nvSpPr>
        <p:spPr>
          <a:xfrm>
            <a:off x="9829800" y="1828800"/>
            <a:ext cx="1783080" cy="1828800"/>
          </a:xfrm>
          <a:prstGeom prst="roundRect">
            <a:avLst>
              <a:gd name="adj" fmla="val 4103"/>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2" name="Shape 26"/>
          <p:cNvSpPr/>
          <p:nvPr/>
        </p:nvSpPr>
        <p:spPr>
          <a:xfrm>
            <a:off x="9994392" y="1993392"/>
            <a:ext cx="402336" cy="402336"/>
          </a:xfrm>
          <a:prstGeom prst="ellipse">
            <a:avLst/>
          </a:prstGeom>
          <a:solidFill>
            <a:srgbClr val="E8F8F4"/>
          </a:solidFill>
          <a:ln w="12700">
            <a:solidFill>
              <a:srgbClr val="E8F8F4"/>
            </a:solidFill>
            <a:prstDash val="solid"/>
          </a:ln>
        </p:spPr>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94976" y="2093976"/>
            <a:ext cx="201168" cy="201168"/>
          </a:xfrm>
          <a:prstGeom prst="rect">
            <a:avLst/>
          </a:prstGeom>
        </p:spPr>
      </p:pic>
      <p:sp>
        <p:nvSpPr>
          <p:cNvPr id="34" name="Text 27"/>
          <p:cNvSpPr/>
          <p:nvPr/>
        </p:nvSpPr>
        <p:spPr>
          <a:xfrm>
            <a:off x="10488168" y="2002536"/>
            <a:ext cx="960120" cy="310896"/>
          </a:xfrm>
          <a:prstGeom prst="rect">
            <a:avLst/>
          </a:prstGeom>
          <a:noFill/>
          <a:ln/>
        </p:spPr>
        <p:txBody>
          <a:bodyPr wrap="square" lIns="0" tIns="0" rIns="0" bIns="0" rtlCol="0" anchor="ctr">
            <a:normAutofit/>
          </a:bodyPr>
          <a:lstStyle/>
          <a:p>
            <a:pPr indent="0" marL="0">
              <a:buNone/>
            </a:pPr>
            <a:r>
              <a:rPr lang="en-US" sz="1120" b="1" dirty="0">
                <a:solidFill>
                  <a:srgbClr val="142A37"/>
                </a:solidFill>
                <a:latin typeface="Noto Sans" pitchFamily="34" charset="0"/>
                <a:ea typeface="Noto Sans" pitchFamily="34" charset="-122"/>
                <a:cs typeface="Noto Sans" pitchFamily="34" charset="-120"/>
              </a:rPr>
              <a:t>GitHub + Testing</a:t>
            </a:r>
            <a:endParaRPr lang="en-US" sz="1120" dirty="0"/>
          </a:p>
        </p:txBody>
      </p:sp>
      <p:sp>
        <p:nvSpPr>
          <p:cNvPr id="35" name="Text 28"/>
          <p:cNvSpPr/>
          <p:nvPr/>
        </p:nvSpPr>
        <p:spPr>
          <a:xfrm>
            <a:off x="10012680" y="2514600"/>
            <a:ext cx="1417320" cy="987552"/>
          </a:xfrm>
          <a:prstGeom prst="rect">
            <a:avLst/>
          </a:prstGeom>
          <a:noFill/>
          <a:ln/>
        </p:spPr>
        <p:txBody>
          <a:bodyPr wrap="square" lIns="254" tIns="254" rIns="254" bIns="254" rtlCol="0" anchor="t">
            <a:normAutofit/>
          </a:bodyPr>
          <a:lstStyle/>
          <a:p>
            <a:pPr indent="0" marL="0">
              <a:buNone/>
            </a:pPr>
            <a:r>
              <a:rPr lang="en-US" sz="910" dirty="0">
                <a:solidFill>
                  <a:srgbClr val="5F7180"/>
                </a:solidFill>
                <a:latin typeface="Noto Sans" pitchFamily="34" charset="0"/>
                <a:ea typeface="Noto Sans" pitchFamily="34" charset="-122"/>
                <a:cs typeface="Noto Sans" pitchFamily="34" charset="-120"/>
              </a:rPr>
              <a:t>Clean repo + test cases + validation</a:t>
            </a:r>
            <a:endParaRPr lang="en-US" sz="910" dirty="0"/>
          </a:p>
        </p:txBody>
      </p:sp>
      <p:sp>
        <p:nvSpPr>
          <p:cNvPr id="36" name="Shape 29"/>
          <p:cNvSpPr/>
          <p:nvPr/>
        </p:nvSpPr>
        <p:spPr>
          <a:xfrm>
            <a:off x="960120" y="4343400"/>
            <a:ext cx="4892040" cy="1143000"/>
          </a:xfrm>
          <a:prstGeom prst="roundRect">
            <a:avLst>
              <a:gd name="adj" fmla="val 64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7" name="Shape 30"/>
          <p:cNvSpPr/>
          <p:nvPr/>
        </p:nvSpPr>
        <p:spPr>
          <a:xfrm>
            <a:off x="1124712" y="4507992"/>
            <a:ext cx="402336" cy="402336"/>
          </a:xfrm>
          <a:prstGeom prst="ellipse">
            <a:avLst/>
          </a:prstGeom>
          <a:solidFill>
            <a:srgbClr val="FFF6E5"/>
          </a:solidFill>
          <a:ln w="12700">
            <a:solidFill>
              <a:srgbClr val="FFF6E5"/>
            </a:solidFill>
            <a:prstDash val="solid"/>
          </a:ln>
        </p:spPr>
      </p:sp>
      <p:pic>
        <p:nvPicPr>
          <p:cNvPr id="3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25296" y="4608576"/>
            <a:ext cx="201168" cy="201168"/>
          </a:xfrm>
          <a:prstGeom prst="rect">
            <a:avLst/>
          </a:prstGeom>
        </p:spPr>
      </p:pic>
      <p:sp>
        <p:nvSpPr>
          <p:cNvPr id="39" name="Text 31"/>
          <p:cNvSpPr/>
          <p:nvPr/>
        </p:nvSpPr>
        <p:spPr>
          <a:xfrm>
            <a:off x="1618488" y="4517136"/>
            <a:ext cx="40690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Technical correction from PRD</a:t>
            </a:r>
            <a:endParaRPr lang="en-US" sz="1400" dirty="0"/>
          </a:p>
        </p:txBody>
      </p:sp>
      <p:sp>
        <p:nvSpPr>
          <p:cNvPr id="40" name="Text 32"/>
          <p:cNvSpPr/>
          <p:nvPr/>
        </p:nvSpPr>
        <p:spPr>
          <a:xfrm>
            <a:off x="1143000" y="5029200"/>
            <a:ext cx="4526280" cy="301752"/>
          </a:xfrm>
          <a:prstGeom prst="rect">
            <a:avLst/>
          </a:prstGeom>
          <a:noFill/>
          <a:ln/>
        </p:spPr>
        <p:txBody>
          <a:bodyPr wrap="square" lIns="254" tIns="254" rIns="254" bIns="254" rtlCol="0" anchor="t">
            <a:normAutofit/>
          </a:bodyPr>
          <a:lstStyle/>
          <a:p>
            <a:pPr indent="0" marL="0">
              <a:buNone/>
            </a:pPr>
            <a:r>
              <a:rPr lang="en-US" sz="1020" dirty="0">
                <a:solidFill>
                  <a:srgbClr val="5F7180"/>
                </a:solidFill>
                <a:latin typeface="Noto Sans" pitchFamily="34" charset="0"/>
                <a:ea typeface="Noto Sans" pitchFamily="34" charset="-122"/>
                <a:cs typeface="Noto Sans" pitchFamily="34" charset="-120"/>
              </a:rPr>
              <a:t>Kaggle cannot store patient accounts or patient history. Production requires a separate secure managed database.</a:t>
            </a:r>
            <a:endParaRPr lang="en-US" sz="1020" dirty="0"/>
          </a:p>
        </p:txBody>
      </p:sp>
      <p:sp>
        <p:nvSpPr>
          <p:cNvPr id="41" name="Shape 33"/>
          <p:cNvSpPr/>
          <p:nvPr/>
        </p:nvSpPr>
        <p:spPr>
          <a:xfrm>
            <a:off x="6172200" y="4343400"/>
            <a:ext cx="4892040" cy="1143000"/>
          </a:xfrm>
          <a:prstGeom prst="roundRect">
            <a:avLst>
              <a:gd name="adj" fmla="val 640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2" name="Shape 34"/>
          <p:cNvSpPr/>
          <p:nvPr/>
        </p:nvSpPr>
        <p:spPr>
          <a:xfrm>
            <a:off x="6336792" y="4507992"/>
            <a:ext cx="402336" cy="402336"/>
          </a:xfrm>
          <a:prstGeom prst="ellipse">
            <a:avLst/>
          </a:prstGeom>
          <a:solidFill>
            <a:srgbClr val="EAF8F2"/>
          </a:solidFill>
          <a:ln w="12700">
            <a:solidFill>
              <a:srgbClr val="EAF8F2"/>
            </a:solidFill>
            <a:prstDash val="solid"/>
          </a:ln>
        </p:spPr>
      </p:sp>
      <p:pic>
        <p:nvPicPr>
          <p:cNvPr id="4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37376" y="4608576"/>
            <a:ext cx="201168" cy="201168"/>
          </a:xfrm>
          <a:prstGeom prst="rect">
            <a:avLst/>
          </a:prstGeom>
        </p:spPr>
      </p:pic>
      <p:sp>
        <p:nvSpPr>
          <p:cNvPr id="44" name="Text 35"/>
          <p:cNvSpPr/>
          <p:nvPr/>
        </p:nvSpPr>
        <p:spPr>
          <a:xfrm>
            <a:off x="6830568" y="4517136"/>
            <a:ext cx="4069080" cy="310896"/>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Demo acceptance</a:t>
            </a:r>
            <a:endParaRPr lang="en-US" sz="1400" dirty="0"/>
          </a:p>
        </p:txBody>
      </p:sp>
      <p:sp>
        <p:nvSpPr>
          <p:cNvPr id="45" name="Text 36"/>
          <p:cNvSpPr/>
          <p:nvPr/>
        </p:nvSpPr>
        <p:spPr>
          <a:xfrm>
            <a:off x="6355080" y="5029200"/>
            <a:ext cx="4526280" cy="301752"/>
          </a:xfrm>
          <a:prstGeom prst="rect">
            <a:avLst/>
          </a:prstGeom>
          <a:noFill/>
          <a:ln/>
        </p:spPr>
        <p:txBody>
          <a:bodyPr wrap="square" lIns="254" tIns="254" rIns="254" bIns="254" rtlCol="0" anchor="t">
            <a:normAutofit/>
          </a:bodyPr>
          <a:lstStyle/>
          <a:p>
            <a:pPr indent="0" marL="0">
              <a:buNone/>
            </a:pPr>
            <a:r>
              <a:rPr lang="en-US" sz="1020" dirty="0">
                <a:solidFill>
                  <a:srgbClr val="5F7180"/>
                </a:solidFill>
                <a:latin typeface="Noto Sans" pitchFamily="34" charset="0"/>
                <a:ea typeface="Noto Sans" pitchFamily="34" charset="-122"/>
                <a:cs typeface="Noto Sans" pitchFamily="34" charset="-120"/>
              </a:rPr>
              <a:t>Test cases + model validation + critical user flows + cloud deployment link + organized GitHub source code.</a:t>
            </a:r>
            <a:endParaRPr lang="en-US" sz="102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Production Direction</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PRD intentionally separates “demo architecture” from a production-ready healthcare platform.</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ARCHITECTURE</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85800" y="1325880"/>
            <a:ext cx="4800600" cy="4251960"/>
          </a:xfrm>
          <a:prstGeom prst="roundRect">
            <a:avLst>
              <a:gd name="adj" fmla="val 172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850392" y="1490472"/>
            <a:ext cx="402336" cy="402336"/>
          </a:xfrm>
          <a:prstGeom prst="ellipse">
            <a:avLst/>
          </a:prstGeom>
          <a:solidFill>
            <a:srgbClr val="EAF2FF"/>
          </a:solidFill>
          <a:ln w="12700">
            <a:solidFill>
              <a:srgbClr val="EAF2F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1591056"/>
            <a:ext cx="201168" cy="201168"/>
          </a:xfrm>
          <a:prstGeom prst="rect">
            <a:avLst/>
          </a:prstGeom>
        </p:spPr>
      </p:pic>
      <p:sp>
        <p:nvSpPr>
          <p:cNvPr id="10" name="Text 7"/>
          <p:cNvSpPr/>
          <p:nvPr/>
        </p:nvSpPr>
        <p:spPr>
          <a:xfrm>
            <a:off x="1344168" y="1499616"/>
            <a:ext cx="3977640" cy="310896"/>
          </a:xfrm>
          <a:prstGeom prst="rect">
            <a:avLst/>
          </a:prstGeom>
          <a:noFill/>
          <a:ln/>
        </p:spPr>
        <p:txBody>
          <a:bodyPr wrap="square" lIns="0" tIns="0" rIns="0" bIns="0" rtlCol="0" anchor="ctr">
            <a:normAutofit/>
          </a:bodyPr>
          <a:lstStyle/>
          <a:p>
            <a:pPr indent="0" marL="0">
              <a:buNone/>
            </a:pPr>
            <a:r>
              <a:rPr lang="en-US" sz="1500" b="1" dirty="0">
                <a:solidFill>
                  <a:srgbClr val="142A37"/>
                </a:solidFill>
                <a:latin typeface="Noto Sans" pitchFamily="34" charset="0"/>
                <a:ea typeface="Noto Sans" pitchFamily="34" charset="-122"/>
                <a:cs typeface="Noto Sans" pitchFamily="34" charset="-120"/>
              </a:rPr>
              <a:t>Demo now</a:t>
            </a:r>
            <a:endParaRPr lang="en-US" sz="1500" dirty="0"/>
          </a:p>
        </p:txBody>
      </p:sp>
      <p:sp>
        <p:nvSpPr>
          <p:cNvPr id="11" name="Text 8"/>
          <p:cNvSpPr/>
          <p:nvPr/>
        </p:nvSpPr>
        <p:spPr>
          <a:xfrm>
            <a:off x="868680" y="2011680"/>
            <a:ext cx="4434840" cy="3410712"/>
          </a:xfrm>
          <a:prstGeom prst="rect">
            <a:avLst/>
          </a:prstGeom>
          <a:noFill/>
          <a:ln/>
        </p:spPr>
        <p:txBody>
          <a:bodyPr wrap="square" lIns="254" tIns="254" rIns="254" bIns="254" rtlCol="0" anchor="t">
            <a:normAutofit/>
          </a:bodyPr>
          <a:lstStyle/>
          <a:p>
            <a:pPr indent="0" marL="0">
              <a:buNone/>
            </a:pPr>
            <a:r>
              <a:rPr lang="en-US" sz="1200" dirty="0">
                <a:solidFill>
                  <a:srgbClr val="5F7180"/>
                </a:solidFill>
                <a:latin typeface="Noto Sans" pitchFamily="34" charset="0"/>
                <a:ea typeface="Noto Sans" pitchFamily="34" charset="-122"/>
                <a:cs typeface="Noto Sans" pitchFamily="34" charset="-120"/>
              </a:rPr>
              <a:t>• Streamlit UI</a:t>
            </a:r>
            <a:endParaRPr lang="en-US" sz="1200" dirty="0"/>
          </a:p>
          <a:p>
            <a:pPr indent="0" marL="0">
              <a:buNone/>
            </a:pPr>
            <a:r>
              <a:rPr lang="en-US" sz="1200" dirty="0">
                <a:solidFill>
                  <a:srgbClr val="5F7180"/>
                </a:solidFill>
                <a:latin typeface="Noto Sans" pitchFamily="34" charset="0"/>
                <a:ea typeface="Noto Sans" pitchFamily="34" charset="-122"/>
                <a:cs typeface="Noto Sans" pitchFamily="34" charset="-120"/>
              </a:rPr>
              <a:t>• Python / ML</a:t>
            </a:r>
            <a:endParaRPr lang="en-US" sz="1200" dirty="0"/>
          </a:p>
          <a:p>
            <a:pPr indent="0" marL="0">
              <a:buNone/>
            </a:pPr>
            <a:r>
              <a:rPr lang="en-US" sz="1200" dirty="0">
                <a:solidFill>
                  <a:srgbClr val="5F7180"/>
                </a:solidFill>
                <a:latin typeface="Noto Sans" pitchFamily="34" charset="0"/>
                <a:ea typeface="Noto Sans" pitchFamily="34" charset="-122"/>
                <a:cs typeface="Noto Sans" pitchFamily="34" charset="-120"/>
              </a:rPr>
              <a:t>• test / training datasets</a:t>
            </a:r>
            <a:endParaRPr lang="en-US" sz="1200" dirty="0"/>
          </a:p>
          <a:p>
            <a:pPr indent="0" marL="0">
              <a:buNone/>
            </a:pPr>
            <a:r>
              <a:rPr lang="en-US" sz="1200" dirty="0">
                <a:solidFill>
                  <a:srgbClr val="5F7180"/>
                </a:solidFill>
                <a:latin typeface="Noto Sans" pitchFamily="34" charset="0"/>
                <a:ea typeface="Noto Sans" pitchFamily="34" charset="-122"/>
                <a:cs typeface="Noto Sans" pitchFamily="34" charset="-120"/>
              </a:rPr>
              <a:t>• cloud demo deployment</a:t>
            </a:r>
            <a:endParaRPr lang="en-US" sz="1200" dirty="0"/>
          </a:p>
          <a:p>
            <a:pPr indent="0" marL="0">
              <a:buNone/>
            </a:pPr>
            <a:r>
              <a:rPr lang="en-US" sz="1200" dirty="0">
                <a:solidFill>
                  <a:srgbClr val="5F7180"/>
                </a:solidFill>
                <a:latin typeface="Noto Sans" pitchFamily="34" charset="0"/>
                <a:ea typeface="Noto Sans" pitchFamily="34" charset="-122"/>
                <a:cs typeface="Noto Sans" pitchFamily="34" charset="-120"/>
              </a:rPr>
              <a:t>• GitHub repository</a:t>
            </a:r>
            <a:endParaRPr lang="en-US" sz="1200" dirty="0"/>
          </a:p>
          <a:p>
            <a:pPr indent="0" marL="0">
              <a:buNone/>
            </a:pPr>
            <a:r>
              <a:rPr lang="en-US" sz="1200" dirty="0">
                <a:solidFill>
                  <a:srgbClr val="5F7180"/>
                </a:solidFill>
                <a:latin typeface="Noto Sans" pitchFamily="34" charset="0"/>
                <a:ea typeface="Noto Sans" pitchFamily="34" charset="-122"/>
                <a:cs typeface="Noto Sans" pitchFamily="34" charset="-120"/>
              </a:rPr>
              <a:t>• basic critical-flow testing</a:t>
            </a:r>
            <a:endParaRPr lang="en-US" sz="1200" dirty="0"/>
          </a:p>
        </p:txBody>
      </p:sp>
      <p:sp>
        <p:nvSpPr>
          <p:cNvPr id="12" name="Shape 9"/>
          <p:cNvSpPr/>
          <p:nvPr/>
        </p:nvSpPr>
        <p:spPr>
          <a:xfrm>
            <a:off x="6492240" y="1325880"/>
            <a:ext cx="4800600" cy="4251960"/>
          </a:xfrm>
          <a:prstGeom prst="roundRect">
            <a:avLst>
              <a:gd name="adj" fmla="val 1720"/>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6656832" y="1490472"/>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57416" y="1591056"/>
            <a:ext cx="201168" cy="201168"/>
          </a:xfrm>
          <a:prstGeom prst="rect">
            <a:avLst/>
          </a:prstGeom>
        </p:spPr>
      </p:pic>
      <p:sp>
        <p:nvSpPr>
          <p:cNvPr id="15" name="Text 11"/>
          <p:cNvSpPr/>
          <p:nvPr/>
        </p:nvSpPr>
        <p:spPr>
          <a:xfrm>
            <a:off x="7150608" y="1499616"/>
            <a:ext cx="3977640" cy="310896"/>
          </a:xfrm>
          <a:prstGeom prst="rect">
            <a:avLst/>
          </a:prstGeom>
          <a:noFill/>
          <a:ln/>
        </p:spPr>
        <p:txBody>
          <a:bodyPr wrap="square" lIns="0" tIns="0" rIns="0" bIns="0" rtlCol="0" anchor="ctr">
            <a:normAutofit/>
          </a:bodyPr>
          <a:lstStyle/>
          <a:p>
            <a:pPr indent="0" marL="0">
              <a:buNone/>
            </a:pPr>
            <a:r>
              <a:rPr lang="en-US" sz="1500" b="1" dirty="0">
                <a:solidFill>
                  <a:srgbClr val="142A37"/>
                </a:solidFill>
                <a:latin typeface="Noto Sans" pitchFamily="34" charset="0"/>
                <a:ea typeface="Noto Sans" pitchFamily="34" charset="-122"/>
                <a:cs typeface="Noto Sans" pitchFamily="34" charset="-120"/>
              </a:rPr>
              <a:t>Production later</a:t>
            </a:r>
            <a:endParaRPr lang="en-US" sz="1500" dirty="0"/>
          </a:p>
        </p:txBody>
      </p:sp>
      <p:sp>
        <p:nvSpPr>
          <p:cNvPr id="16" name="Text 12"/>
          <p:cNvSpPr/>
          <p:nvPr/>
        </p:nvSpPr>
        <p:spPr>
          <a:xfrm>
            <a:off x="6675120" y="2011680"/>
            <a:ext cx="4434840" cy="3410712"/>
          </a:xfrm>
          <a:prstGeom prst="rect">
            <a:avLst/>
          </a:prstGeom>
          <a:noFill/>
          <a:ln/>
        </p:spPr>
        <p:txBody>
          <a:bodyPr wrap="square" lIns="254" tIns="254" rIns="254" bIns="254" rtlCol="0" anchor="t">
            <a:normAutofit/>
          </a:bodyPr>
          <a:lstStyle/>
          <a:p>
            <a:pPr indent="0" marL="0">
              <a:buNone/>
            </a:pPr>
            <a:r>
              <a:rPr lang="en-US" sz="1150" dirty="0">
                <a:solidFill>
                  <a:srgbClr val="5F7180"/>
                </a:solidFill>
                <a:latin typeface="Noto Sans" pitchFamily="34" charset="0"/>
                <a:ea typeface="Noto Sans" pitchFamily="34" charset="-122"/>
                <a:cs typeface="Noto Sans" pitchFamily="34" charset="-120"/>
              </a:rPr>
              <a:t>• Separate frontend and backend</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API layer</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managed relational database</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object storage for medical files</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cloud hosting</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CI/CD</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concurrent-user scaling</a:t>
            </a:r>
            <a:endParaRPr lang="en-US" sz="1150" dirty="0"/>
          </a:p>
          <a:p>
            <a:pPr indent="0" marL="0">
              <a:buNone/>
            </a:pPr>
            <a:r>
              <a:rPr lang="en-US" sz="1150" dirty="0">
                <a:solidFill>
                  <a:srgbClr val="5F7180"/>
                </a:solidFill>
                <a:latin typeface="Noto Sans" pitchFamily="34" charset="0"/>
                <a:ea typeface="Noto Sans" pitchFamily="34" charset="-122"/>
                <a:cs typeface="Noto Sans" pitchFamily="34" charset="-120"/>
              </a:rPr>
              <a:t>• mobile-first product experience</a:t>
            </a:r>
            <a:endParaRPr lang="en-US" sz="1150" dirty="0"/>
          </a:p>
        </p:txBody>
      </p:sp>
      <p:sp>
        <p:nvSpPr>
          <p:cNvPr id="17" name="Shape 13"/>
          <p:cNvSpPr/>
          <p:nvPr/>
        </p:nvSpPr>
        <p:spPr>
          <a:xfrm>
            <a:off x="5623560" y="3401568"/>
            <a:ext cx="777240" cy="0"/>
          </a:xfrm>
          <a:prstGeom prst="line">
            <a:avLst/>
          </a:prstGeom>
          <a:noFill/>
          <a:ln w="31750">
            <a:solidFill>
              <a:srgbClr val="12B8A6"/>
            </a:solidFill>
            <a:prstDash val="solid"/>
            <a:headEnd type="none"/>
            <a:tailEnd type="triangle"/>
          </a:ln>
        </p:spPr>
      </p:sp>
      <p:sp>
        <p:nvSpPr>
          <p:cNvPr id="18" name="Text 14"/>
          <p:cNvSpPr/>
          <p:nvPr/>
        </p:nvSpPr>
        <p:spPr>
          <a:xfrm>
            <a:off x="3840480" y="5760720"/>
            <a:ext cx="4480560" cy="310896"/>
          </a:xfrm>
          <a:prstGeom prst="rect">
            <a:avLst/>
          </a:prstGeom>
          <a:noFill/>
          <a:ln/>
        </p:spPr>
        <p:txBody>
          <a:bodyPr wrap="square" lIns="0" tIns="0" rIns="0" bIns="0" rtlCol="0" anchor="ctr"/>
          <a:lstStyle/>
          <a:p>
            <a:pPr algn="ctr" indent="0" marL="0">
              <a:buNone/>
            </a:pPr>
            <a:r>
              <a:rPr lang="en-US" sz="1300" b="1" dirty="0">
                <a:solidFill>
                  <a:srgbClr val="0B3D4B"/>
                </a:solidFill>
                <a:latin typeface="Noto Sans" pitchFamily="34" charset="0"/>
                <a:ea typeface="Noto Sans" pitchFamily="34" charset="-122"/>
                <a:cs typeface="Noto Sans" pitchFamily="34" charset="-120"/>
              </a:rPr>
              <a:t>Demo → evidence → pilot → production architecture</a:t>
            </a:r>
            <a:endParaRPr lang="en-US" sz="130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Roadmap &amp; Delivery Plan</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Four delivery windows lead to the final presentation, followed by a one-month trial / pilot.</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ROADMAP</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85800" y="1463040"/>
            <a:ext cx="2560320" cy="4160520"/>
          </a:xfrm>
          <a:prstGeom prst="roundRect">
            <a:avLst>
              <a:gd name="adj" fmla="val 2857"/>
            </a:avLst>
          </a:prstGeom>
          <a:solidFill>
            <a:srgbClr val="FFFFFF"/>
          </a:solidFill>
          <a:ln w="13970">
            <a:solidFill>
              <a:srgbClr val="DDE7EA"/>
            </a:solidFill>
            <a:prstDash val="solid"/>
          </a:ln>
        </p:spPr>
      </p:sp>
      <p:sp>
        <p:nvSpPr>
          <p:cNvPr id="8" name="Shape 6"/>
          <p:cNvSpPr/>
          <p:nvPr/>
        </p:nvSpPr>
        <p:spPr>
          <a:xfrm>
            <a:off x="685800" y="1463040"/>
            <a:ext cx="2560320" cy="109728"/>
          </a:xfrm>
          <a:prstGeom prst="rect">
            <a:avLst/>
          </a:prstGeom>
          <a:solidFill>
            <a:srgbClr val="12B8A6"/>
          </a:solidFill>
          <a:ln w="12700">
            <a:solidFill>
              <a:srgbClr val="12B8A6"/>
            </a:solidFill>
            <a:prstDash val="solid"/>
          </a:ln>
        </p:spPr>
      </p:sp>
      <p:sp>
        <p:nvSpPr>
          <p:cNvPr id="9" name="Shape 7"/>
          <p:cNvSpPr/>
          <p:nvPr/>
        </p:nvSpPr>
        <p:spPr>
          <a:xfrm>
            <a:off x="868680" y="1755648"/>
            <a:ext cx="1143000" cy="329184"/>
          </a:xfrm>
          <a:prstGeom prst="roundRect">
            <a:avLst>
              <a:gd name="adj" fmla="val 38889"/>
            </a:avLst>
          </a:prstGeom>
          <a:solidFill>
            <a:srgbClr val="E8F8F4"/>
          </a:solidFill>
          <a:ln w="12700">
            <a:solidFill>
              <a:srgbClr val="E8F8F4"/>
            </a:solidFill>
            <a:prstDash val="solid"/>
          </a:ln>
        </p:spPr>
      </p:sp>
      <p:sp>
        <p:nvSpPr>
          <p:cNvPr id="10" name="Text 8"/>
          <p:cNvSpPr/>
          <p:nvPr/>
        </p:nvSpPr>
        <p:spPr>
          <a:xfrm>
            <a:off x="941832" y="1828800"/>
            <a:ext cx="996696" cy="146304"/>
          </a:xfrm>
          <a:prstGeom prst="rect">
            <a:avLst/>
          </a:prstGeom>
          <a:noFill/>
          <a:ln/>
        </p:spPr>
        <p:txBody>
          <a:bodyPr wrap="square" lIns="0" tIns="0" rIns="0" bIns="0" rtlCol="0" anchor="ctr">
            <a:normAutofit/>
          </a:bodyPr>
          <a:lstStyle/>
          <a:p>
            <a:pPr algn="ctr" indent="0" marL="0">
              <a:buNone/>
            </a:pPr>
            <a:r>
              <a:rPr lang="en-US" sz="870" b="1" dirty="0">
                <a:solidFill>
                  <a:srgbClr val="12B8A6"/>
                </a:solidFill>
                <a:latin typeface="Noto Sans" pitchFamily="34" charset="0"/>
                <a:ea typeface="Noto Sans" pitchFamily="34" charset="-122"/>
                <a:cs typeface="Noto Sans" pitchFamily="34" charset="-120"/>
              </a:rPr>
              <a:t>20–27 Sep</a:t>
            </a:r>
            <a:endParaRPr lang="en-US" sz="870" dirty="0"/>
          </a:p>
        </p:txBody>
      </p:sp>
      <p:sp>
        <p:nvSpPr>
          <p:cNvPr id="11" name="Text 9"/>
          <p:cNvSpPr/>
          <p:nvPr/>
        </p:nvSpPr>
        <p:spPr>
          <a:xfrm>
            <a:off x="868680" y="2240280"/>
            <a:ext cx="2194560" cy="384048"/>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Demo Sprint</a:t>
            </a:r>
            <a:endParaRPr lang="en-US" sz="1400" dirty="0"/>
          </a:p>
        </p:txBody>
      </p:sp>
      <p:sp>
        <p:nvSpPr>
          <p:cNvPr id="12" name="Shape 10"/>
          <p:cNvSpPr/>
          <p:nvPr/>
        </p:nvSpPr>
        <p:spPr>
          <a:xfrm>
            <a:off x="886968" y="2816352"/>
            <a:ext cx="128016" cy="128016"/>
          </a:xfrm>
          <a:prstGeom prst="ellipse">
            <a:avLst/>
          </a:prstGeom>
          <a:solidFill>
            <a:srgbClr val="12B8A6"/>
          </a:solidFill>
          <a:ln w="12700">
            <a:solidFill>
              <a:srgbClr val="12B8A6"/>
            </a:solidFill>
            <a:prstDash val="solid"/>
          </a:ln>
        </p:spPr>
      </p:sp>
      <p:sp>
        <p:nvSpPr>
          <p:cNvPr id="13" name="Text 11"/>
          <p:cNvSpPr/>
          <p:nvPr/>
        </p:nvSpPr>
        <p:spPr>
          <a:xfrm>
            <a:off x="1124712" y="274320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Streamlit demo</a:t>
            </a:r>
            <a:endParaRPr lang="en-US" sz="930" dirty="0"/>
          </a:p>
        </p:txBody>
      </p:sp>
      <p:sp>
        <p:nvSpPr>
          <p:cNvPr id="14" name="Shape 12"/>
          <p:cNvSpPr/>
          <p:nvPr/>
        </p:nvSpPr>
        <p:spPr>
          <a:xfrm>
            <a:off x="886968" y="3200400"/>
            <a:ext cx="128016" cy="128016"/>
          </a:xfrm>
          <a:prstGeom prst="ellipse">
            <a:avLst/>
          </a:prstGeom>
          <a:solidFill>
            <a:srgbClr val="12B8A6"/>
          </a:solidFill>
          <a:ln w="12700">
            <a:solidFill>
              <a:srgbClr val="12B8A6"/>
            </a:solidFill>
            <a:prstDash val="solid"/>
          </a:ln>
        </p:spPr>
      </p:sp>
      <p:sp>
        <p:nvSpPr>
          <p:cNvPr id="15" name="Text 13"/>
          <p:cNvSpPr/>
          <p:nvPr/>
        </p:nvSpPr>
        <p:spPr>
          <a:xfrm>
            <a:off x="1124712" y="3127248"/>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Auth mock / roles</a:t>
            </a:r>
            <a:endParaRPr lang="en-US" sz="930" dirty="0"/>
          </a:p>
        </p:txBody>
      </p:sp>
      <p:sp>
        <p:nvSpPr>
          <p:cNvPr id="16" name="Shape 14"/>
          <p:cNvSpPr/>
          <p:nvPr/>
        </p:nvSpPr>
        <p:spPr>
          <a:xfrm>
            <a:off x="886968" y="3584448"/>
            <a:ext cx="128016" cy="128016"/>
          </a:xfrm>
          <a:prstGeom prst="ellipse">
            <a:avLst/>
          </a:prstGeom>
          <a:solidFill>
            <a:srgbClr val="12B8A6"/>
          </a:solidFill>
          <a:ln w="12700">
            <a:solidFill>
              <a:srgbClr val="12B8A6"/>
            </a:solidFill>
            <a:prstDash val="solid"/>
          </a:ln>
        </p:spPr>
      </p:sp>
      <p:sp>
        <p:nvSpPr>
          <p:cNvPr id="17" name="Text 15"/>
          <p:cNvSpPr/>
          <p:nvPr/>
        </p:nvSpPr>
        <p:spPr>
          <a:xfrm>
            <a:off x="1124712" y="3511296"/>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Respiratory form</a:t>
            </a:r>
            <a:endParaRPr lang="en-US" sz="930" dirty="0"/>
          </a:p>
        </p:txBody>
      </p:sp>
      <p:sp>
        <p:nvSpPr>
          <p:cNvPr id="18" name="Shape 16"/>
          <p:cNvSpPr/>
          <p:nvPr/>
        </p:nvSpPr>
        <p:spPr>
          <a:xfrm>
            <a:off x="886968" y="3968496"/>
            <a:ext cx="128016" cy="128016"/>
          </a:xfrm>
          <a:prstGeom prst="ellipse">
            <a:avLst/>
          </a:prstGeom>
          <a:solidFill>
            <a:srgbClr val="12B8A6"/>
          </a:solidFill>
          <a:ln w="12700">
            <a:solidFill>
              <a:srgbClr val="12B8A6"/>
            </a:solidFill>
            <a:prstDash val="solid"/>
          </a:ln>
        </p:spPr>
      </p:sp>
      <p:sp>
        <p:nvSpPr>
          <p:cNvPr id="19" name="Text 17"/>
          <p:cNvSpPr/>
          <p:nvPr/>
        </p:nvSpPr>
        <p:spPr>
          <a:xfrm>
            <a:off x="1124712" y="3895344"/>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Initial ML model</a:t>
            </a:r>
            <a:endParaRPr lang="en-US" sz="930" dirty="0"/>
          </a:p>
        </p:txBody>
      </p:sp>
      <p:sp>
        <p:nvSpPr>
          <p:cNvPr id="20" name="Shape 18"/>
          <p:cNvSpPr/>
          <p:nvPr/>
        </p:nvSpPr>
        <p:spPr>
          <a:xfrm>
            <a:off x="886968" y="4352544"/>
            <a:ext cx="128016" cy="128016"/>
          </a:xfrm>
          <a:prstGeom prst="ellipse">
            <a:avLst/>
          </a:prstGeom>
          <a:solidFill>
            <a:srgbClr val="12B8A6"/>
          </a:solidFill>
          <a:ln w="12700">
            <a:solidFill>
              <a:srgbClr val="12B8A6"/>
            </a:solidFill>
            <a:prstDash val="solid"/>
          </a:ln>
        </p:spPr>
      </p:sp>
      <p:sp>
        <p:nvSpPr>
          <p:cNvPr id="21" name="Text 19"/>
          <p:cNvSpPr/>
          <p:nvPr/>
        </p:nvSpPr>
        <p:spPr>
          <a:xfrm>
            <a:off x="1124712" y="4279392"/>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Result screen</a:t>
            </a:r>
            <a:endParaRPr lang="en-US" sz="930" dirty="0"/>
          </a:p>
        </p:txBody>
      </p:sp>
      <p:sp>
        <p:nvSpPr>
          <p:cNvPr id="22" name="Shape 20"/>
          <p:cNvSpPr/>
          <p:nvPr/>
        </p:nvSpPr>
        <p:spPr>
          <a:xfrm>
            <a:off x="886968" y="4736592"/>
            <a:ext cx="128016" cy="128016"/>
          </a:xfrm>
          <a:prstGeom prst="ellipse">
            <a:avLst/>
          </a:prstGeom>
          <a:solidFill>
            <a:srgbClr val="12B8A6"/>
          </a:solidFill>
          <a:ln w="12700">
            <a:solidFill>
              <a:srgbClr val="12B8A6"/>
            </a:solidFill>
            <a:prstDash val="solid"/>
          </a:ln>
        </p:spPr>
      </p:sp>
      <p:sp>
        <p:nvSpPr>
          <p:cNvPr id="23" name="Text 21"/>
          <p:cNvSpPr/>
          <p:nvPr/>
        </p:nvSpPr>
        <p:spPr>
          <a:xfrm>
            <a:off x="1124712" y="466344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Basic report</a:t>
            </a:r>
            <a:endParaRPr lang="en-US" sz="930" dirty="0"/>
          </a:p>
        </p:txBody>
      </p:sp>
      <p:sp>
        <p:nvSpPr>
          <p:cNvPr id="24" name="Shape 22"/>
          <p:cNvSpPr/>
          <p:nvPr/>
        </p:nvSpPr>
        <p:spPr>
          <a:xfrm>
            <a:off x="3337560" y="1463040"/>
            <a:ext cx="2560320" cy="4160520"/>
          </a:xfrm>
          <a:prstGeom prst="roundRect">
            <a:avLst>
              <a:gd name="adj" fmla="val 2857"/>
            </a:avLst>
          </a:prstGeom>
          <a:solidFill>
            <a:srgbClr val="FFFFFF"/>
          </a:solidFill>
          <a:ln w="13970">
            <a:solidFill>
              <a:srgbClr val="DDE7EA"/>
            </a:solidFill>
            <a:prstDash val="solid"/>
          </a:ln>
        </p:spPr>
      </p:sp>
      <p:sp>
        <p:nvSpPr>
          <p:cNvPr id="25" name="Shape 23"/>
          <p:cNvSpPr/>
          <p:nvPr/>
        </p:nvSpPr>
        <p:spPr>
          <a:xfrm>
            <a:off x="3337560" y="1463040"/>
            <a:ext cx="2560320" cy="109728"/>
          </a:xfrm>
          <a:prstGeom prst="rect">
            <a:avLst/>
          </a:prstGeom>
          <a:solidFill>
            <a:srgbClr val="2F80ED"/>
          </a:solidFill>
          <a:ln w="12700">
            <a:solidFill>
              <a:srgbClr val="2F80ED"/>
            </a:solidFill>
            <a:prstDash val="solid"/>
          </a:ln>
        </p:spPr>
      </p:sp>
      <p:sp>
        <p:nvSpPr>
          <p:cNvPr id="26" name="Shape 24"/>
          <p:cNvSpPr/>
          <p:nvPr/>
        </p:nvSpPr>
        <p:spPr>
          <a:xfrm>
            <a:off x="3520440" y="1755648"/>
            <a:ext cx="1143000" cy="329184"/>
          </a:xfrm>
          <a:prstGeom prst="roundRect">
            <a:avLst>
              <a:gd name="adj" fmla="val 38889"/>
            </a:avLst>
          </a:prstGeom>
          <a:solidFill>
            <a:srgbClr val="EAF2FF"/>
          </a:solidFill>
          <a:ln w="12700">
            <a:solidFill>
              <a:srgbClr val="EAF2FF"/>
            </a:solidFill>
            <a:prstDash val="solid"/>
          </a:ln>
        </p:spPr>
      </p:sp>
      <p:sp>
        <p:nvSpPr>
          <p:cNvPr id="27" name="Text 25"/>
          <p:cNvSpPr/>
          <p:nvPr/>
        </p:nvSpPr>
        <p:spPr>
          <a:xfrm>
            <a:off x="3593592" y="1828800"/>
            <a:ext cx="99669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28 Sep–6 Oct</a:t>
            </a:r>
            <a:endParaRPr lang="en-US" sz="870" dirty="0"/>
          </a:p>
        </p:txBody>
      </p:sp>
      <p:sp>
        <p:nvSpPr>
          <p:cNvPr id="28" name="Text 26"/>
          <p:cNvSpPr/>
          <p:nvPr/>
        </p:nvSpPr>
        <p:spPr>
          <a:xfrm>
            <a:off x="3520440" y="2240280"/>
            <a:ext cx="2194560" cy="384048"/>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Validation &amp; UX</a:t>
            </a:r>
            <a:endParaRPr lang="en-US" sz="1400" dirty="0"/>
          </a:p>
        </p:txBody>
      </p:sp>
      <p:sp>
        <p:nvSpPr>
          <p:cNvPr id="29" name="Shape 27"/>
          <p:cNvSpPr/>
          <p:nvPr/>
        </p:nvSpPr>
        <p:spPr>
          <a:xfrm>
            <a:off x="3538728" y="2816352"/>
            <a:ext cx="128016" cy="128016"/>
          </a:xfrm>
          <a:prstGeom prst="ellipse">
            <a:avLst/>
          </a:prstGeom>
          <a:solidFill>
            <a:srgbClr val="2F80ED"/>
          </a:solidFill>
          <a:ln w="12700">
            <a:solidFill>
              <a:srgbClr val="2F80ED"/>
            </a:solidFill>
            <a:prstDash val="solid"/>
          </a:ln>
        </p:spPr>
      </p:sp>
      <p:sp>
        <p:nvSpPr>
          <p:cNvPr id="30" name="Text 28"/>
          <p:cNvSpPr/>
          <p:nvPr/>
        </p:nvSpPr>
        <p:spPr>
          <a:xfrm>
            <a:off x="3776472" y="274320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Improve dataset / model</a:t>
            </a:r>
            <a:endParaRPr lang="en-US" sz="930" dirty="0"/>
          </a:p>
        </p:txBody>
      </p:sp>
      <p:sp>
        <p:nvSpPr>
          <p:cNvPr id="31" name="Shape 29"/>
          <p:cNvSpPr/>
          <p:nvPr/>
        </p:nvSpPr>
        <p:spPr>
          <a:xfrm>
            <a:off x="3538728" y="3200400"/>
            <a:ext cx="128016" cy="128016"/>
          </a:xfrm>
          <a:prstGeom prst="ellipse">
            <a:avLst/>
          </a:prstGeom>
          <a:solidFill>
            <a:srgbClr val="2F80ED"/>
          </a:solidFill>
          <a:ln w="12700">
            <a:solidFill>
              <a:srgbClr val="2F80ED"/>
            </a:solidFill>
            <a:prstDash val="solid"/>
          </a:ln>
        </p:spPr>
      </p:sp>
      <p:sp>
        <p:nvSpPr>
          <p:cNvPr id="32" name="Text 30"/>
          <p:cNvSpPr/>
          <p:nvPr/>
        </p:nvSpPr>
        <p:spPr>
          <a:xfrm>
            <a:off x="3776472" y="3127248"/>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Doctor review flow</a:t>
            </a:r>
            <a:endParaRPr lang="en-US" sz="930" dirty="0"/>
          </a:p>
        </p:txBody>
      </p:sp>
      <p:sp>
        <p:nvSpPr>
          <p:cNvPr id="33" name="Shape 31"/>
          <p:cNvSpPr/>
          <p:nvPr/>
        </p:nvSpPr>
        <p:spPr>
          <a:xfrm>
            <a:off x="3538728" y="3584448"/>
            <a:ext cx="128016" cy="128016"/>
          </a:xfrm>
          <a:prstGeom prst="ellipse">
            <a:avLst/>
          </a:prstGeom>
          <a:solidFill>
            <a:srgbClr val="2F80ED"/>
          </a:solidFill>
          <a:ln w="12700">
            <a:solidFill>
              <a:srgbClr val="2F80ED"/>
            </a:solidFill>
            <a:prstDash val="solid"/>
          </a:ln>
        </p:spPr>
      </p:sp>
      <p:sp>
        <p:nvSpPr>
          <p:cNvPr id="34" name="Text 32"/>
          <p:cNvSpPr/>
          <p:nvPr/>
        </p:nvSpPr>
        <p:spPr>
          <a:xfrm>
            <a:off x="3776472" y="3511296"/>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Patient profile / history</a:t>
            </a:r>
            <a:endParaRPr lang="en-US" sz="930" dirty="0"/>
          </a:p>
        </p:txBody>
      </p:sp>
      <p:sp>
        <p:nvSpPr>
          <p:cNvPr id="35" name="Shape 33"/>
          <p:cNvSpPr/>
          <p:nvPr/>
        </p:nvSpPr>
        <p:spPr>
          <a:xfrm>
            <a:off x="3538728" y="3968496"/>
            <a:ext cx="128016" cy="128016"/>
          </a:xfrm>
          <a:prstGeom prst="ellipse">
            <a:avLst/>
          </a:prstGeom>
          <a:solidFill>
            <a:srgbClr val="2F80ED"/>
          </a:solidFill>
          <a:ln w="12700">
            <a:solidFill>
              <a:srgbClr val="2F80ED"/>
            </a:solidFill>
            <a:prstDash val="solid"/>
          </a:ln>
        </p:spPr>
      </p:sp>
      <p:sp>
        <p:nvSpPr>
          <p:cNvPr id="36" name="Text 34"/>
          <p:cNvSpPr/>
          <p:nvPr/>
        </p:nvSpPr>
        <p:spPr>
          <a:xfrm>
            <a:off x="3776472" y="3895344"/>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Bilingual UI</a:t>
            </a:r>
            <a:endParaRPr lang="en-US" sz="930" dirty="0"/>
          </a:p>
        </p:txBody>
      </p:sp>
      <p:sp>
        <p:nvSpPr>
          <p:cNvPr id="37" name="Shape 35"/>
          <p:cNvSpPr/>
          <p:nvPr/>
        </p:nvSpPr>
        <p:spPr>
          <a:xfrm>
            <a:off x="5989320" y="1463040"/>
            <a:ext cx="2560320" cy="4160520"/>
          </a:xfrm>
          <a:prstGeom prst="roundRect">
            <a:avLst>
              <a:gd name="adj" fmla="val 2857"/>
            </a:avLst>
          </a:prstGeom>
          <a:solidFill>
            <a:srgbClr val="FFFFFF"/>
          </a:solidFill>
          <a:ln w="13970">
            <a:solidFill>
              <a:srgbClr val="DDE7EA"/>
            </a:solidFill>
            <a:prstDash val="solid"/>
          </a:ln>
        </p:spPr>
      </p:sp>
      <p:sp>
        <p:nvSpPr>
          <p:cNvPr id="38" name="Shape 36"/>
          <p:cNvSpPr/>
          <p:nvPr/>
        </p:nvSpPr>
        <p:spPr>
          <a:xfrm>
            <a:off x="5989320" y="1463040"/>
            <a:ext cx="2560320" cy="109728"/>
          </a:xfrm>
          <a:prstGeom prst="rect">
            <a:avLst/>
          </a:prstGeom>
          <a:solidFill>
            <a:srgbClr val="6C63FF"/>
          </a:solidFill>
          <a:ln w="12700">
            <a:solidFill>
              <a:srgbClr val="6C63FF"/>
            </a:solidFill>
            <a:prstDash val="solid"/>
          </a:ln>
        </p:spPr>
      </p:sp>
      <p:sp>
        <p:nvSpPr>
          <p:cNvPr id="39" name="Shape 37"/>
          <p:cNvSpPr/>
          <p:nvPr/>
        </p:nvSpPr>
        <p:spPr>
          <a:xfrm>
            <a:off x="6172200" y="1755648"/>
            <a:ext cx="1143000" cy="329184"/>
          </a:xfrm>
          <a:prstGeom prst="roundRect">
            <a:avLst>
              <a:gd name="adj" fmla="val 38889"/>
            </a:avLst>
          </a:prstGeom>
          <a:solidFill>
            <a:srgbClr val="F0EFFF"/>
          </a:solidFill>
          <a:ln w="12700">
            <a:solidFill>
              <a:srgbClr val="F0EFFF"/>
            </a:solidFill>
            <a:prstDash val="solid"/>
          </a:ln>
        </p:spPr>
      </p:sp>
      <p:sp>
        <p:nvSpPr>
          <p:cNvPr id="40" name="Text 38"/>
          <p:cNvSpPr/>
          <p:nvPr/>
        </p:nvSpPr>
        <p:spPr>
          <a:xfrm>
            <a:off x="6245352" y="1828800"/>
            <a:ext cx="996696" cy="146304"/>
          </a:xfrm>
          <a:prstGeom prst="rect">
            <a:avLst/>
          </a:prstGeom>
          <a:noFill/>
          <a:ln/>
        </p:spPr>
        <p:txBody>
          <a:bodyPr wrap="square" lIns="0" tIns="0" rIns="0" bIns="0" rtlCol="0" anchor="ctr">
            <a:normAutofit/>
          </a:bodyPr>
          <a:lstStyle/>
          <a:p>
            <a:pPr algn="ctr" indent="0" marL="0">
              <a:buNone/>
            </a:pPr>
            <a:r>
              <a:rPr lang="en-US" sz="870" b="1" dirty="0">
                <a:solidFill>
                  <a:srgbClr val="6C63FF"/>
                </a:solidFill>
                <a:latin typeface="Noto Sans" pitchFamily="34" charset="0"/>
                <a:ea typeface="Noto Sans" pitchFamily="34" charset="-122"/>
                <a:cs typeface="Noto Sans" pitchFamily="34" charset="-120"/>
              </a:rPr>
              <a:t>7–13 Oct</a:t>
            </a:r>
            <a:endParaRPr lang="en-US" sz="870" dirty="0"/>
          </a:p>
        </p:txBody>
      </p:sp>
      <p:sp>
        <p:nvSpPr>
          <p:cNvPr id="41" name="Text 39"/>
          <p:cNvSpPr/>
          <p:nvPr/>
        </p:nvSpPr>
        <p:spPr>
          <a:xfrm>
            <a:off x="6172200" y="2240280"/>
            <a:ext cx="2194560" cy="384048"/>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Product Integration</a:t>
            </a:r>
            <a:endParaRPr lang="en-US" sz="1400" dirty="0"/>
          </a:p>
        </p:txBody>
      </p:sp>
      <p:sp>
        <p:nvSpPr>
          <p:cNvPr id="42" name="Shape 40"/>
          <p:cNvSpPr/>
          <p:nvPr/>
        </p:nvSpPr>
        <p:spPr>
          <a:xfrm>
            <a:off x="6190488" y="2816352"/>
            <a:ext cx="128016" cy="128016"/>
          </a:xfrm>
          <a:prstGeom prst="ellipse">
            <a:avLst/>
          </a:prstGeom>
          <a:solidFill>
            <a:srgbClr val="6C63FF"/>
          </a:solidFill>
          <a:ln w="12700">
            <a:solidFill>
              <a:srgbClr val="6C63FF"/>
            </a:solidFill>
            <a:prstDash val="solid"/>
          </a:ln>
        </p:spPr>
      </p:sp>
      <p:sp>
        <p:nvSpPr>
          <p:cNvPr id="43" name="Text 41"/>
          <p:cNvSpPr/>
          <p:nvPr/>
        </p:nvSpPr>
        <p:spPr>
          <a:xfrm>
            <a:off x="6428232" y="274320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Admin panel</a:t>
            </a:r>
            <a:endParaRPr lang="en-US" sz="930" dirty="0"/>
          </a:p>
        </p:txBody>
      </p:sp>
      <p:sp>
        <p:nvSpPr>
          <p:cNvPr id="44" name="Shape 42"/>
          <p:cNvSpPr/>
          <p:nvPr/>
        </p:nvSpPr>
        <p:spPr>
          <a:xfrm>
            <a:off x="6190488" y="3200400"/>
            <a:ext cx="128016" cy="128016"/>
          </a:xfrm>
          <a:prstGeom prst="ellipse">
            <a:avLst/>
          </a:prstGeom>
          <a:solidFill>
            <a:srgbClr val="6C63FF"/>
          </a:solidFill>
          <a:ln w="12700">
            <a:solidFill>
              <a:srgbClr val="6C63FF"/>
            </a:solidFill>
            <a:prstDash val="solid"/>
          </a:ln>
        </p:spPr>
      </p:sp>
      <p:sp>
        <p:nvSpPr>
          <p:cNvPr id="45" name="Text 43"/>
          <p:cNvSpPr/>
          <p:nvPr/>
        </p:nvSpPr>
        <p:spPr>
          <a:xfrm>
            <a:off x="6428232" y="3127248"/>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Notifications</a:t>
            </a:r>
            <a:endParaRPr lang="en-US" sz="930" dirty="0"/>
          </a:p>
        </p:txBody>
      </p:sp>
      <p:sp>
        <p:nvSpPr>
          <p:cNvPr id="46" name="Shape 44"/>
          <p:cNvSpPr/>
          <p:nvPr/>
        </p:nvSpPr>
        <p:spPr>
          <a:xfrm>
            <a:off x="6190488" y="3584448"/>
            <a:ext cx="128016" cy="128016"/>
          </a:xfrm>
          <a:prstGeom prst="ellipse">
            <a:avLst/>
          </a:prstGeom>
          <a:solidFill>
            <a:srgbClr val="6C63FF"/>
          </a:solidFill>
          <a:ln w="12700">
            <a:solidFill>
              <a:srgbClr val="6C63FF"/>
            </a:solidFill>
            <a:prstDash val="solid"/>
          </a:ln>
        </p:spPr>
      </p:sp>
      <p:sp>
        <p:nvSpPr>
          <p:cNvPr id="47" name="Text 45"/>
          <p:cNvSpPr/>
          <p:nvPr/>
        </p:nvSpPr>
        <p:spPr>
          <a:xfrm>
            <a:off x="6428232" y="3511296"/>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PDF report</a:t>
            </a:r>
            <a:endParaRPr lang="en-US" sz="930" dirty="0"/>
          </a:p>
        </p:txBody>
      </p:sp>
      <p:sp>
        <p:nvSpPr>
          <p:cNvPr id="48" name="Shape 46"/>
          <p:cNvSpPr/>
          <p:nvPr/>
        </p:nvSpPr>
        <p:spPr>
          <a:xfrm>
            <a:off x="6190488" y="3968496"/>
            <a:ext cx="128016" cy="128016"/>
          </a:xfrm>
          <a:prstGeom prst="ellipse">
            <a:avLst/>
          </a:prstGeom>
          <a:solidFill>
            <a:srgbClr val="6C63FF"/>
          </a:solidFill>
          <a:ln w="12700">
            <a:solidFill>
              <a:srgbClr val="6C63FF"/>
            </a:solidFill>
            <a:prstDash val="solid"/>
          </a:ln>
        </p:spPr>
      </p:sp>
      <p:sp>
        <p:nvSpPr>
          <p:cNvPr id="49" name="Text 47"/>
          <p:cNvSpPr/>
          <p:nvPr/>
        </p:nvSpPr>
        <p:spPr>
          <a:xfrm>
            <a:off x="6428232" y="3895344"/>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Appointments</a:t>
            </a:r>
            <a:endParaRPr lang="en-US" sz="930" dirty="0"/>
          </a:p>
        </p:txBody>
      </p:sp>
      <p:sp>
        <p:nvSpPr>
          <p:cNvPr id="50" name="Shape 48"/>
          <p:cNvSpPr/>
          <p:nvPr/>
        </p:nvSpPr>
        <p:spPr>
          <a:xfrm>
            <a:off x="6190488" y="4352544"/>
            <a:ext cx="128016" cy="128016"/>
          </a:xfrm>
          <a:prstGeom prst="ellipse">
            <a:avLst/>
          </a:prstGeom>
          <a:solidFill>
            <a:srgbClr val="6C63FF"/>
          </a:solidFill>
          <a:ln w="12700">
            <a:solidFill>
              <a:srgbClr val="6C63FF"/>
            </a:solidFill>
            <a:prstDash val="solid"/>
          </a:ln>
        </p:spPr>
      </p:sp>
      <p:sp>
        <p:nvSpPr>
          <p:cNvPr id="51" name="Text 49"/>
          <p:cNvSpPr/>
          <p:nvPr/>
        </p:nvSpPr>
        <p:spPr>
          <a:xfrm>
            <a:off x="6428232" y="4279392"/>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Basic integrations</a:t>
            </a:r>
            <a:endParaRPr lang="en-US" sz="930" dirty="0"/>
          </a:p>
        </p:txBody>
      </p:sp>
      <p:sp>
        <p:nvSpPr>
          <p:cNvPr id="52" name="Shape 50"/>
          <p:cNvSpPr/>
          <p:nvPr/>
        </p:nvSpPr>
        <p:spPr>
          <a:xfrm>
            <a:off x="8641080" y="1463040"/>
            <a:ext cx="2560320" cy="4160520"/>
          </a:xfrm>
          <a:prstGeom prst="roundRect">
            <a:avLst>
              <a:gd name="adj" fmla="val 2857"/>
            </a:avLst>
          </a:prstGeom>
          <a:solidFill>
            <a:srgbClr val="FFFFFF"/>
          </a:solidFill>
          <a:ln w="13970">
            <a:solidFill>
              <a:srgbClr val="DDE7EA"/>
            </a:solidFill>
            <a:prstDash val="solid"/>
          </a:ln>
        </p:spPr>
      </p:sp>
      <p:sp>
        <p:nvSpPr>
          <p:cNvPr id="53" name="Shape 51"/>
          <p:cNvSpPr/>
          <p:nvPr/>
        </p:nvSpPr>
        <p:spPr>
          <a:xfrm>
            <a:off x="8641080" y="1463040"/>
            <a:ext cx="2560320" cy="109728"/>
          </a:xfrm>
          <a:prstGeom prst="rect">
            <a:avLst/>
          </a:prstGeom>
          <a:solidFill>
            <a:srgbClr val="F3B33D"/>
          </a:solidFill>
          <a:ln w="12700">
            <a:solidFill>
              <a:srgbClr val="F3B33D"/>
            </a:solidFill>
            <a:prstDash val="solid"/>
          </a:ln>
        </p:spPr>
      </p:sp>
      <p:sp>
        <p:nvSpPr>
          <p:cNvPr id="54" name="Shape 52"/>
          <p:cNvSpPr/>
          <p:nvPr/>
        </p:nvSpPr>
        <p:spPr>
          <a:xfrm>
            <a:off x="8823960" y="1755648"/>
            <a:ext cx="1143000" cy="329184"/>
          </a:xfrm>
          <a:prstGeom prst="roundRect">
            <a:avLst>
              <a:gd name="adj" fmla="val 38889"/>
            </a:avLst>
          </a:prstGeom>
          <a:solidFill>
            <a:srgbClr val="FFF6E5"/>
          </a:solidFill>
          <a:ln w="12700">
            <a:solidFill>
              <a:srgbClr val="FFF6E5"/>
            </a:solidFill>
            <a:prstDash val="solid"/>
          </a:ln>
        </p:spPr>
      </p:sp>
      <p:sp>
        <p:nvSpPr>
          <p:cNvPr id="55" name="Text 53"/>
          <p:cNvSpPr/>
          <p:nvPr/>
        </p:nvSpPr>
        <p:spPr>
          <a:xfrm>
            <a:off x="8897112" y="1828800"/>
            <a:ext cx="99669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14–20 Oct</a:t>
            </a:r>
            <a:endParaRPr lang="en-US" sz="870" dirty="0"/>
          </a:p>
        </p:txBody>
      </p:sp>
      <p:sp>
        <p:nvSpPr>
          <p:cNvPr id="56" name="Text 54"/>
          <p:cNvSpPr/>
          <p:nvPr/>
        </p:nvSpPr>
        <p:spPr>
          <a:xfrm>
            <a:off x="8823960" y="2240280"/>
            <a:ext cx="2194560" cy="384048"/>
          </a:xfrm>
          <a:prstGeom prst="rect">
            <a:avLst/>
          </a:prstGeom>
          <a:noFill/>
          <a:ln/>
        </p:spPr>
        <p:txBody>
          <a:bodyPr wrap="square" lIns="0" tIns="0" rIns="0" bIns="0" rtlCol="0" anchor="ctr">
            <a:normAutofit/>
          </a:bodyPr>
          <a:lstStyle/>
          <a:p>
            <a:pPr indent="0" marL="0">
              <a:buNone/>
            </a:pPr>
            <a:r>
              <a:rPr lang="en-US" sz="1400" b="1" dirty="0">
                <a:solidFill>
                  <a:srgbClr val="142A37"/>
                </a:solidFill>
                <a:latin typeface="Noto Sans" pitchFamily="34" charset="0"/>
                <a:ea typeface="Noto Sans" pitchFamily="34" charset="-122"/>
                <a:cs typeface="Noto Sans" pitchFamily="34" charset="-120"/>
              </a:rPr>
              <a:t>Final Presentation Build</a:t>
            </a:r>
            <a:endParaRPr lang="en-US" sz="1400" dirty="0"/>
          </a:p>
        </p:txBody>
      </p:sp>
      <p:sp>
        <p:nvSpPr>
          <p:cNvPr id="57" name="Shape 55"/>
          <p:cNvSpPr/>
          <p:nvPr/>
        </p:nvSpPr>
        <p:spPr>
          <a:xfrm>
            <a:off x="8842248" y="2816352"/>
            <a:ext cx="128016" cy="128016"/>
          </a:xfrm>
          <a:prstGeom prst="ellipse">
            <a:avLst/>
          </a:prstGeom>
          <a:solidFill>
            <a:srgbClr val="F3B33D"/>
          </a:solidFill>
          <a:ln w="12700">
            <a:solidFill>
              <a:srgbClr val="F3B33D"/>
            </a:solidFill>
            <a:prstDash val="solid"/>
          </a:ln>
        </p:spPr>
      </p:sp>
      <p:sp>
        <p:nvSpPr>
          <p:cNvPr id="58" name="Text 56"/>
          <p:cNvSpPr/>
          <p:nvPr/>
        </p:nvSpPr>
        <p:spPr>
          <a:xfrm>
            <a:off x="9079992" y="274320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Security checklist</a:t>
            </a:r>
            <a:endParaRPr lang="en-US" sz="930" dirty="0"/>
          </a:p>
        </p:txBody>
      </p:sp>
      <p:sp>
        <p:nvSpPr>
          <p:cNvPr id="59" name="Shape 57"/>
          <p:cNvSpPr/>
          <p:nvPr/>
        </p:nvSpPr>
        <p:spPr>
          <a:xfrm>
            <a:off x="8842248" y="3200400"/>
            <a:ext cx="128016" cy="128016"/>
          </a:xfrm>
          <a:prstGeom prst="ellipse">
            <a:avLst/>
          </a:prstGeom>
          <a:solidFill>
            <a:srgbClr val="F3B33D"/>
          </a:solidFill>
          <a:ln w="12700">
            <a:solidFill>
              <a:srgbClr val="F3B33D"/>
            </a:solidFill>
            <a:prstDash val="solid"/>
          </a:ln>
        </p:spPr>
      </p:sp>
      <p:sp>
        <p:nvSpPr>
          <p:cNvPr id="60" name="Text 58"/>
          <p:cNvSpPr/>
          <p:nvPr/>
        </p:nvSpPr>
        <p:spPr>
          <a:xfrm>
            <a:off x="9079992" y="3127248"/>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Testing</a:t>
            </a:r>
            <a:endParaRPr lang="en-US" sz="930" dirty="0"/>
          </a:p>
        </p:txBody>
      </p:sp>
      <p:sp>
        <p:nvSpPr>
          <p:cNvPr id="61" name="Shape 59"/>
          <p:cNvSpPr/>
          <p:nvPr/>
        </p:nvSpPr>
        <p:spPr>
          <a:xfrm>
            <a:off x="8842248" y="3584448"/>
            <a:ext cx="128016" cy="128016"/>
          </a:xfrm>
          <a:prstGeom prst="ellipse">
            <a:avLst/>
          </a:prstGeom>
          <a:solidFill>
            <a:srgbClr val="F3B33D"/>
          </a:solidFill>
          <a:ln w="12700">
            <a:solidFill>
              <a:srgbClr val="F3B33D"/>
            </a:solidFill>
            <a:prstDash val="solid"/>
          </a:ln>
        </p:spPr>
      </p:sp>
      <p:sp>
        <p:nvSpPr>
          <p:cNvPr id="62" name="Text 60"/>
          <p:cNvSpPr/>
          <p:nvPr/>
        </p:nvSpPr>
        <p:spPr>
          <a:xfrm>
            <a:off x="9079992" y="3511296"/>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Documentation</a:t>
            </a:r>
            <a:endParaRPr lang="en-US" sz="930" dirty="0"/>
          </a:p>
        </p:txBody>
      </p:sp>
      <p:sp>
        <p:nvSpPr>
          <p:cNvPr id="63" name="Shape 61"/>
          <p:cNvSpPr/>
          <p:nvPr/>
        </p:nvSpPr>
        <p:spPr>
          <a:xfrm>
            <a:off x="8842248" y="3968496"/>
            <a:ext cx="128016" cy="128016"/>
          </a:xfrm>
          <a:prstGeom prst="ellipse">
            <a:avLst/>
          </a:prstGeom>
          <a:solidFill>
            <a:srgbClr val="F3B33D"/>
          </a:solidFill>
          <a:ln w="12700">
            <a:solidFill>
              <a:srgbClr val="F3B33D"/>
            </a:solidFill>
            <a:prstDash val="solid"/>
          </a:ln>
        </p:spPr>
      </p:sp>
      <p:sp>
        <p:nvSpPr>
          <p:cNvPr id="64" name="Text 62"/>
          <p:cNvSpPr/>
          <p:nvPr/>
        </p:nvSpPr>
        <p:spPr>
          <a:xfrm>
            <a:off x="9079992" y="3895344"/>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Demo video</a:t>
            </a:r>
            <a:endParaRPr lang="en-US" sz="930" dirty="0"/>
          </a:p>
        </p:txBody>
      </p:sp>
      <p:sp>
        <p:nvSpPr>
          <p:cNvPr id="65" name="Shape 63"/>
          <p:cNvSpPr/>
          <p:nvPr/>
        </p:nvSpPr>
        <p:spPr>
          <a:xfrm>
            <a:off x="8842248" y="4352544"/>
            <a:ext cx="128016" cy="128016"/>
          </a:xfrm>
          <a:prstGeom prst="ellipse">
            <a:avLst/>
          </a:prstGeom>
          <a:solidFill>
            <a:srgbClr val="F3B33D"/>
          </a:solidFill>
          <a:ln w="12700">
            <a:solidFill>
              <a:srgbClr val="F3B33D"/>
            </a:solidFill>
            <a:prstDash val="solid"/>
          </a:ln>
        </p:spPr>
      </p:sp>
      <p:sp>
        <p:nvSpPr>
          <p:cNvPr id="66" name="Text 64"/>
          <p:cNvSpPr/>
          <p:nvPr/>
        </p:nvSpPr>
        <p:spPr>
          <a:xfrm>
            <a:off x="9079992" y="4279392"/>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Deployment</a:t>
            </a:r>
            <a:endParaRPr lang="en-US" sz="930" dirty="0"/>
          </a:p>
        </p:txBody>
      </p:sp>
      <p:sp>
        <p:nvSpPr>
          <p:cNvPr id="67" name="Shape 65"/>
          <p:cNvSpPr/>
          <p:nvPr/>
        </p:nvSpPr>
        <p:spPr>
          <a:xfrm>
            <a:off x="8842248" y="4736592"/>
            <a:ext cx="128016" cy="128016"/>
          </a:xfrm>
          <a:prstGeom prst="ellipse">
            <a:avLst/>
          </a:prstGeom>
          <a:solidFill>
            <a:srgbClr val="F3B33D"/>
          </a:solidFill>
          <a:ln w="12700">
            <a:solidFill>
              <a:srgbClr val="F3B33D"/>
            </a:solidFill>
            <a:prstDash val="solid"/>
          </a:ln>
        </p:spPr>
      </p:sp>
      <p:sp>
        <p:nvSpPr>
          <p:cNvPr id="68" name="Text 66"/>
          <p:cNvSpPr/>
          <p:nvPr/>
        </p:nvSpPr>
        <p:spPr>
          <a:xfrm>
            <a:off x="9079992" y="4663440"/>
            <a:ext cx="1920240" cy="256032"/>
          </a:xfrm>
          <a:prstGeom prst="rect">
            <a:avLst/>
          </a:prstGeom>
          <a:noFill/>
          <a:ln/>
        </p:spPr>
        <p:txBody>
          <a:bodyPr wrap="square" lIns="0" tIns="0" rIns="0" bIns="0" rtlCol="0" anchor="ctr">
            <a:normAutofit/>
          </a:bodyPr>
          <a:lstStyle/>
          <a:p>
            <a:pPr indent="0" marL="0">
              <a:buNone/>
            </a:pPr>
            <a:r>
              <a:rPr lang="en-US" sz="930" dirty="0">
                <a:solidFill>
                  <a:srgbClr val="5F7180"/>
                </a:solidFill>
                <a:latin typeface="Noto Sans" pitchFamily="34" charset="0"/>
                <a:ea typeface="Noto Sans" pitchFamily="34" charset="-122"/>
                <a:cs typeface="Noto Sans" pitchFamily="34" charset="-120"/>
              </a:rPr>
              <a:t>GitHub cleanup</a:t>
            </a:r>
            <a:endParaRPr lang="en-US" sz="930" dirty="0"/>
          </a:p>
        </p:txBody>
      </p:sp>
      <p:sp>
        <p:nvSpPr>
          <p:cNvPr id="69" name="Shape 67"/>
          <p:cNvSpPr/>
          <p:nvPr/>
        </p:nvSpPr>
        <p:spPr>
          <a:xfrm>
            <a:off x="2926080" y="5806440"/>
            <a:ext cx="6355080" cy="438912"/>
          </a:xfrm>
          <a:prstGeom prst="roundRect">
            <a:avLst>
              <a:gd name="adj" fmla="val 20833"/>
            </a:avLst>
          </a:prstGeom>
          <a:solidFill>
            <a:srgbClr val="EAF8F2"/>
          </a:solidFill>
          <a:ln w="12700">
            <a:solidFill>
              <a:srgbClr val="C6EBDD"/>
            </a:solidFill>
            <a:prstDash val="solid"/>
          </a:ln>
        </p:spPr>
      </p:sp>
      <p:sp>
        <p:nvSpPr>
          <p:cNvPr id="70" name="Text 68"/>
          <p:cNvSpPr/>
          <p:nvPr/>
        </p:nvSpPr>
        <p:spPr>
          <a:xfrm>
            <a:off x="3108960" y="5943600"/>
            <a:ext cx="5989320" cy="164592"/>
          </a:xfrm>
          <a:prstGeom prst="rect">
            <a:avLst/>
          </a:prstGeom>
          <a:noFill/>
          <a:ln/>
        </p:spPr>
        <p:txBody>
          <a:bodyPr wrap="square" lIns="0" tIns="0" rIns="0" bIns="0" rtlCol="0" anchor="ctr">
            <a:normAutofit/>
          </a:bodyPr>
          <a:lstStyle/>
          <a:p>
            <a:pPr algn="ctr" indent="0" marL="0">
              <a:buNone/>
            </a:pPr>
            <a:r>
              <a:rPr lang="en-US" sz="940" b="1" dirty="0">
                <a:solidFill>
                  <a:srgbClr val="2FAF7D"/>
                </a:solidFill>
                <a:latin typeface="Noto Sans" pitchFamily="34" charset="0"/>
                <a:ea typeface="Noto Sans" pitchFamily="34" charset="-122"/>
                <a:cs typeface="Noto Sans" pitchFamily="34" charset="-120"/>
              </a:rPr>
              <a:t>After 20 Oct: 1-month pilot → feedback → model / UX improvements → readiness decision</a:t>
            </a:r>
            <a:endParaRPr lang="en-US" sz="94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Team of 4 — Suggested Responsibility Split</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Roles can be combined, but ML validation and Security ownership must remain explicit.</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TEAM</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822960" y="1554480"/>
            <a:ext cx="2487168" cy="2834640"/>
          </a:xfrm>
          <a:prstGeom prst="roundRect">
            <a:avLst>
              <a:gd name="adj" fmla="val 294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987552" y="1719072"/>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8136" y="1819656"/>
            <a:ext cx="201168" cy="201168"/>
          </a:xfrm>
          <a:prstGeom prst="rect">
            <a:avLst/>
          </a:prstGeom>
        </p:spPr>
      </p:pic>
      <p:sp>
        <p:nvSpPr>
          <p:cNvPr id="10" name="Text 7"/>
          <p:cNvSpPr/>
          <p:nvPr/>
        </p:nvSpPr>
        <p:spPr>
          <a:xfrm>
            <a:off x="1481328" y="1728216"/>
            <a:ext cx="1664208"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Product / Frontend</a:t>
            </a:r>
            <a:endParaRPr lang="en-US" sz="1320" dirty="0"/>
          </a:p>
        </p:txBody>
      </p:sp>
      <p:sp>
        <p:nvSpPr>
          <p:cNvPr id="11" name="Text 8"/>
          <p:cNvSpPr/>
          <p:nvPr/>
        </p:nvSpPr>
        <p:spPr>
          <a:xfrm>
            <a:off x="1005840" y="2240280"/>
            <a:ext cx="2121408" cy="1993392"/>
          </a:xfrm>
          <a:prstGeom prst="rect">
            <a:avLst/>
          </a:prstGeom>
          <a:noFill/>
          <a:ln/>
        </p:spPr>
        <p:txBody>
          <a:bodyPr wrap="square" lIns="254" tIns="254" rIns="254" bIns="254" rtlCol="0" anchor="t">
            <a:normAutofit/>
          </a:bodyPr>
          <a:lstStyle/>
          <a:p>
            <a:pPr indent="0" marL="0">
              <a:buNone/>
            </a:pPr>
            <a:r>
              <a:rPr lang="en-US" sz="1030" dirty="0">
                <a:solidFill>
                  <a:srgbClr val="5F7180"/>
                </a:solidFill>
                <a:latin typeface="Noto Sans" pitchFamily="34" charset="0"/>
                <a:ea typeface="Noto Sans" pitchFamily="34" charset="-122"/>
                <a:cs typeface="Noto Sans" pitchFamily="34" charset="-120"/>
              </a:rPr>
              <a:t>PRD • UX flow • Streamlit / mobile UI • demo presentation</a:t>
            </a:r>
            <a:endParaRPr lang="en-US" sz="1030" dirty="0"/>
          </a:p>
        </p:txBody>
      </p:sp>
      <p:sp>
        <p:nvSpPr>
          <p:cNvPr id="12" name="Shape 9"/>
          <p:cNvSpPr/>
          <p:nvPr/>
        </p:nvSpPr>
        <p:spPr>
          <a:xfrm>
            <a:off x="3593592" y="1554480"/>
            <a:ext cx="2487168" cy="2834640"/>
          </a:xfrm>
          <a:prstGeom prst="roundRect">
            <a:avLst>
              <a:gd name="adj" fmla="val 294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3758184" y="1719072"/>
            <a:ext cx="402336" cy="402336"/>
          </a:xfrm>
          <a:prstGeom prst="ellipse">
            <a:avLst/>
          </a:prstGeom>
          <a:solidFill>
            <a:srgbClr val="F0EFFF"/>
          </a:solidFill>
          <a:ln w="12700">
            <a:solidFill>
              <a:srgbClr val="F0EFFF"/>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8768" y="1819656"/>
            <a:ext cx="201168" cy="201168"/>
          </a:xfrm>
          <a:prstGeom prst="rect">
            <a:avLst/>
          </a:prstGeom>
        </p:spPr>
      </p:pic>
      <p:sp>
        <p:nvSpPr>
          <p:cNvPr id="15" name="Text 11"/>
          <p:cNvSpPr/>
          <p:nvPr/>
        </p:nvSpPr>
        <p:spPr>
          <a:xfrm>
            <a:off x="4251960" y="1728216"/>
            <a:ext cx="1664208"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ML / Data</a:t>
            </a:r>
            <a:endParaRPr lang="en-US" sz="1320" dirty="0"/>
          </a:p>
        </p:txBody>
      </p:sp>
      <p:sp>
        <p:nvSpPr>
          <p:cNvPr id="16" name="Text 12"/>
          <p:cNvSpPr/>
          <p:nvPr/>
        </p:nvSpPr>
        <p:spPr>
          <a:xfrm>
            <a:off x="3776472" y="2240280"/>
            <a:ext cx="2121408" cy="1993392"/>
          </a:xfrm>
          <a:prstGeom prst="rect">
            <a:avLst/>
          </a:prstGeom>
          <a:noFill/>
          <a:ln/>
        </p:spPr>
        <p:txBody>
          <a:bodyPr wrap="square" lIns="254" tIns="254" rIns="254" bIns="254" rtlCol="0" anchor="t">
            <a:normAutofit/>
          </a:bodyPr>
          <a:lstStyle/>
          <a:p>
            <a:pPr indent="0" marL="0">
              <a:buNone/>
            </a:pPr>
            <a:r>
              <a:rPr lang="en-US" sz="1030" dirty="0">
                <a:solidFill>
                  <a:srgbClr val="5F7180"/>
                </a:solidFill>
                <a:latin typeface="Noto Sans" pitchFamily="34" charset="0"/>
                <a:ea typeface="Noto Sans" pitchFamily="34" charset="-122"/>
                <a:cs typeface="Noto Sans" pitchFamily="34" charset="-120"/>
              </a:rPr>
              <a:t>Dataset • preprocessing • training • evaluation • model versioning</a:t>
            </a:r>
            <a:endParaRPr lang="en-US" sz="1030" dirty="0"/>
          </a:p>
        </p:txBody>
      </p:sp>
      <p:sp>
        <p:nvSpPr>
          <p:cNvPr id="17" name="Shape 13"/>
          <p:cNvSpPr/>
          <p:nvPr/>
        </p:nvSpPr>
        <p:spPr>
          <a:xfrm>
            <a:off x="6364224" y="1554480"/>
            <a:ext cx="2487168" cy="2834640"/>
          </a:xfrm>
          <a:prstGeom prst="roundRect">
            <a:avLst>
              <a:gd name="adj" fmla="val 294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6528816" y="1719072"/>
            <a:ext cx="402336" cy="402336"/>
          </a:xfrm>
          <a:prstGeom prst="ellipse">
            <a:avLst/>
          </a:prstGeom>
          <a:solidFill>
            <a:srgbClr val="EAF2FF"/>
          </a:solidFill>
          <a:ln w="12700">
            <a:solidFill>
              <a:srgbClr val="EAF2FF"/>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29400" y="1819656"/>
            <a:ext cx="201168" cy="201168"/>
          </a:xfrm>
          <a:prstGeom prst="rect">
            <a:avLst/>
          </a:prstGeom>
        </p:spPr>
      </p:pic>
      <p:sp>
        <p:nvSpPr>
          <p:cNvPr id="20" name="Text 15"/>
          <p:cNvSpPr/>
          <p:nvPr/>
        </p:nvSpPr>
        <p:spPr>
          <a:xfrm>
            <a:off x="7022592" y="1728216"/>
            <a:ext cx="1664208"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Backend / Security</a:t>
            </a:r>
            <a:endParaRPr lang="en-US" sz="1320" dirty="0"/>
          </a:p>
        </p:txBody>
      </p:sp>
      <p:sp>
        <p:nvSpPr>
          <p:cNvPr id="21" name="Text 16"/>
          <p:cNvSpPr/>
          <p:nvPr/>
        </p:nvSpPr>
        <p:spPr>
          <a:xfrm>
            <a:off x="6547104" y="2240280"/>
            <a:ext cx="2121408" cy="1993392"/>
          </a:xfrm>
          <a:prstGeom prst="rect">
            <a:avLst/>
          </a:prstGeom>
          <a:noFill/>
          <a:ln/>
        </p:spPr>
        <p:txBody>
          <a:bodyPr wrap="square" lIns="254" tIns="254" rIns="254" bIns="254" rtlCol="0" anchor="t">
            <a:normAutofit/>
          </a:bodyPr>
          <a:lstStyle/>
          <a:p>
            <a:pPr indent="0" marL="0">
              <a:buNone/>
            </a:pPr>
            <a:r>
              <a:rPr lang="en-US" sz="1030" dirty="0">
                <a:solidFill>
                  <a:srgbClr val="5F7180"/>
                </a:solidFill>
                <a:latin typeface="Noto Sans" pitchFamily="34" charset="0"/>
                <a:ea typeface="Noto Sans" pitchFamily="34" charset="-122"/>
                <a:cs typeface="Noto Sans" pitchFamily="34" charset="-120"/>
              </a:rPr>
              <a:t>Auth • database • RBAC • storage • integrations • logging</a:t>
            </a:r>
            <a:endParaRPr lang="en-US" sz="1030" dirty="0"/>
          </a:p>
        </p:txBody>
      </p:sp>
      <p:sp>
        <p:nvSpPr>
          <p:cNvPr id="22" name="Shape 17"/>
          <p:cNvSpPr/>
          <p:nvPr/>
        </p:nvSpPr>
        <p:spPr>
          <a:xfrm>
            <a:off x="9134856" y="1554480"/>
            <a:ext cx="2487168" cy="2834640"/>
          </a:xfrm>
          <a:prstGeom prst="roundRect">
            <a:avLst>
              <a:gd name="adj" fmla="val 2941"/>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9299448" y="1719072"/>
            <a:ext cx="402336" cy="402336"/>
          </a:xfrm>
          <a:prstGeom prst="ellipse">
            <a:avLst/>
          </a:prstGeom>
          <a:solidFill>
            <a:srgbClr val="FFF6E5"/>
          </a:solidFill>
          <a:ln w="12700">
            <a:solidFill>
              <a:srgbClr val="FFF6E5"/>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00032" y="1819656"/>
            <a:ext cx="201168" cy="201168"/>
          </a:xfrm>
          <a:prstGeom prst="rect">
            <a:avLst/>
          </a:prstGeom>
        </p:spPr>
      </p:pic>
      <p:sp>
        <p:nvSpPr>
          <p:cNvPr id="25" name="Text 19"/>
          <p:cNvSpPr/>
          <p:nvPr/>
        </p:nvSpPr>
        <p:spPr>
          <a:xfrm>
            <a:off x="9793224" y="1728216"/>
            <a:ext cx="1664208" cy="310896"/>
          </a:xfrm>
          <a:prstGeom prst="rect">
            <a:avLst/>
          </a:prstGeom>
          <a:noFill/>
          <a:ln/>
        </p:spPr>
        <p:txBody>
          <a:bodyPr wrap="square" lIns="0" tIns="0" rIns="0" bIns="0" rtlCol="0" anchor="ctr">
            <a:normAutofit/>
          </a:bodyPr>
          <a:lstStyle/>
          <a:p>
            <a:pPr indent="0" marL="0">
              <a:buNone/>
            </a:pPr>
            <a:r>
              <a:rPr lang="en-US" sz="1320" b="1" dirty="0">
                <a:solidFill>
                  <a:srgbClr val="142A37"/>
                </a:solidFill>
                <a:latin typeface="Noto Sans" pitchFamily="34" charset="0"/>
                <a:ea typeface="Noto Sans" pitchFamily="34" charset="-122"/>
                <a:cs typeface="Noto Sans" pitchFamily="34" charset="-120"/>
              </a:rPr>
              <a:t>QA / Medical Research</a:t>
            </a:r>
            <a:endParaRPr lang="en-US" sz="1320" dirty="0"/>
          </a:p>
        </p:txBody>
      </p:sp>
      <p:sp>
        <p:nvSpPr>
          <p:cNvPr id="26" name="Text 20"/>
          <p:cNvSpPr/>
          <p:nvPr/>
        </p:nvSpPr>
        <p:spPr>
          <a:xfrm>
            <a:off x="9317736" y="2240280"/>
            <a:ext cx="2121408" cy="1993392"/>
          </a:xfrm>
          <a:prstGeom prst="rect">
            <a:avLst/>
          </a:prstGeom>
          <a:noFill/>
          <a:ln/>
        </p:spPr>
        <p:txBody>
          <a:bodyPr wrap="square" lIns="254" tIns="254" rIns="254" bIns="254" rtlCol="0" anchor="t">
            <a:normAutofit/>
          </a:bodyPr>
          <a:lstStyle/>
          <a:p>
            <a:pPr indent="0" marL="0">
              <a:buNone/>
            </a:pPr>
            <a:r>
              <a:rPr lang="en-US" sz="1030" dirty="0">
                <a:solidFill>
                  <a:srgbClr val="5F7180"/>
                </a:solidFill>
                <a:latin typeface="Noto Sans" pitchFamily="34" charset="0"/>
                <a:ea typeface="Noto Sans" pitchFamily="34" charset="-122"/>
                <a:cs typeface="Noto Sans" pitchFamily="34" charset="-120"/>
              </a:rPr>
              <a:t>Test cases • report content • source checks • documentation • medical reviewer coordination</a:t>
            </a:r>
            <a:endParaRPr lang="en-US" sz="1030" dirty="0"/>
          </a:p>
        </p:txBody>
      </p:sp>
      <p:sp>
        <p:nvSpPr>
          <p:cNvPr id="27" name="Shape 21"/>
          <p:cNvSpPr/>
          <p:nvPr/>
        </p:nvSpPr>
        <p:spPr>
          <a:xfrm>
            <a:off x="1188720" y="5010912"/>
            <a:ext cx="9784080" cy="0"/>
          </a:xfrm>
          <a:prstGeom prst="line">
            <a:avLst/>
          </a:prstGeom>
          <a:noFill/>
          <a:ln w="15240">
            <a:solidFill>
              <a:srgbClr val="DDE7EA"/>
            </a:solidFill>
            <a:prstDash val="solid"/>
          </a:ln>
        </p:spPr>
      </p:sp>
      <p:sp>
        <p:nvSpPr>
          <p:cNvPr id="28" name="Text 22"/>
          <p:cNvSpPr/>
          <p:nvPr/>
        </p:nvSpPr>
        <p:spPr>
          <a:xfrm>
            <a:off x="1097280" y="5266944"/>
            <a:ext cx="2926080" cy="228600"/>
          </a:xfrm>
          <a:prstGeom prst="rect">
            <a:avLst/>
          </a:prstGeom>
          <a:noFill/>
          <a:ln/>
        </p:spPr>
        <p:txBody>
          <a:bodyPr wrap="square" lIns="0" tIns="0" rIns="0" bIns="0" rtlCol="0" anchor="ctr"/>
          <a:lstStyle/>
          <a:p>
            <a:pPr indent="0" marL="0">
              <a:buNone/>
            </a:pPr>
            <a:r>
              <a:rPr lang="en-US" sz="1050" b="1" dirty="0">
                <a:solidFill>
                  <a:srgbClr val="142A37"/>
                </a:solidFill>
                <a:latin typeface="Noto Sans" pitchFamily="34" charset="0"/>
                <a:ea typeface="Noto Sans" pitchFamily="34" charset="-122"/>
                <a:cs typeface="Noto Sans" pitchFamily="34" charset="-120"/>
              </a:rPr>
              <a:t>Ownership check for every sprint:</a:t>
            </a:r>
            <a:endParaRPr lang="en-US" sz="1050" dirty="0"/>
          </a:p>
        </p:txBody>
      </p:sp>
      <p:sp>
        <p:nvSpPr>
          <p:cNvPr id="29" name="Shape 23"/>
          <p:cNvSpPr/>
          <p:nvPr/>
        </p:nvSpPr>
        <p:spPr>
          <a:xfrm>
            <a:off x="3749040" y="5212080"/>
            <a:ext cx="1554480" cy="329184"/>
          </a:xfrm>
          <a:prstGeom prst="roundRect">
            <a:avLst>
              <a:gd name="adj" fmla="val 38889"/>
            </a:avLst>
          </a:prstGeom>
          <a:solidFill>
            <a:srgbClr val="E8F8F4"/>
          </a:solidFill>
          <a:ln w="12700">
            <a:solidFill>
              <a:srgbClr val="E8F8F4"/>
            </a:solidFill>
            <a:prstDash val="solid"/>
          </a:ln>
        </p:spPr>
      </p:sp>
      <p:sp>
        <p:nvSpPr>
          <p:cNvPr id="30" name="Text 24"/>
          <p:cNvSpPr/>
          <p:nvPr/>
        </p:nvSpPr>
        <p:spPr>
          <a:xfrm>
            <a:off x="3822192" y="5285232"/>
            <a:ext cx="140817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Feature owner</a:t>
            </a:r>
            <a:endParaRPr lang="en-US" sz="870" dirty="0"/>
          </a:p>
        </p:txBody>
      </p:sp>
      <p:sp>
        <p:nvSpPr>
          <p:cNvPr id="31" name="Shape 25"/>
          <p:cNvSpPr/>
          <p:nvPr/>
        </p:nvSpPr>
        <p:spPr>
          <a:xfrm>
            <a:off x="5440680" y="5212080"/>
            <a:ext cx="1554480" cy="329184"/>
          </a:xfrm>
          <a:prstGeom prst="roundRect">
            <a:avLst>
              <a:gd name="adj" fmla="val 38889"/>
            </a:avLst>
          </a:prstGeom>
          <a:solidFill>
            <a:srgbClr val="EAF2FF"/>
          </a:solidFill>
          <a:ln w="12700">
            <a:solidFill>
              <a:srgbClr val="EAF2FF"/>
            </a:solidFill>
            <a:prstDash val="solid"/>
          </a:ln>
        </p:spPr>
      </p:sp>
      <p:sp>
        <p:nvSpPr>
          <p:cNvPr id="32" name="Text 26"/>
          <p:cNvSpPr/>
          <p:nvPr/>
        </p:nvSpPr>
        <p:spPr>
          <a:xfrm>
            <a:off x="5513832" y="5285232"/>
            <a:ext cx="140817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Reviewer</a:t>
            </a:r>
            <a:endParaRPr lang="en-US" sz="870" dirty="0"/>
          </a:p>
        </p:txBody>
      </p:sp>
      <p:sp>
        <p:nvSpPr>
          <p:cNvPr id="33" name="Shape 27"/>
          <p:cNvSpPr/>
          <p:nvPr/>
        </p:nvSpPr>
        <p:spPr>
          <a:xfrm>
            <a:off x="7132320" y="5212080"/>
            <a:ext cx="1554480" cy="329184"/>
          </a:xfrm>
          <a:prstGeom prst="roundRect">
            <a:avLst>
              <a:gd name="adj" fmla="val 38889"/>
            </a:avLst>
          </a:prstGeom>
          <a:solidFill>
            <a:srgbClr val="F0EFFF"/>
          </a:solidFill>
          <a:ln w="12700">
            <a:solidFill>
              <a:srgbClr val="F0EFFF"/>
            </a:solidFill>
            <a:prstDash val="solid"/>
          </a:ln>
        </p:spPr>
      </p:sp>
      <p:sp>
        <p:nvSpPr>
          <p:cNvPr id="34" name="Text 28"/>
          <p:cNvSpPr/>
          <p:nvPr/>
        </p:nvSpPr>
        <p:spPr>
          <a:xfrm>
            <a:off x="7205472" y="5285232"/>
            <a:ext cx="1408176" cy="146304"/>
          </a:xfrm>
          <a:prstGeom prst="rect">
            <a:avLst/>
          </a:prstGeom>
          <a:noFill/>
          <a:ln/>
        </p:spPr>
        <p:txBody>
          <a:bodyPr wrap="square" lIns="0" tIns="0" rIns="0" bIns="0" rtlCol="0" anchor="ctr">
            <a:normAutofit/>
          </a:bodyPr>
          <a:lstStyle/>
          <a:p>
            <a:pPr algn="ctr" indent="0" marL="0">
              <a:buNone/>
            </a:pPr>
            <a:r>
              <a:rPr lang="en-US" sz="870" b="1" dirty="0">
                <a:solidFill>
                  <a:srgbClr val="6C63FF"/>
                </a:solidFill>
                <a:latin typeface="Noto Sans" pitchFamily="34" charset="0"/>
                <a:ea typeface="Noto Sans" pitchFamily="34" charset="-122"/>
                <a:cs typeface="Noto Sans" pitchFamily="34" charset="-120"/>
              </a:rPr>
              <a:t>Acceptance</a:t>
            </a:r>
            <a:endParaRPr lang="en-US" sz="870" dirty="0"/>
          </a:p>
        </p:txBody>
      </p:sp>
      <p:sp>
        <p:nvSpPr>
          <p:cNvPr id="35" name="Shape 29"/>
          <p:cNvSpPr/>
          <p:nvPr/>
        </p:nvSpPr>
        <p:spPr>
          <a:xfrm>
            <a:off x="8823960" y="5212080"/>
            <a:ext cx="1554480" cy="329184"/>
          </a:xfrm>
          <a:prstGeom prst="roundRect">
            <a:avLst>
              <a:gd name="adj" fmla="val 38889"/>
            </a:avLst>
          </a:prstGeom>
          <a:solidFill>
            <a:srgbClr val="FFF6E5"/>
          </a:solidFill>
          <a:ln w="12700">
            <a:solidFill>
              <a:srgbClr val="FFF6E5"/>
            </a:solidFill>
            <a:prstDash val="solid"/>
          </a:ln>
        </p:spPr>
      </p:sp>
      <p:sp>
        <p:nvSpPr>
          <p:cNvPr id="36" name="Text 30"/>
          <p:cNvSpPr/>
          <p:nvPr/>
        </p:nvSpPr>
        <p:spPr>
          <a:xfrm>
            <a:off x="8897112" y="5285232"/>
            <a:ext cx="140817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Risk owner</a:t>
            </a:r>
            <a:endParaRPr lang="en-US" sz="87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Risk Register &amp; Mitigation</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PRD identifies wrong ML results, missing clinical review and sensitive data as the highest-severity risks.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RISKS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94360" y="1371600"/>
            <a:ext cx="11018520" cy="457200"/>
          </a:xfrm>
          <a:prstGeom prst="roundRect">
            <a:avLst>
              <a:gd name="adj" fmla="val 10000"/>
            </a:avLst>
          </a:prstGeom>
          <a:solidFill>
            <a:srgbClr val="FFFFFF"/>
          </a:solidFill>
          <a:ln w="8890">
            <a:solidFill>
              <a:srgbClr val="DDE7EA"/>
            </a:solidFill>
            <a:prstDash val="solid"/>
          </a:ln>
        </p:spPr>
      </p:sp>
      <p:sp>
        <p:nvSpPr>
          <p:cNvPr id="8" name="Text 6"/>
          <p:cNvSpPr/>
          <p:nvPr/>
        </p:nvSpPr>
        <p:spPr>
          <a:xfrm>
            <a:off x="822960" y="1490472"/>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Wrong ML results</a:t>
            </a:r>
            <a:endParaRPr lang="en-US" sz="960" dirty="0"/>
          </a:p>
        </p:txBody>
      </p:sp>
      <p:sp>
        <p:nvSpPr>
          <p:cNvPr id="9" name="Shape 7"/>
          <p:cNvSpPr/>
          <p:nvPr/>
        </p:nvSpPr>
        <p:spPr>
          <a:xfrm>
            <a:off x="3703320" y="1435608"/>
            <a:ext cx="1051560" cy="329184"/>
          </a:xfrm>
          <a:prstGeom prst="roundRect">
            <a:avLst>
              <a:gd name="adj" fmla="val 38889"/>
            </a:avLst>
          </a:prstGeom>
          <a:solidFill>
            <a:srgbClr val="FDECEF"/>
          </a:solidFill>
          <a:ln w="12700">
            <a:solidFill>
              <a:srgbClr val="FDECEF"/>
            </a:solidFill>
            <a:prstDash val="solid"/>
          </a:ln>
        </p:spPr>
      </p:sp>
      <p:sp>
        <p:nvSpPr>
          <p:cNvPr id="10" name="Text 8"/>
          <p:cNvSpPr/>
          <p:nvPr/>
        </p:nvSpPr>
        <p:spPr>
          <a:xfrm>
            <a:off x="3776472" y="1508760"/>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11" name="Text 9"/>
          <p:cNvSpPr/>
          <p:nvPr/>
        </p:nvSpPr>
        <p:spPr>
          <a:xfrm>
            <a:off x="4983480" y="1472184"/>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Doctor review • validation metrics • independent test set • conservative thresholds • no autonomous diagnosis</a:t>
            </a:r>
            <a:endParaRPr lang="en-US" sz="880" dirty="0"/>
          </a:p>
        </p:txBody>
      </p:sp>
      <p:sp>
        <p:nvSpPr>
          <p:cNvPr id="12" name="Shape 10"/>
          <p:cNvSpPr/>
          <p:nvPr/>
        </p:nvSpPr>
        <p:spPr>
          <a:xfrm>
            <a:off x="594360" y="1929384"/>
            <a:ext cx="11018520" cy="457200"/>
          </a:xfrm>
          <a:prstGeom prst="roundRect">
            <a:avLst>
              <a:gd name="adj" fmla="val 10000"/>
            </a:avLst>
          </a:prstGeom>
          <a:solidFill>
            <a:srgbClr val="F3F8F9"/>
          </a:solidFill>
          <a:ln w="8890">
            <a:solidFill>
              <a:srgbClr val="DDE7EA"/>
            </a:solidFill>
            <a:prstDash val="solid"/>
          </a:ln>
        </p:spPr>
      </p:sp>
      <p:sp>
        <p:nvSpPr>
          <p:cNvPr id="13" name="Text 11"/>
          <p:cNvSpPr/>
          <p:nvPr/>
        </p:nvSpPr>
        <p:spPr>
          <a:xfrm>
            <a:off x="822960" y="2048256"/>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No medical reviewer yet</a:t>
            </a:r>
            <a:endParaRPr lang="en-US" sz="960" dirty="0"/>
          </a:p>
        </p:txBody>
      </p:sp>
      <p:sp>
        <p:nvSpPr>
          <p:cNvPr id="14" name="Shape 12"/>
          <p:cNvSpPr/>
          <p:nvPr/>
        </p:nvSpPr>
        <p:spPr>
          <a:xfrm>
            <a:off x="3703320" y="1993392"/>
            <a:ext cx="1051560" cy="329184"/>
          </a:xfrm>
          <a:prstGeom prst="roundRect">
            <a:avLst>
              <a:gd name="adj" fmla="val 38889"/>
            </a:avLst>
          </a:prstGeom>
          <a:solidFill>
            <a:srgbClr val="FDECEF"/>
          </a:solidFill>
          <a:ln w="12700">
            <a:solidFill>
              <a:srgbClr val="FDECEF"/>
            </a:solidFill>
            <a:prstDash val="solid"/>
          </a:ln>
        </p:spPr>
      </p:sp>
      <p:sp>
        <p:nvSpPr>
          <p:cNvPr id="15" name="Text 13"/>
          <p:cNvSpPr/>
          <p:nvPr/>
        </p:nvSpPr>
        <p:spPr>
          <a:xfrm>
            <a:off x="3776472" y="2066544"/>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16" name="Text 14"/>
          <p:cNvSpPr/>
          <p:nvPr/>
        </p:nvSpPr>
        <p:spPr>
          <a:xfrm>
            <a:off x="4983480" y="2029968"/>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Add clinician reviewer before any real patient pilot</a:t>
            </a:r>
            <a:endParaRPr lang="en-US" sz="880" dirty="0"/>
          </a:p>
        </p:txBody>
      </p:sp>
      <p:sp>
        <p:nvSpPr>
          <p:cNvPr id="17" name="Shape 15"/>
          <p:cNvSpPr/>
          <p:nvPr/>
        </p:nvSpPr>
        <p:spPr>
          <a:xfrm>
            <a:off x="594360" y="2487168"/>
            <a:ext cx="11018520" cy="457200"/>
          </a:xfrm>
          <a:prstGeom prst="roundRect">
            <a:avLst>
              <a:gd name="adj" fmla="val 10000"/>
            </a:avLst>
          </a:prstGeom>
          <a:solidFill>
            <a:srgbClr val="FFFFFF"/>
          </a:solidFill>
          <a:ln w="8890">
            <a:solidFill>
              <a:srgbClr val="DDE7EA"/>
            </a:solidFill>
            <a:prstDash val="solid"/>
          </a:ln>
        </p:spPr>
      </p:sp>
      <p:sp>
        <p:nvSpPr>
          <p:cNvPr id="18" name="Text 16"/>
          <p:cNvSpPr/>
          <p:nvPr/>
        </p:nvSpPr>
        <p:spPr>
          <a:xfrm>
            <a:off x="822960" y="2606040"/>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Real sensitive data</a:t>
            </a:r>
            <a:endParaRPr lang="en-US" sz="960" dirty="0"/>
          </a:p>
        </p:txBody>
      </p:sp>
      <p:sp>
        <p:nvSpPr>
          <p:cNvPr id="19" name="Shape 17"/>
          <p:cNvSpPr/>
          <p:nvPr/>
        </p:nvSpPr>
        <p:spPr>
          <a:xfrm>
            <a:off x="3703320" y="2551176"/>
            <a:ext cx="1051560" cy="329184"/>
          </a:xfrm>
          <a:prstGeom prst="roundRect">
            <a:avLst>
              <a:gd name="adj" fmla="val 38889"/>
            </a:avLst>
          </a:prstGeom>
          <a:solidFill>
            <a:srgbClr val="FDECEF"/>
          </a:solidFill>
          <a:ln w="12700">
            <a:solidFill>
              <a:srgbClr val="FDECEF"/>
            </a:solidFill>
            <a:prstDash val="solid"/>
          </a:ln>
        </p:spPr>
      </p:sp>
      <p:sp>
        <p:nvSpPr>
          <p:cNvPr id="20" name="Text 18"/>
          <p:cNvSpPr/>
          <p:nvPr/>
        </p:nvSpPr>
        <p:spPr>
          <a:xfrm>
            <a:off x="3776472" y="2624328"/>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CRITICAL</a:t>
            </a:r>
            <a:endParaRPr lang="en-US" sz="870" dirty="0"/>
          </a:p>
        </p:txBody>
      </p:sp>
      <p:sp>
        <p:nvSpPr>
          <p:cNvPr id="21" name="Text 19"/>
          <p:cNvSpPr/>
          <p:nvPr/>
        </p:nvSpPr>
        <p:spPr>
          <a:xfrm>
            <a:off x="4983480" y="2587752"/>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Consent + protection; prefer de-identified / test data for demo</a:t>
            </a:r>
            <a:endParaRPr lang="en-US" sz="880" dirty="0"/>
          </a:p>
        </p:txBody>
      </p:sp>
      <p:sp>
        <p:nvSpPr>
          <p:cNvPr id="22" name="Shape 20"/>
          <p:cNvSpPr/>
          <p:nvPr/>
        </p:nvSpPr>
        <p:spPr>
          <a:xfrm>
            <a:off x="594360" y="3044952"/>
            <a:ext cx="11018520" cy="457200"/>
          </a:xfrm>
          <a:prstGeom prst="roundRect">
            <a:avLst>
              <a:gd name="adj" fmla="val 10000"/>
            </a:avLst>
          </a:prstGeom>
          <a:solidFill>
            <a:srgbClr val="F3F8F9"/>
          </a:solidFill>
          <a:ln w="8890">
            <a:solidFill>
              <a:srgbClr val="DDE7EA"/>
            </a:solidFill>
            <a:prstDash val="solid"/>
          </a:ln>
        </p:spPr>
      </p:sp>
      <p:sp>
        <p:nvSpPr>
          <p:cNvPr id="23" name="Text 21"/>
          <p:cNvSpPr/>
          <p:nvPr/>
        </p:nvSpPr>
        <p:spPr>
          <a:xfrm>
            <a:off x="822960" y="3163824"/>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Scope vs time / budget</a:t>
            </a:r>
            <a:endParaRPr lang="en-US" sz="960" dirty="0"/>
          </a:p>
        </p:txBody>
      </p:sp>
      <p:sp>
        <p:nvSpPr>
          <p:cNvPr id="24" name="Shape 22"/>
          <p:cNvSpPr/>
          <p:nvPr/>
        </p:nvSpPr>
        <p:spPr>
          <a:xfrm>
            <a:off x="3703320" y="3108960"/>
            <a:ext cx="1051560" cy="329184"/>
          </a:xfrm>
          <a:prstGeom prst="roundRect">
            <a:avLst>
              <a:gd name="adj" fmla="val 38889"/>
            </a:avLst>
          </a:prstGeom>
          <a:solidFill>
            <a:srgbClr val="FFF6E5"/>
          </a:solidFill>
          <a:ln w="12700">
            <a:solidFill>
              <a:srgbClr val="FFF6E5"/>
            </a:solidFill>
            <a:prstDash val="solid"/>
          </a:ln>
        </p:spPr>
      </p:sp>
      <p:sp>
        <p:nvSpPr>
          <p:cNvPr id="25" name="Text 23"/>
          <p:cNvSpPr/>
          <p:nvPr/>
        </p:nvSpPr>
        <p:spPr>
          <a:xfrm>
            <a:off x="3776472" y="3182112"/>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26" name="Text 24"/>
          <p:cNvSpPr/>
          <p:nvPr/>
        </p:nvSpPr>
        <p:spPr>
          <a:xfrm>
            <a:off x="4983480" y="3145536"/>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One module in MVP; rest on roadmap</a:t>
            </a:r>
            <a:endParaRPr lang="en-US" sz="880" dirty="0"/>
          </a:p>
        </p:txBody>
      </p:sp>
      <p:sp>
        <p:nvSpPr>
          <p:cNvPr id="27" name="Shape 25"/>
          <p:cNvSpPr/>
          <p:nvPr/>
        </p:nvSpPr>
        <p:spPr>
          <a:xfrm>
            <a:off x="594360" y="3602736"/>
            <a:ext cx="11018520" cy="457200"/>
          </a:xfrm>
          <a:prstGeom prst="roundRect">
            <a:avLst>
              <a:gd name="adj" fmla="val 10000"/>
            </a:avLst>
          </a:prstGeom>
          <a:solidFill>
            <a:srgbClr val="FFFFFF"/>
          </a:solidFill>
          <a:ln w="8890">
            <a:solidFill>
              <a:srgbClr val="DDE7EA"/>
            </a:solidFill>
            <a:prstDash val="solid"/>
          </a:ln>
        </p:spPr>
      </p:sp>
      <p:sp>
        <p:nvSpPr>
          <p:cNvPr id="28" name="Text 26"/>
          <p:cNvSpPr/>
          <p:nvPr/>
        </p:nvSpPr>
        <p:spPr>
          <a:xfrm>
            <a:off x="822960" y="3721608"/>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Broad Admin access</a:t>
            </a:r>
            <a:endParaRPr lang="en-US" sz="960" dirty="0"/>
          </a:p>
        </p:txBody>
      </p:sp>
      <p:sp>
        <p:nvSpPr>
          <p:cNvPr id="29" name="Shape 27"/>
          <p:cNvSpPr/>
          <p:nvPr/>
        </p:nvSpPr>
        <p:spPr>
          <a:xfrm>
            <a:off x="3703320" y="3666744"/>
            <a:ext cx="1051560" cy="329184"/>
          </a:xfrm>
          <a:prstGeom prst="roundRect">
            <a:avLst>
              <a:gd name="adj" fmla="val 38889"/>
            </a:avLst>
          </a:prstGeom>
          <a:solidFill>
            <a:srgbClr val="FFF6E5"/>
          </a:solidFill>
          <a:ln w="12700">
            <a:solidFill>
              <a:srgbClr val="FFF6E5"/>
            </a:solidFill>
            <a:prstDash val="solid"/>
          </a:ln>
        </p:spPr>
      </p:sp>
      <p:sp>
        <p:nvSpPr>
          <p:cNvPr id="30" name="Text 28"/>
          <p:cNvSpPr/>
          <p:nvPr/>
        </p:nvSpPr>
        <p:spPr>
          <a:xfrm>
            <a:off x="3776472" y="3739896"/>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31" name="Text 29"/>
          <p:cNvSpPr/>
          <p:nvPr/>
        </p:nvSpPr>
        <p:spPr>
          <a:xfrm>
            <a:off x="4983480" y="3703320"/>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Least privilege + sub-roles + audit log</a:t>
            </a:r>
            <a:endParaRPr lang="en-US" sz="880" dirty="0"/>
          </a:p>
        </p:txBody>
      </p:sp>
      <p:sp>
        <p:nvSpPr>
          <p:cNvPr id="32" name="Shape 30"/>
          <p:cNvSpPr/>
          <p:nvPr/>
        </p:nvSpPr>
        <p:spPr>
          <a:xfrm>
            <a:off x="594360" y="4160520"/>
            <a:ext cx="11018520" cy="457200"/>
          </a:xfrm>
          <a:prstGeom prst="roundRect">
            <a:avLst>
              <a:gd name="adj" fmla="val 10000"/>
            </a:avLst>
          </a:prstGeom>
          <a:solidFill>
            <a:srgbClr val="F3F8F9"/>
          </a:solidFill>
          <a:ln w="8890">
            <a:solidFill>
              <a:srgbClr val="DDE7EA"/>
            </a:solidFill>
            <a:prstDash val="solid"/>
          </a:ln>
        </p:spPr>
      </p:sp>
      <p:sp>
        <p:nvSpPr>
          <p:cNvPr id="33" name="Text 31"/>
          <p:cNvSpPr/>
          <p:nvPr/>
        </p:nvSpPr>
        <p:spPr>
          <a:xfrm>
            <a:off x="822960" y="4279392"/>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Kaggle data quality / licensing</a:t>
            </a:r>
            <a:endParaRPr lang="en-US" sz="960" dirty="0"/>
          </a:p>
        </p:txBody>
      </p:sp>
      <p:sp>
        <p:nvSpPr>
          <p:cNvPr id="34" name="Shape 32"/>
          <p:cNvSpPr/>
          <p:nvPr/>
        </p:nvSpPr>
        <p:spPr>
          <a:xfrm>
            <a:off x="3703320" y="4224528"/>
            <a:ext cx="1051560" cy="329184"/>
          </a:xfrm>
          <a:prstGeom prst="roundRect">
            <a:avLst>
              <a:gd name="adj" fmla="val 38889"/>
            </a:avLst>
          </a:prstGeom>
          <a:solidFill>
            <a:srgbClr val="FFF6E5"/>
          </a:solidFill>
          <a:ln w="12700">
            <a:solidFill>
              <a:srgbClr val="FFF6E5"/>
            </a:solidFill>
            <a:prstDash val="solid"/>
          </a:ln>
        </p:spPr>
      </p:sp>
      <p:sp>
        <p:nvSpPr>
          <p:cNvPr id="35" name="Text 33"/>
          <p:cNvSpPr/>
          <p:nvPr/>
        </p:nvSpPr>
        <p:spPr>
          <a:xfrm>
            <a:off x="3776472" y="4297680"/>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HIGH</a:t>
            </a:r>
            <a:endParaRPr lang="en-US" sz="870" dirty="0"/>
          </a:p>
        </p:txBody>
      </p:sp>
      <p:sp>
        <p:nvSpPr>
          <p:cNvPr id="36" name="Text 34"/>
          <p:cNvSpPr/>
          <p:nvPr/>
        </p:nvSpPr>
        <p:spPr>
          <a:xfrm>
            <a:off x="4983480" y="4261104"/>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Document source / license • bias checks • data quality review</a:t>
            </a:r>
            <a:endParaRPr lang="en-US" sz="880" dirty="0"/>
          </a:p>
        </p:txBody>
      </p:sp>
      <p:sp>
        <p:nvSpPr>
          <p:cNvPr id="37" name="Shape 35"/>
          <p:cNvSpPr/>
          <p:nvPr/>
        </p:nvSpPr>
        <p:spPr>
          <a:xfrm>
            <a:off x="594360" y="4718304"/>
            <a:ext cx="11018520" cy="457200"/>
          </a:xfrm>
          <a:prstGeom prst="roundRect">
            <a:avLst>
              <a:gd name="adj" fmla="val 10000"/>
            </a:avLst>
          </a:prstGeom>
          <a:solidFill>
            <a:srgbClr val="FFFFFF"/>
          </a:solidFill>
          <a:ln w="8890">
            <a:solidFill>
              <a:srgbClr val="DDE7EA"/>
            </a:solidFill>
            <a:prstDash val="solid"/>
          </a:ln>
        </p:spPr>
      </p:sp>
      <p:sp>
        <p:nvSpPr>
          <p:cNvPr id="38" name="Text 36"/>
          <p:cNvSpPr/>
          <p:nvPr/>
        </p:nvSpPr>
        <p:spPr>
          <a:xfrm>
            <a:off x="822960" y="4837176"/>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International expansion</a:t>
            </a:r>
            <a:endParaRPr lang="en-US" sz="960" dirty="0"/>
          </a:p>
        </p:txBody>
      </p:sp>
      <p:sp>
        <p:nvSpPr>
          <p:cNvPr id="39" name="Shape 37"/>
          <p:cNvSpPr/>
          <p:nvPr/>
        </p:nvSpPr>
        <p:spPr>
          <a:xfrm>
            <a:off x="3703320" y="4782312"/>
            <a:ext cx="1051560" cy="329184"/>
          </a:xfrm>
          <a:prstGeom prst="roundRect">
            <a:avLst>
              <a:gd name="adj" fmla="val 38889"/>
            </a:avLst>
          </a:prstGeom>
          <a:solidFill>
            <a:srgbClr val="EAF2FF"/>
          </a:solidFill>
          <a:ln w="12700">
            <a:solidFill>
              <a:srgbClr val="EAF2FF"/>
            </a:solidFill>
            <a:prstDash val="solid"/>
          </a:ln>
        </p:spPr>
      </p:sp>
      <p:sp>
        <p:nvSpPr>
          <p:cNvPr id="40" name="Text 38"/>
          <p:cNvSpPr/>
          <p:nvPr/>
        </p:nvSpPr>
        <p:spPr>
          <a:xfrm>
            <a:off x="3776472" y="4855464"/>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MEDIUM</a:t>
            </a:r>
            <a:endParaRPr lang="en-US" sz="870" dirty="0"/>
          </a:p>
        </p:txBody>
      </p:sp>
      <p:sp>
        <p:nvSpPr>
          <p:cNvPr id="41" name="Text 39"/>
          <p:cNvSpPr/>
          <p:nvPr/>
        </p:nvSpPr>
        <p:spPr>
          <a:xfrm>
            <a:off x="4983480" y="4818888"/>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Defer localization / compliance per country</a:t>
            </a:r>
            <a:endParaRPr lang="en-US" sz="880" dirty="0"/>
          </a:p>
        </p:txBody>
      </p:sp>
      <p:sp>
        <p:nvSpPr>
          <p:cNvPr id="42" name="Shape 40"/>
          <p:cNvSpPr/>
          <p:nvPr/>
        </p:nvSpPr>
        <p:spPr>
          <a:xfrm>
            <a:off x="594360" y="5276088"/>
            <a:ext cx="11018520" cy="457200"/>
          </a:xfrm>
          <a:prstGeom prst="roundRect">
            <a:avLst>
              <a:gd name="adj" fmla="val 10000"/>
            </a:avLst>
          </a:prstGeom>
          <a:solidFill>
            <a:srgbClr val="F3F8F9"/>
          </a:solidFill>
          <a:ln w="8890">
            <a:solidFill>
              <a:srgbClr val="DDE7EA"/>
            </a:solidFill>
            <a:prstDash val="solid"/>
          </a:ln>
        </p:spPr>
      </p:sp>
      <p:sp>
        <p:nvSpPr>
          <p:cNvPr id="43" name="Text 41"/>
          <p:cNvSpPr/>
          <p:nvPr/>
        </p:nvSpPr>
        <p:spPr>
          <a:xfrm>
            <a:off x="822960" y="5394960"/>
            <a:ext cx="2880360" cy="182880"/>
          </a:xfrm>
          <a:prstGeom prst="rect">
            <a:avLst/>
          </a:prstGeom>
          <a:noFill/>
          <a:ln/>
        </p:spPr>
        <p:txBody>
          <a:bodyPr wrap="square" lIns="0" tIns="0" rIns="0" bIns="0" rtlCol="0" anchor="ctr">
            <a:normAutofit/>
          </a:bodyPr>
          <a:lstStyle/>
          <a:p>
            <a:pPr indent="0" marL="0">
              <a:buNone/>
            </a:pPr>
            <a:r>
              <a:rPr lang="en-US" sz="960" b="1" dirty="0">
                <a:solidFill>
                  <a:srgbClr val="142A37"/>
                </a:solidFill>
                <a:latin typeface="Noto Sans" pitchFamily="34" charset="0"/>
                <a:ea typeface="Noto Sans" pitchFamily="34" charset="-122"/>
                <a:cs typeface="Noto Sans" pitchFamily="34" charset="-120"/>
              </a:rPr>
              <a:t>Free API dependency</a:t>
            </a:r>
            <a:endParaRPr lang="en-US" sz="960" dirty="0"/>
          </a:p>
        </p:txBody>
      </p:sp>
      <p:sp>
        <p:nvSpPr>
          <p:cNvPr id="44" name="Shape 42"/>
          <p:cNvSpPr/>
          <p:nvPr/>
        </p:nvSpPr>
        <p:spPr>
          <a:xfrm>
            <a:off x="3703320" y="5340096"/>
            <a:ext cx="1051560" cy="329184"/>
          </a:xfrm>
          <a:prstGeom prst="roundRect">
            <a:avLst>
              <a:gd name="adj" fmla="val 38889"/>
            </a:avLst>
          </a:prstGeom>
          <a:solidFill>
            <a:srgbClr val="EAF2FF"/>
          </a:solidFill>
          <a:ln w="12700">
            <a:solidFill>
              <a:srgbClr val="EAF2FF"/>
            </a:solidFill>
            <a:prstDash val="solid"/>
          </a:ln>
        </p:spPr>
      </p:sp>
      <p:sp>
        <p:nvSpPr>
          <p:cNvPr id="45" name="Text 43"/>
          <p:cNvSpPr/>
          <p:nvPr/>
        </p:nvSpPr>
        <p:spPr>
          <a:xfrm>
            <a:off x="3776472" y="5413248"/>
            <a:ext cx="90525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MEDIUM</a:t>
            </a:r>
            <a:endParaRPr lang="en-US" sz="870" dirty="0"/>
          </a:p>
        </p:txBody>
      </p:sp>
      <p:sp>
        <p:nvSpPr>
          <p:cNvPr id="46" name="Text 44"/>
          <p:cNvSpPr/>
          <p:nvPr/>
        </p:nvSpPr>
        <p:spPr>
          <a:xfrm>
            <a:off x="4983480" y="5376672"/>
            <a:ext cx="6355080" cy="228600"/>
          </a:xfrm>
          <a:prstGeom prst="rect">
            <a:avLst/>
          </a:prstGeom>
          <a:noFill/>
          <a:ln/>
        </p:spPr>
        <p:txBody>
          <a:bodyPr wrap="square" lIns="0" tIns="0" rIns="0" bIns="0" rtlCol="0" anchor="ctr">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Abstraction layer + limits monitoring + fallback plan</a:t>
            </a:r>
            <a:endParaRPr lang="en-US" sz="88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Acceptance Criteria &amp; Test Strategy</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A feature is “done” only when the user flow, permissions, model behavior and report outputs are verifiably correct.</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QA</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53312"/>
            <a:ext cx="5349240" cy="896112"/>
          </a:xfrm>
          <a:prstGeom prst="roundRect">
            <a:avLst>
              <a:gd name="adj" fmla="val 8163"/>
            </a:avLst>
          </a:prstGeom>
          <a:solidFill>
            <a:srgbClr val="FFFFFF"/>
          </a:solidFill>
          <a:ln w="13970">
            <a:solidFill>
              <a:srgbClr val="DDE7EA"/>
            </a:solidFill>
            <a:prstDash val="solid"/>
          </a:ln>
        </p:spPr>
      </p:sp>
      <p:sp>
        <p:nvSpPr>
          <p:cNvPr id="8" name="Shape 6"/>
          <p:cNvSpPr/>
          <p:nvPr/>
        </p:nvSpPr>
        <p:spPr>
          <a:xfrm>
            <a:off x="667512" y="1517904"/>
            <a:ext cx="402336" cy="402336"/>
          </a:xfrm>
          <a:prstGeom prst="ellipse">
            <a:avLst/>
          </a:prstGeom>
          <a:solidFill>
            <a:srgbClr val="EAF8F2"/>
          </a:solidFill>
          <a:ln w="12700">
            <a:solidFill>
              <a:srgbClr val="EAF8F2"/>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1618488"/>
            <a:ext cx="201168" cy="201168"/>
          </a:xfrm>
          <a:prstGeom prst="rect">
            <a:avLst/>
          </a:prstGeom>
        </p:spPr>
      </p:pic>
      <p:sp>
        <p:nvSpPr>
          <p:cNvPr id="10" name="Text 7"/>
          <p:cNvSpPr/>
          <p:nvPr/>
        </p:nvSpPr>
        <p:spPr>
          <a:xfrm>
            <a:off x="1161288" y="152704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Login</a:t>
            </a:r>
            <a:endParaRPr lang="en-US" sz="1090" dirty="0"/>
          </a:p>
        </p:txBody>
      </p:sp>
      <p:sp>
        <p:nvSpPr>
          <p:cNvPr id="11" name="Text 8"/>
          <p:cNvSpPr/>
          <p:nvPr/>
        </p:nvSpPr>
        <p:spPr>
          <a:xfrm>
            <a:off x="685800" y="203911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Each role reaches the correct dashboard and cannot access unauthorized areas</a:t>
            </a:r>
            <a:endParaRPr lang="en-US" sz="880" dirty="0"/>
          </a:p>
        </p:txBody>
      </p:sp>
      <p:sp>
        <p:nvSpPr>
          <p:cNvPr id="12" name="Shape 9"/>
          <p:cNvSpPr/>
          <p:nvPr/>
        </p:nvSpPr>
        <p:spPr>
          <a:xfrm>
            <a:off x="6126480" y="1353312"/>
            <a:ext cx="5349240" cy="896112"/>
          </a:xfrm>
          <a:prstGeom prst="roundRect">
            <a:avLst>
              <a:gd name="adj" fmla="val 8163"/>
            </a:avLst>
          </a:prstGeom>
          <a:solidFill>
            <a:srgbClr val="FFFFFF"/>
          </a:solidFill>
          <a:ln w="13970">
            <a:solidFill>
              <a:srgbClr val="DDE7EA"/>
            </a:solidFill>
            <a:prstDash val="solid"/>
          </a:ln>
        </p:spPr>
      </p:sp>
      <p:sp>
        <p:nvSpPr>
          <p:cNvPr id="13" name="Shape 10"/>
          <p:cNvSpPr/>
          <p:nvPr/>
        </p:nvSpPr>
        <p:spPr>
          <a:xfrm>
            <a:off x="6291072" y="1517904"/>
            <a:ext cx="402336" cy="402336"/>
          </a:xfrm>
          <a:prstGeom prst="ellipse">
            <a:avLst/>
          </a:prstGeom>
          <a:solidFill>
            <a:srgbClr val="EAF8F2"/>
          </a:solidFill>
          <a:ln w="12700">
            <a:solidFill>
              <a:srgbClr val="EAF8F2"/>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1656" y="1618488"/>
            <a:ext cx="201168" cy="201168"/>
          </a:xfrm>
          <a:prstGeom prst="rect">
            <a:avLst/>
          </a:prstGeom>
        </p:spPr>
      </p:pic>
      <p:sp>
        <p:nvSpPr>
          <p:cNvPr id="15" name="Text 11"/>
          <p:cNvSpPr/>
          <p:nvPr/>
        </p:nvSpPr>
        <p:spPr>
          <a:xfrm>
            <a:off x="6784848" y="152704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Patient Profile</a:t>
            </a:r>
            <a:endParaRPr lang="en-US" sz="1090" dirty="0"/>
          </a:p>
        </p:txBody>
      </p:sp>
      <p:sp>
        <p:nvSpPr>
          <p:cNvPr id="16" name="Text 12"/>
          <p:cNvSpPr/>
          <p:nvPr/>
        </p:nvSpPr>
        <p:spPr>
          <a:xfrm>
            <a:off x="6309360" y="203911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Required data saves and reloads correctly</a:t>
            </a:r>
            <a:endParaRPr lang="en-US" sz="880" dirty="0"/>
          </a:p>
        </p:txBody>
      </p:sp>
      <p:sp>
        <p:nvSpPr>
          <p:cNvPr id="17" name="Shape 13"/>
          <p:cNvSpPr/>
          <p:nvPr/>
        </p:nvSpPr>
        <p:spPr>
          <a:xfrm>
            <a:off x="502920" y="2450592"/>
            <a:ext cx="5349240" cy="896112"/>
          </a:xfrm>
          <a:prstGeom prst="roundRect">
            <a:avLst>
              <a:gd name="adj" fmla="val 8163"/>
            </a:avLst>
          </a:prstGeom>
          <a:solidFill>
            <a:srgbClr val="FFFFFF"/>
          </a:solidFill>
          <a:ln w="13970">
            <a:solidFill>
              <a:srgbClr val="DDE7EA"/>
            </a:solidFill>
            <a:prstDash val="solid"/>
          </a:ln>
        </p:spPr>
      </p:sp>
      <p:sp>
        <p:nvSpPr>
          <p:cNvPr id="18" name="Shape 14"/>
          <p:cNvSpPr/>
          <p:nvPr/>
        </p:nvSpPr>
        <p:spPr>
          <a:xfrm>
            <a:off x="667512" y="2615184"/>
            <a:ext cx="402336" cy="402336"/>
          </a:xfrm>
          <a:prstGeom prst="ellipse">
            <a:avLst/>
          </a:prstGeom>
          <a:solidFill>
            <a:srgbClr val="EAF8F2"/>
          </a:solidFill>
          <a:ln w="12700">
            <a:solidFill>
              <a:srgbClr val="EAF8F2"/>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8096" y="2715768"/>
            <a:ext cx="201168" cy="201168"/>
          </a:xfrm>
          <a:prstGeom prst="rect">
            <a:avLst/>
          </a:prstGeom>
        </p:spPr>
      </p:pic>
      <p:sp>
        <p:nvSpPr>
          <p:cNvPr id="20" name="Text 15"/>
          <p:cNvSpPr/>
          <p:nvPr/>
        </p:nvSpPr>
        <p:spPr>
          <a:xfrm>
            <a:off x="1161288" y="262432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Respiratory ML</a:t>
            </a:r>
            <a:endParaRPr lang="en-US" sz="1090" dirty="0"/>
          </a:p>
        </p:txBody>
      </p:sp>
      <p:sp>
        <p:nvSpPr>
          <p:cNvPr id="21" name="Text 16"/>
          <p:cNvSpPr/>
          <p:nvPr/>
        </p:nvSpPr>
        <p:spPr>
          <a:xfrm>
            <a:off x="685800" y="313639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Reproducible result + documented test metrics + model version</a:t>
            </a:r>
            <a:endParaRPr lang="en-US" sz="880" dirty="0"/>
          </a:p>
        </p:txBody>
      </p:sp>
      <p:sp>
        <p:nvSpPr>
          <p:cNvPr id="22" name="Shape 17"/>
          <p:cNvSpPr/>
          <p:nvPr/>
        </p:nvSpPr>
        <p:spPr>
          <a:xfrm>
            <a:off x="6126480" y="2450592"/>
            <a:ext cx="5349240" cy="896112"/>
          </a:xfrm>
          <a:prstGeom prst="roundRect">
            <a:avLst>
              <a:gd name="adj" fmla="val 8163"/>
            </a:avLst>
          </a:prstGeom>
          <a:solidFill>
            <a:srgbClr val="FFFFFF"/>
          </a:solidFill>
          <a:ln w="13970">
            <a:solidFill>
              <a:srgbClr val="DDE7EA"/>
            </a:solidFill>
            <a:prstDash val="solid"/>
          </a:ln>
        </p:spPr>
      </p:sp>
      <p:sp>
        <p:nvSpPr>
          <p:cNvPr id="23" name="Shape 18"/>
          <p:cNvSpPr/>
          <p:nvPr/>
        </p:nvSpPr>
        <p:spPr>
          <a:xfrm>
            <a:off x="6291072" y="2615184"/>
            <a:ext cx="402336" cy="402336"/>
          </a:xfrm>
          <a:prstGeom prst="ellipse">
            <a:avLst/>
          </a:prstGeom>
          <a:solidFill>
            <a:srgbClr val="EAF8F2"/>
          </a:solidFill>
          <a:ln w="12700">
            <a:solidFill>
              <a:srgbClr val="EAF8F2"/>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91656" y="2715768"/>
            <a:ext cx="201168" cy="201168"/>
          </a:xfrm>
          <a:prstGeom prst="rect">
            <a:avLst/>
          </a:prstGeom>
        </p:spPr>
      </p:pic>
      <p:sp>
        <p:nvSpPr>
          <p:cNvPr id="25" name="Text 19"/>
          <p:cNvSpPr/>
          <p:nvPr/>
        </p:nvSpPr>
        <p:spPr>
          <a:xfrm>
            <a:off x="6784848" y="262432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Doctor Review</a:t>
            </a:r>
            <a:endParaRPr lang="en-US" sz="1090" dirty="0"/>
          </a:p>
        </p:txBody>
      </p:sp>
      <p:sp>
        <p:nvSpPr>
          <p:cNvPr id="26" name="Text 20"/>
          <p:cNvSpPr/>
          <p:nvPr/>
        </p:nvSpPr>
        <p:spPr>
          <a:xfrm>
            <a:off x="6309360" y="313639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Remains Pending until doctor approval; no Final result before approval</a:t>
            </a:r>
            <a:endParaRPr lang="en-US" sz="880" dirty="0"/>
          </a:p>
        </p:txBody>
      </p:sp>
      <p:sp>
        <p:nvSpPr>
          <p:cNvPr id="27" name="Shape 21"/>
          <p:cNvSpPr/>
          <p:nvPr/>
        </p:nvSpPr>
        <p:spPr>
          <a:xfrm>
            <a:off x="502920" y="3547872"/>
            <a:ext cx="5349240" cy="896112"/>
          </a:xfrm>
          <a:prstGeom prst="roundRect">
            <a:avLst>
              <a:gd name="adj" fmla="val 8163"/>
            </a:avLst>
          </a:prstGeom>
          <a:solidFill>
            <a:srgbClr val="FFFFFF"/>
          </a:solidFill>
          <a:ln w="13970">
            <a:solidFill>
              <a:srgbClr val="DDE7EA"/>
            </a:solidFill>
            <a:prstDash val="solid"/>
          </a:ln>
        </p:spPr>
      </p:sp>
      <p:sp>
        <p:nvSpPr>
          <p:cNvPr id="28" name="Shape 22"/>
          <p:cNvSpPr/>
          <p:nvPr/>
        </p:nvSpPr>
        <p:spPr>
          <a:xfrm>
            <a:off x="667512" y="3712464"/>
            <a:ext cx="402336" cy="402336"/>
          </a:xfrm>
          <a:prstGeom prst="ellipse">
            <a:avLst/>
          </a:prstGeom>
          <a:solidFill>
            <a:srgbClr val="EAF8F2"/>
          </a:solidFill>
          <a:ln w="12700">
            <a:solidFill>
              <a:srgbClr val="EAF8F2"/>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096" y="3813048"/>
            <a:ext cx="201168" cy="201168"/>
          </a:xfrm>
          <a:prstGeom prst="rect">
            <a:avLst/>
          </a:prstGeom>
        </p:spPr>
      </p:pic>
      <p:sp>
        <p:nvSpPr>
          <p:cNvPr id="30" name="Text 23"/>
          <p:cNvSpPr/>
          <p:nvPr/>
        </p:nvSpPr>
        <p:spPr>
          <a:xfrm>
            <a:off x="1161288" y="372160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Report</a:t>
            </a:r>
            <a:endParaRPr lang="en-US" sz="1090" dirty="0"/>
          </a:p>
        </p:txBody>
      </p:sp>
      <p:sp>
        <p:nvSpPr>
          <p:cNvPr id="31" name="Text 24"/>
          <p:cNvSpPr/>
          <p:nvPr/>
        </p:nvSpPr>
        <p:spPr>
          <a:xfrm>
            <a:off x="685800" y="423367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PDF opens correctly with branding, patient, doctor, result, recommendations and disclaimer</a:t>
            </a:r>
            <a:endParaRPr lang="en-US" sz="880" dirty="0"/>
          </a:p>
        </p:txBody>
      </p:sp>
      <p:sp>
        <p:nvSpPr>
          <p:cNvPr id="32" name="Shape 25"/>
          <p:cNvSpPr/>
          <p:nvPr/>
        </p:nvSpPr>
        <p:spPr>
          <a:xfrm>
            <a:off x="6126480" y="3547872"/>
            <a:ext cx="5349240" cy="896112"/>
          </a:xfrm>
          <a:prstGeom prst="roundRect">
            <a:avLst>
              <a:gd name="adj" fmla="val 8163"/>
            </a:avLst>
          </a:prstGeom>
          <a:solidFill>
            <a:srgbClr val="FFFFFF"/>
          </a:solidFill>
          <a:ln w="13970">
            <a:solidFill>
              <a:srgbClr val="DDE7EA"/>
            </a:solidFill>
            <a:prstDash val="solid"/>
          </a:ln>
        </p:spPr>
      </p:sp>
      <p:sp>
        <p:nvSpPr>
          <p:cNvPr id="33" name="Shape 26"/>
          <p:cNvSpPr/>
          <p:nvPr/>
        </p:nvSpPr>
        <p:spPr>
          <a:xfrm>
            <a:off x="6291072" y="3712464"/>
            <a:ext cx="402336" cy="402336"/>
          </a:xfrm>
          <a:prstGeom prst="ellipse">
            <a:avLst/>
          </a:prstGeom>
          <a:solidFill>
            <a:srgbClr val="EAF8F2"/>
          </a:solidFill>
          <a:ln w="12700">
            <a:solidFill>
              <a:srgbClr val="EAF8F2"/>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91656" y="3813048"/>
            <a:ext cx="201168" cy="201168"/>
          </a:xfrm>
          <a:prstGeom prst="rect">
            <a:avLst/>
          </a:prstGeom>
        </p:spPr>
      </p:pic>
      <p:sp>
        <p:nvSpPr>
          <p:cNvPr id="35" name="Text 27"/>
          <p:cNvSpPr/>
          <p:nvPr/>
        </p:nvSpPr>
        <p:spPr>
          <a:xfrm>
            <a:off x="6784848" y="372160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History</a:t>
            </a:r>
            <a:endParaRPr lang="en-US" sz="1090" dirty="0"/>
          </a:p>
        </p:txBody>
      </p:sp>
      <p:sp>
        <p:nvSpPr>
          <p:cNvPr id="36" name="Text 28"/>
          <p:cNvSpPr/>
          <p:nvPr/>
        </p:nvSpPr>
        <p:spPr>
          <a:xfrm>
            <a:off x="6309360" y="423367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Every approved assessment appears by date with its linked report</a:t>
            </a:r>
            <a:endParaRPr lang="en-US" sz="880" dirty="0"/>
          </a:p>
        </p:txBody>
      </p:sp>
      <p:sp>
        <p:nvSpPr>
          <p:cNvPr id="37" name="Shape 29"/>
          <p:cNvSpPr/>
          <p:nvPr/>
        </p:nvSpPr>
        <p:spPr>
          <a:xfrm>
            <a:off x="502920" y="4645152"/>
            <a:ext cx="5349240" cy="896112"/>
          </a:xfrm>
          <a:prstGeom prst="roundRect">
            <a:avLst>
              <a:gd name="adj" fmla="val 8163"/>
            </a:avLst>
          </a:prstGeom>
          <a:solidFill>
            <a:srgbClr val="FFFFFF"/>
          </a:solidFill>
          <a:ln w="13970">
            <a:solidFill>
              <a:srgbClr val="DDE7EA"/>
            </a:solidFill>
            <a:prstDash val="solid"/>
          </a:ln>
        </p:spPr>
      </p:sp>
      <p:sp>
        <p:nvSpPr>
          <p:cNvPr id="38" name="Shape 30"/>
          <p:cNvSpPr/>
          <p:nvPr/>
        </p:nvSpPr>
        <p:spPr>
          <a:xfrm>
            <a:off x="667512" y="4809744"/>
            <a:ext cx="402336" cy="402336"/>
          </a:xfrm>
          <a:prstGeom prst="ellipse">
            <a:avLst/>
          </a:prstGeom>
          <a:solidFill>
            <a:srgbClr val="EAF8F2"/>
          </a:solidFill>
          <a:ln w="12700">
            <a:solidFill>
              <a:srgbClr val="EAF8F2"/>
            </a:solidFill>
            <a:prstDash val="solid"/>
          </a:ln>
        </p:spPr>
      </p:sp>
      <p:pic>
        <p:nvPicPr>
          <p:cNvPr id="3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8096" y="4910328"/>
            <a:ext cx="201168" cy="201168"/>
          </a:xfrm>
          <a:prstGeom prst="rect">
            <a:avLst/>
          </a:prstGeom>
        </p:spPr>
      </p:pic>
      <p:sp>
        <p:nvSpPr>
          <p:cNvPr id="40" name="Text 31"/>
          <p:cNvSpPr/>
          <p:nvPr/>
        </p:nvSpPr>
        <p:spPr>
          <a:xfrm>
            <a:off x="1161288" y="481888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Admin</a:t>
            </a:r>
            <a:endParaRPr lang="en-US" sz="1090" dirty="0"/>
          </a:p>
        </p:txBody>
      </p:sp>
      <p:sp>
        <p:nvSpPr>
          <p:cNvPr id="41" name="Text 32"/>
          <p:cNvSpPr/>
          <p:nvPr/>
        </p:nvSpPr>
        <p:spPr>
          <a:xfrm>
            <a:off x="685800" y="533095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Role-authorized management + usage / model metrics</a:t>
            </a:r>
            <a:endParaRPr lang="en-US" sz="880" dirty="0"/>
          </a:p>
        </p:txBody>
      </p:sp>
      <p:sp>
        <p:nvSpPr>
          <p:cNvPr id="42" name="Shape 33"/>
          <p:cNvSpPr/>
          <p:nvPr/>
        </p:nvSpPr>
        <p:spPr>
          <a:xfrm>
            <a:off x="6126480" y="4645152"/>
            <a:ext cx="5349240" cy="896112"/>
          </a:xfrm>
          <a:prstGeom prst="roundRect">
            <a:avLst>
              <a:gd name="adj" fmla="val 8163"/>
            </a:avLst>
          </a:prstGeom>
          <a:solidFill>
            <a:srgbClr val="FFFFFF"/>
          </a:solidFill>
          <a:ln w="13970">
            <a:solidFill>
              <a:srgbClr val="DDE7EA"/>
            </a:solidFill>
            <a:prstDash val="solid"/>
          </a:ln>
        </p:spPr>
      </p:sp>
      <p:sp>
        <p:nvSpPr>
          <p:cNvPr id="43" name="Shape 34"/>
          <p:cNvSpPr/>
          <p:nvPr/>
        </p:nvSpPr>
        <p:spPr>
          <a:xfrm>
            <a:off x="6291072" y="4809744"/>
            <a:ext cx="402336" cy="402336"/>
          </a:xfrm>
          <a:prstGeom prst="ellipse">
            <a:avLst/>
          </a:prstGeom>
          <a:solidFill>
            <a:srgbClr val="EAF8F2"/>
          </a:solidFill>
          <a:ln w="12700">
            <a:solidFill>
              <a:srgbClr val="EAF8F2"/>
            </a:solidFill>
            <a:prstDash val="solid"/>
          </a:ln>
        </p:spPr>
      </p:sp>
      <p:pic>
        <p:nvPicPr>
          <p:cNvPr id="4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91656" y="4910328"/>
            <a:ext cx="201168" cy="201168"/>
          </a:xfrm>
          <a:prstGeom prst="rect">
            <a:avLst/>
          </a:prstGeom>
        </p:spPr>
      </p:pic>
      <p:sp>
        <p:nvSpPr>
          <p:cNvPr id="45" name="Text 35"/>
          <p:cNvSpPr/>
          <p:nvPr/>
        </p:nvSpPr>
        <p:spPr>
          <a:xfrm>
            <a:off x="6784848" y="4818888"/>
            <a:ext cx="4526280" cy="310896"/>
          </a:xfrm>
          <a:prstGeom prst="rect">
            <a:avLst/>
          </a:prstGeom>
          <a:noFill/>
          <a:ln/>
        </p:spPr>
        <p:txBody>
          <a:bodyPr wrap="square" lIns="0" tIns="0" rIns="0" bIns="0" rtlCol="0" anchor="ctr">
            <a:normAutofit/>
          </a:bodyPr>
          <a:lstStyle/>
          <a:p>
            <a:pPr indent="0" marL="0">
              <a:buNone/>
            </a:pPr>
            <a:r>
              <a:rPr lang="en-US" sz="1090" b="1" dirty="0">
                <a:solidFill>
                  <a:srgbClr val="142A37"/>
                </a:solidFill>
                <a:latin typeface="Noto Sans" pitchFamily="34" charset="0"/>
                <a:ea typeface="Noto Sans" pitchFamily="34" charset="-122"/>
                <a:cs typeface="Noto Sans" pitchFamily="34" charset="-120"/>
              </a:rPr>
              <a:t>Language</a:t>
            </a:r>
            <a:endParaRPr lang="en-US" sz="1090" dirty="0"/>
          </a:p>
        </p:txBody>
      </p:sp>
      <p:sp>
        <p:nvSpPr>
          <p:cNvPr id="46" name="Text 36"/>
          <p:cNvSpPr/>
          <p:nvPr/>
        </p:nvSpPr>
        <p:spPr>
          <a:xfrm>
            <a:off x="6309360" y="5330952"/>
            <a:ext cx="4983480" cy="54864"/>
          </a:xfrm>
          <a:prstGeom prst="rect">
            <a:avLst/>
          </a:prstGeom>
          <a:noFill/>
          <a:ln/>
        </p:spPr>
        <p:txBody>
          <a:bodyPr wrap="square" lIns="254" tIns="254" rIns="254" bIns="254" rtlCol="0" anchor="t">
            <a:normAutofit/>
          </a:bodyPr>
          <a:lstStyle/>
          <a:p>
            <a:pPr indent="0" marL="0">
              <a:buNone/>
            </a:pPr>
            <a:r>
              <a:rPr lang="en-US" sz="880" dirty="0">
                <a:solidFill>
                  <a:srgbClr val="5F7180"/>
                </a:solidFill>
                <a:latin typeface="Noto Sans" pitchFamily="34" charset="0"/>
                <a:ea typeface="Noto Sans" pitchFamily="34" charset="-122"/>
                <a:cs typeface="Noto Sans" pitchFamily="34" charset="-120"/>
              </a:rPr>
              <a:t>Arabic and English work without breaking layout; default from device language</a:t>
            </a:r>
            <a:endParaRPr lang="en-US" sz="880" dirty="0"/>
          </a:p>
        </p:txBody>
      </p:sp>
      <p:sp>
        <p:nvSpPr>
          <p:cNvPr id="47" name="Text 37"/>
          <p:cNvSpPr/>
          <p:nvPr/>
        </p:nvSpPr>
        <p:spPr>
          <a:xfrm>
            <a:off x="731520" y="5806440"/>
            <a:ext cx="1280160" cy="219456"/>
          </a:xfrm>
          <a:prstGeom prst="rect">
            <a:avLst/>
          </a:prstGeom>
          <a:noFill/>
          <a:ln/>
        </p:spPr>
        <p:txBody>
          <a:bodyPr wrap="square" lIns="0" tIns="0" rIns="0" bIns="0" rtlCol="0" anchor="ctr"/>
          <a:lstStyle/>
          <a:p>
            <a:pPr indent="0" marL="0">
              <a:buNone/>
            </a:pPr>
            <a:r>
              <a:rPr lang="en-US" sz="1040" b="1" dirty="0">
                <a:solidFill>
                  <a:srgbClr val="142A37"/>
                </a:solidFill>
                <a:latin typeface="Noto Sans" pitchFamily="34" charset="0"/>
                <a:ea typeface="Noto Sans" pitchFamily="34" charset="-122"/>
                <a:cs typeface="Noto Sans" pitchFamily="34" charset="-120"/>
              </a:rPr>
              <a:t>Test types</a:t>
            </a:r>
            <a:endParaRPr lang="en-US" sz="1040" dirty="0"/>
          </a:p>
        </p:txBody>
      </p:sp>
      <p:sp>
        <p:nvSpPr>
          <p:cNvPr id="48" name="Shape 38"/>
          <p:cNvSpPr/>
          <p:nvPr/>
        </p:nvSpPr>
        <p:spPr>
          <a:xfrm>
            <a:off x="1920240" y="5715000"/>
            <a:ext cx="1143000" cy="329184"/>
          </a:xfrm>
          <a:prstGeom prst="roundRect">
            <a:avLst>
              <a:gd name="adj" fmla="val 38889"/>
            </a:avLst>
          </a:prstGeom>
          <a:solidFill>
            <a:srgbClr val="E8F8F4"/>
          </a:solidFill>
          <a:ln w="12700">
            <a:solidFill>
              <a:srgbClr val="E8F8F4"/>
            </a:solidFill>
            <a:prstDash val="solid"/>
          </a:ln>
        </p:spPr>
      </p:sp>
      <p:sp>
        <p:nvSpPr>
          <p:cNvPr id="49" name="Text 39"/>
          <p:cNvSpPr/>
          <p:nvPr/>
        </p:nvSpPr>
        <p:spPr>
          <a:xfrm>
            <a:off x="1993392" y="5788152"/>
            <a:ext cx="996696" cy="146304"/>
          </a:xfrm>
          <a:prstGeom prst="rect">
            <a:avLst/>
          </a:prstGeom>
          <a:noFill/>
          <a:ln/>
        </p:spPr>
        <p:txBody>
          <a:bodyPr wrap="square" lIns="0" tIns="0" rIns="0" bIns="0" rtlCol="0" anchor="ctr">
            <a:normAutofit/>
          </a:bodyPr>
          <a:lstStyle/>
          <a:p>
            <a:pPr algn="ctr" indent="0" marL="0">
              <a:buNone/>
            </a:pPr>
            <a:r>
              <a:rPr lang="en-US" sz="870" b="1" dirty="0">
                <a:solidFill>
                  <a:srgbClr val="0B3D4B"/>
                </a:solidFill>
                <a:latin typeface="Noto Sans" pitchFamily="34" charset="0"/>
                <a:ea typeface="Noto Sans" pitchFamily="34" charset="-122"/>
                <a:cs typeface="Noto Sans" pitchFamily="34" charset="-120"/>
              </a:rPr>
              <a:t>Unit</a:t>
            </a:r>
            <a:endParaRPr lang="en-US" sz="870" dirty="0"/>
          </a:p>
        </p:txBody>
      </p:sp>
      <p:sp>
        <p:nvSpPr>
          <p:cNvPr id="50" name="Shape 40"/>
          <p:cNvSpPr/>
          <p:nvPr/>
        </p:nvSpPr>
        <p:spPr>
          <a:xfrm>
            <a:off x="3200400" y="5715000"/>
            <a:ext cx="1325880" cy="329184"/>
          </a:xfrm>
          <a:prstGeom prst="roundRect">
            <a:avLst>
              <a:gd name="adj" fmla="val 38889"/>
            </a:avLst>
          </a:prstGeom>
          <a:solidFill>
            <a:srgbClr val="EAF2FF"/>
          </a:solidFill>
          <a:ln w="12700">
            <a:solidFill>
              <a:srgbClr val="EAF2FF"/>
            </a:solidFill>
            <a:prstDash val="solid"/>
          </a:ln>
        </p:spPr>
      </p:sp>
      <p:sp>
        <p:nvSpPr>
          <p:cNvPr id="51" name="Text 41"/>
          <p:cNvSpPr/>
          <p:nvPr/>
        </p:nvSpPr>
        <p:spPr>
          <a:xfrm>
            <a:off x="3273552" y="5788152"/>
            <a:ext cx="1179576" cy="146304"/>
          </a:xfrm>
          <a:prstGeom prst="rect">
            <a:avLst/>
          </a:prstGeom>
          <a:noFill/>
          <a:ln/>
        </p:spPr>
        <p:txBody>
          <a:bodyPr wrap="square" lIns="0" tIns="0" rIns="0" bIns="0" rtlCol="0" anchor="ctr">
            <a:normAutofit/>
          </a:bodyPr>
          <a:lstStyle/>
          <a:p>
            <a:pPr algn="ctr" indent="0" marL="0">
              <a:buNone/>
            </a:pPr>
            <a:r>
              <a:rPr lang="en-US" sz="870" b="1" dirty="0">
                <a:solidFill>
                  <a:srgbClr val="2F80ED"/>
                </a:solidFill>
                <a:latin typeface="Noto Sans" pitchFamily="34" charset="0"/>
                <a:ea typeface="Noto Sans" pitchFamily="34" charset="-122"/>
                <a:cs typeface="Noto Sans" pitchFamily="34" charset="-120"/>
              </a:rPr>
              <a:t>Integration</a:t>
            </a:r>
            <a:endParaRPr lang="en-US" sz="870" dirty="0"/>
          </a:p>
        </p:txBody>
      </p:sp>
      <p:sp>
        <p:nvSpPr>
          <p:cNvPr id="52" name="Shape 42"/>
          <p:cNvSpPr/>
          <p:nvPr/>
        </p:nvSpPr>
        <p:spPr>
          <a:xfrm>
            <a:off x="4663440" y="5715000"/>
            <a:ext cx="1463040" cy="329184"/>
          </a:xfrm>
          <a:prstGeom prst="roundRect">
            <a:avLst>
              <a:gd name="adj" fmla="val 38889"/>
            </a:avLst>
          </a:prstGeom>
          <a:solidFill>
            <a:srgbClr val="F0EFFF"/>
          </a:solidFill>
          <a:ln w="12700">
            <a:solidFill>
              <a:srgbClr val="F0EFFF"/>
            </a:solidFill>
            <a:prstDash val="solid"/>
          </a:ln>
        </p:spPr>
      </p:sp>
      <p:sp>
        <p:nvSpPr>
          <p:cNvPr id="53" name="Text 43"/>
          <p:cNvSpPr/>
          <p:nvPr/>
        </p:nvSpPr>
        <p:spPr>
          <a:xfrm>
            <a:off x="4736592" y="5788152"/>
            <a:ext cx="1316736" cy="146304"/>
          </a:xfrm>
          <a:prstGeom prst="rect">
            <a:avLst/>
          </a:prstGeom>
          <a:noFill/>
          <a:ln/>
        </p:spPr>
        <p:txBody>
          <a:bodyPr wrap="square" lIns="0" tIns="0" rIns="0" bIns="0" rtlCol="0" anchor="ctr">
            <a:normAutofit/>
          </a:bodyPr>
          <a:lstStyle/>
          <a:p>
            <a:pPr algn="ctr" indent="0" marL="0">
              <a:buNone/>
            </a:pPr>
            <a:r>
              <a:rPr lang="en-US" sz="870" b="1" dirty="0">
                <a:solidFill>
                  <a:srgbClr val="6C63FF"/>
                </a:solidFill>
                <a:latin typeface="Noto Sans" pitchFamily="34" charset="0"/>
                <a:ea typeface="Noto Sans" pitchFamily="34" charset="-122"/>
                <a:cs typeface="Noto Sans" pitchFamily="34" charset="-120"/>
              </a:rPr>
              <a:t>Permissions</a:t>
            </a:r>
            <a:endParaRPr lang="en-US" sz="870" dirty="0"/>
          </a:p>
        </p:txBody>
      </p:sp>
      <p:sp>
        <p:nvSpPr>
          <p:cNvPr id="54" name="Shape 44"/>
          <p:cNvSpPr/>
          <p:nvPr/>
        </p:nvSpPr>
        <p:spPr>
          <a:xfrm>
            <a:off x="6263640" y="5715000"/>
            <a:ext cx="1325880" cy="329184"/>
          </a:xfrm>
          <a:prstGeom prst="roundRect">
            <a:avLst>
              <a:gd name="adj" fmla="val 38889"/>
            </a:avLst>
          </a:prstGeom>
          <a:solidFill>
            <a:srgbClr val="FDECEF"/>
          </a:solidFill>
          <a:ln w="12700">
            <a:solidFill>
              <a:srgbClr val="FDECEF"/>
            </a:solidFill>
            <a:prstDash val="solid"/>
          </a:ln>
        </p:spPr>
      </p:sp>
      <p:sp>
        <p:nvSpPr>
          <p:cNvPr id="55" name="Text 45"/>
          <p:cNvSpPr/>
          <p:nvPr/>
        </p:nvSpPr>
        <p:spPr>
          <a:xfrm>
            <a:off x="6336792" y="5788152"/>
            <a:ext cx="1179576" cy="146304"/>
          </a:xfrm>
          <a:prstGeom prst="rect">
            <a:avLst/>
          </a:prstGeom>
          <a:noFill/>
          <a:ln/>
        </p:spPr>
        <p:txBody>
          <a:bodyPr wrap="square" lIns="0" tIns="0" rIns="0" bIns="0" rtlCol="0" anchor="ctr">
            <a:normAutofit/>
          </a:bodyPr>
          <a:lstStyle/>
          <a:p>
            <a:pPr algn="ctr" indent="0" marL="0">
              <a:buNone/>
            </a:pPr>
            <a:r>
              <a:rPr lang="en-US" sz="870" b="1" dirty="0">
                <a:solidFill>
                  <a:srgbClr val="E65B66"/>
                </a:solidFill>
                <a:latin typeface="Noto Sans" pitchFamily="34" charset="0"/>
                <a:ea typeface="Noto Sans" pitchFamily="34" charset="-122"/>
                <a:cs typeface="Noto Sans" pitchFamily="34" charset="-120"/>
              </a:rPr>
              <a:t>Security</a:t>
            </a:r>
            <a:endParaRPr lang="en-US" sz="870" dirty="0"/>
          </a:p>
        </p:txBody>
      </p:sp>
      <p:sp>
        <p:nvSpPr>
          <p:cNvPr id="56" name="Shape 46"/>
          <p:cNvSpPr/>
          <p:nvPr/>
        </p:nvSpPr>
        <p:spPr>
          <a:xfrm>
            <a:off x="7726680" y="5715000"/>
            <a:ext cx="1600200" cy="329184"/>
          </a:xfrm>
          <a:prstGeom prst="roundRect">
            <a:avLst>
              <a:gd name="adj" fmla="val 38889"/>
            </a:avLst>
          </a:prstGeom>
          <a:solidFill>
            <a:srgbClr val="FFF6E5"/>
          </a:solidFill>
          <a:ln w="12700">
            <a:solidFill>
              <a:srgbClr val="FFF6E5"/>
            </a:solidFill>
            <a:prstDash val="solid"/>
          </a:ln>
        </p:spPr>
      </p:sp>
      <p:sp>
        <p:nvSpPr>
          <p:cNvPr id="57" name="Text 47"/>
          <p:cNvSpPr/>
          <p:nvPr/>
        </p:nvSpPr>
        <p:spPr>
          <a:xfrm>
            <a:off x="7799832" y="5788152"/>
            <a:ext cx="1453896" cy="146304"/>
          </a:xfrm>
          <a:prstGeom prst="rect">
            <a:avLst/>
          </a:prstGeom>
          <a:noFill/>
          <a:ln/>
        </p:spPr>
        <p:txBody>
          <a:bodyPr wrap="square" lIns="0" tIns="0" rIns="0" bIns="0" rtlCol="0" anchor="ctr">
            <a:normAutofit/>
          </a:bodyPr>
          <a:lstStyle/>
          <a:p>
            <a:pPr algn="ctr" indent="0" marL="0">
              <a:buNone/>
            </a:pPr>
            <a:r>
              <a:rPr lang="en-US" sz="870" b="1" dirty="0">
                <a:solidFill>
                  <a:srgbClr val="F3B33D"/>
                </a:solidFill>
                <a:latin typeface="Noto Sans" pitchFamily="34" charset="0"/>
                <a:ea typeface="Noto Sans" pitchFamily="34" charset="-122"/>
                <a:cs typeface="Noto Sans" pitchFamily="34" charset="-120"/>
              </a:rPr>
              <a:t>Model validation</a:t>
            </a:r>
            <a:endParaRPr lang="en-US" sz="870" dirty="0"/>
          </a:p>
        </p:txBody>
      </p:sp>
      <p:sp>
        <p:nvSpPr>
          <p:cNvPr id="58" name="Shape 48"/>
          <p:cNvSpPr/>
          <p:nvPr/>
        </p:nvSpPr>
        <p:spPr>
          <a:xfrm>
            <a:off x="9464040" y="5715000"/>
            <a:ext cx="1325880" cy="329184"/>
          </a:xfrm>
          <a:prstGeom prst="roundRect">
            <a:avLst>
              <a:gd name="adj" fmla="val 38889"/>
            </a:avLst>
          </a:prstGeom>
          <a:solidFill>
            <a:srgbClr val="EAF8F2"/>
          </a:solidFill>
          <a:ln w="12700">
            <a:solidFill>
              <a:srgbClr val="EAF8F2"/>
            </a:solidFill>
            <a:prstDash val="solid"/>
          </a:ln>
        </p:spPr>
      </p:sp>
      <p:sp>
        <p:nvSpPr>
          <p:cNvPr id="59" name="Text 49"/>
          <p:cNvSpPr/>
          <p:nvPr/>
        </p:nvSpPr>
        <p:spPr>
          <a:xfrm>
            <a:off x="9537192" y="5788152"/>
            <a:ext cx="1179576" cy="146304"/>
          </a:xfrm>
          <a:prstGeom prst="rect">
            <a:avLst/>
          </a:prstGeom>
          <a:noFill/>
          <a:ln/>
        </p:spPr>
        <p:txBody>
          <a:bodyPr wrap="square" lIns="0" tIns="0" rIns="0" bIns="0" rtlCol="0" anchor="ctr">
            <a:normAutofit/>
          </a:bodyPr>
          <a:lstStyle/>
          <a:p>
            <a:pPr algn="ctr" indent="0" marL="0">
              <a:buNone/>
            </a:pPr>
            <a:r>
              <a:rPr lang="en-US" sz="870" b="1" dirty="0">
                <a:solidFill>
                  <a:srgbClr val="2FAF7D"/>
                </a:solidFill>
                <a:latin typeface="Noto Sans" pitchFamily="34" charset="0"/>
                <a:ea typeface="Noto Sans" pitchFamily="34" charset="-122"/>
                <a:cs typeface="Noto Sans" pitchFamily="34" charset="-120"/>
              </a:rPr>
              <a:t>Usability</a:t>
            </a:r>
            <a:endParaRPr lang="en-US" sz="87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Non-Functional Requirements</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Quality attributes that influence architecture and UX even when they are not “features.”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NFR</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48640" y="138988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713232" y="1554480"/>
            <a:ext cx="402336" cy="402336"/>
          </a:xfrm>
          <a:prstGeom prst="ellipse">
            <a:avLst/>
          </a:prstGeom>
          <a:solidFill>
            <a:srgbClr val="E8F8F4"/>
          </a:solidFill>
          <a:ln w="12700">
            <a:solidFill>
              <a:srgbClr val="E8F8F4"/>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3816" y="1655064"/>
            <a:ext cx="201168" cy="201168"/>
          </a:xfrm>
          <a:prstGeom prst="rect">
            <a:avLst/>
          </a:prstGeom>
        </p:spPr>
      </p:pic>
      <p:sp>
        <p:nvSpPr>
          <p:cNvPr id="10" name="Text 7"/>
          <p:cNvSpPr/>
          <p:nvPr/>
        </p:nvSpPr>
        <p:spPr>
          <a:xfrm>
            <a:off x="1207008" y="156362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Performance</a:t>
            </a:r>
            <a:endParaRPr lang="en-US" sz="1180" dirty="0"/>
          </a:p>
        </p:txBody>
      </p:sp>
      <p:sp>
        <p:nvSpPr>
          <p:cNvPr id="11" name="Text 8"/>
          <p:cNvSpPr/>
          <p:nvPr/>
        </p:nvSpPr>
        <p:spPr>
          <a:xfrm>
            <a:off x="731520" y="207568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Core screens should feel fast on a normal mobile connection; show loading state for ML work</a:t>
            </a:r>
            <a:endParaRPr lang="en-US" sz="940" dirty="0"/>
          </a:p>
        </p:txBody>
      </p:sp>
      <p:sp>
        <p:nvSpPr>
          <p:cNvPr id="12" name="Shape 9"/>
          <p:cNvSpPr/>
          <p:nvPr/>
        </p:nvSpPr>
        <p:spPr>
          <a:xfrm>
            <a:off x="3383280" y="138988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3547872" y="1554480"/>
            <a:ext cx="402336" cy="402336"/>
          </a:xfrm>
          <a:prstGeom prst="ellipse">
            <a:avLst/>
          </a:prstGeom>
          <a:solidFill>
            <a:srgbClr val="E8F8F4"/>
          </a:solidFill>
          <a:ln w="12700">
            <a:solidFill>
              <a:srgbClr val="E8F8F4"/>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8456" y="1655064"/>
            <a:ext cx="201168" cy="201168"/>
          </a:xfrm>
          <a:prstGeom prst="rect">
            <a:avLst/>
          </a:prstGeom>
        </p:spPr>
      </p:pic>
      <p:sp>
        <p:nvSpPr>
          <p:cNvPr id="15" name="Text 11"/>
          <p:cNvSpPr/>
          <p:nvPr/>
        </p:nvSpPr>
        <p:spPr>
          <a:xfrm>
            <a:off x="4041648" y="156362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Availability</a:t>
            </a:r>
            <a:endParaRPr lang="en-US" sz="1180" dirty="0"/>
          </a:p>
        </p:txBody>
      </p:sp>
      <p:sp>
        <p:nvSpPr>
          <p:cNvPr id="16" name="Text 12"/>
          <p:cNvSpPr/>
          <p:nvPr/>
        </p:nvSpPr>
        <p:spPr>
          <a:xfrm>
            <a:off x="3566160" y="207568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Cloud, online-only in the first version</a:t>
            </a:r>
            <a:endParaRPr lang="en-US" sz="940" dirty="0"/>
          </a:p>
        </p:txBody>
      </p:sp>
      <p:sp>
        <p:nvSpPr>
          <p:cNvPr id="17" name="Shape 13"/>
          <p:cNvSpPr/>
          <p:nvPr/>
        </p:nvSpPr>
        <p:spPr>
          <a:xfrm>
            <a:off x="6217920" y="138988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8" name="Shape 14"/>
          <p:cNvSpPr/>
          <p:nvPr/>
        </p:nvSpPr>
        <p:spPr>
          <a:xfrm>
            <a:off x="6382512" y="1554480"/>
            <a:ext cx="402336" cy="402336"/>
          </a:xfrm>
          <a:prstGeom prst="ellipse">
            <a:avLst/>
          </a:prstGeom>
          <a:solidFill>
            <a:srgbClr val="E8F8F4"/>
          </a:solidFill>
          <a:ln w="12700">
            <a:solidFill>
              <a:srgbClr val="E8F8F4"/>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3096" y="1655064"/>
            <a:ext cx="201168" cy="201168"/>
          </a:xfrm>
          <a:prstGeom prst="rect">
            <a:avLst/>
          </a:prstGeom>
        </p:spPr>
      </p:pic>
      <p:sp>
        <p:nvSpPr>
          <p:cNvPr id="20" name="Text 15"/>
          <p:cNvSpPr/>
          <p:nvPr/>
        </p:nvSpPr>
        <p:spPr>
          <a:xfrm>
            <a:off x="6876288" y="156362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Scalability</a:t>
            </a:r>
            <a:endParaRPr lang="en-US" sz="1180" dirty="0"/>
          </a:p>
        </p:txBody>
      </p:sp>
      <p:sp>
        <p:nvSpPr>
          <p:cNvPr id="21" name="Text 16"/>
          <p:cNvSpPr/>
          <p:nvPr/>
        </p:nvSpPr>
        <p:spPr>
          <a:xfrm>
            <a:off x="6400800" y="207568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No user limit defined; production design should support scale-out later</a:t>
            </a:r>
            <a:endParaRPr lang="en-US" sz="940" dirty="0"/>
          </a:p>
        </p:txBody>
      </p:sp>
      <p:sp>
        <p:nvSpPr>
          <p:cNvPr id="22" name="Shape 17"/>
          <p:cNvSpPr/>
          <p:nvPr/>
        </p:nvSpPr>
        <p:spPr>
          <a:xfrm>
            <a:off x="9052560" y="138988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3" name="Shape 18"/>
          <p:cNvSpPr/>
          <p:nvPr/>
        </p:nvSpPr>
        <p:spPr>
          <a:xfrm>
            <a:off x="9217152" y="1554480"/>
            <a:ext cx="402336" cy="402336"/>
          </a:xfrm>
          <a:prstGeom prst="ellipse">
            <a:avLst/>
          </a:prstGeom>
          <a:solidFill>
            <a:srgbClr val="E8F8F4"/>
          </a:solidFill>
          <a:ln w="12700">
            <a:solidFill>
              <a:srgbClr val="E8F8F4"/>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17736" y="1655064"/>
            <a:ext cx="201168" cy="201168"/>
          </a:xfrm>
          <a:prstGeom prst="rect">
            <a:avLst/>
          </a:prstGeom>
        </p:spPr>
      </p:pic>
      <p:sp>
        <p:nvSpPr>
          <p:cNvPr id="25" name="Text 19"/>
          <p:cNvSpPr/>
          <p:nvPr/>
        </p:nvSpPr>
        <p:spPr>
          <a:xfrm>
            <a:off x="9710928" y="156362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Accessibility</a:t>
            </a:r>
            <a:endParaRPr lang="en-US" sz="1180" dirty="0"/>
          </a:p>
        </p:txBody>
      </p:sp>
      <p:sp>
        <p:nvSpPr>
          <p:cNvPr id="26" name="Text 20"/>
          <p:cNvSpPr/>
          <p:nvPr/>
        </p:nvSpPr>
        <p:spPr>
          <a:xfrm>
            <a:off x="9235440" y="207568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Clear type, sufficient contrast, large controls and simple language</a:t>
            </a:r>
            <a:endParaRPr lang="en-US" sz="940" dirty="0"/>
          </a:p>
        </p:txBody>
      </p:sp>
      <p:sp>
        <p:nvSpPr>
          <p:cNvPr id="27" name="Shape 21"/>
          <p:cNvSpPr/>
          <p:nvPr/>
        </p:nvSpPr>
        <p:spPr>
          <a:xfrm>
            <a:off x="548640" y="353872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28" name="Shape 22"/>
          <p:cNvSpPr/>
          <p:nvPr/>
        </p:nvSpPr>
        <p:spPr>
          <a:xfrm>
            <a:off x="713232" y="3703320"/>
            <a:ext cx="402336" cy="402336"/>
          </a:xfrm>
          <a:prstGeom prst="ellipse">
            <a:avLst/>
          </a:prstGeom>
          <a:solidFill>
            <a:srgbClr val="E8F8F4"/>
          </a:solidFill>
          <a:ln w="12700">
            <a:solidFill>
              <a:srgbClr val="E8F8F4"/>
            </a:solidFill>
            <a:prstDash val="solid"/>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3816" y="3803904"/>
            <a:ext cx="201168" cy="201168"/>
          </a:xfrm>
          <a:prstGeom prst="rect">
            <a:avLst/>
          </a:prstGeom>
        </p:spPr>
      </p:pic>
      <p:sp>
        <p:nvSpPr>
          <p:cNvPr id="30" name="Text 23"/>
          <p:cNvSpPr/>
          <p:nvPr/>
        </p:nvSpPr>
        <p:spPr>
          <a:xfrm>
            <a:off x="1207008" y="371246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Localization</a:t>
            </a:r>
            <a:endParaRPr lang="en-US" sz="1180" dirty="0"/>
          </a:p>
        </p:txBody>
      </p:sp>
      <p:sp>
        <p:nvSpPr>
          <p:cNvPr id="31" name="Text 24"/>
          <p:cNvSpPr/>
          <p:nvPr/>
        </p:nvSpPr>
        <p:spPr>
          <a:xfrm>
            <a:off x="731520" y="422452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Arabic RTL + English LTR</a:t>
            </a:r>
            <a:endParaRPr lang="en-US" sz="940" dirty="0"/>
          </a:p>
        </p:txBody>
      </p:sp>
      <p:sp>
        <p:nvSpPr>
          <p:cNvPr id="32" name="Shape 25"/>
          <p:cNvSpPr/>
          <p:nvPr/>
        </p:nvSpPr>
        <p:spPr>
          <a:xfrm>
            <a:off x="3383280" y="353872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3" name="Shape 26"/>
          <p:cNvSpPr/>
          <p:nvPr/>
        </p:nvSpPr>
        <p:spPr>
          <a:xfrm>
            <a:off x="3547872" y="3703320"/>
            <a:ext cx="402336" cy="402336"/>
          </a:xfrm>
          <a:prstGeom prst="ellipse">
            <a:avLst/>
          </a:prstGeom>
          <a:solidFill>
            <a:srgbClr val="E8F8F4"/>
          </a:solidFill>
          <a:ln w="12700">
            <a:solidFill>
              <a:srgbClr val="E8F8F4"/>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48456" y="3803904"/>
            <a:ext cx="201168" cy="201168"/>
          </a:xfrm>
          <a:prstGeom prst="rect">
            <a:avLst/>
          </a:prstGeom>
        </p:spPr>
      </p:pic>
      <p:sp>
        <p:nvSpPr>
          <p:cNvPr id="35" name="Text 27"/>
          <p:cNvSpPr/>
          <p:nvPr/>
        </p:nvSpPr>
        <p:spPr>
          <a:xfrm>
            <a:off x="4041648" y="371246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Auditability</a:t>
            </a:r>
            <a:endParaRPr lang="en-US" sz="1180" dirty="0"/>
          </a:p>
        </p:txBody>
      </p:sp>
      <p:sp>
        <p:nvSpPr>
          <p:cNvPr id="36" name="Text 28"/>
          <p:cNvSpPr/>
          <p:nvPr/>
        </p:nvSpPr>
        <p:spPr>
          <a:xfrm>
            <a:off x="3566160" y="422452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Model version • doctor approval • timestamps • critical-change logs</a:t>
            </a:r>
            <a:endParaRPr lang="en-US" sz="940" dirty="0"/>
          </a:p>
        </p:txBody>
      </p:sp>
      <p:sp>
        <p:nvSpPr>
          <p:cNvPr id="37" name="Shape 29"/>
          <p:cNvSpPr/>
          <p:nvPr/>
        </p:nvSpPr>
        <p:spPr>
          <a:xfrm>
            <a:off x="6217920" y="353872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38" name="Shape 30"/>
          <p:cNvSpPr/>
          <p:nvPr/>
        </p:nvSpPr>
        <p:spPr>
          <a:xfrm>
            <a:off x="6382512" y="3703320"/>
            <a:ext cx="402336" cy="402336"/>
          </a:xfrm>
          <a:prstGeom prst="ellipse">
            <a:avLst/>
          </a:prstGeom>
          <a:solidFill>
            <a:srgbClr val="E8F8F4"/>
          </a:solidFill>
          <a:ln w="12700">
            <a:solidFill>
              <a:srgbClr val="E8F8F4"/>
            </a:solidFill>
            <a:prstDash val="solid"/>
          </a:ln>
        </p:spPr>
      </p:sp>
      <p:pic>
        <p:nvPicPr>
          <p:cNvPr id="3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83096" y="3803904"/>
            <a:ext cx="201168" cy="201168"/>
          </a:xfrm>
          <a:prstGeom prst="rect">
            <a:avLst/>
          </a:prstGeom>
        </p:spPr>
      </p:pic>
      <p:sp>
        <p:nvSpPr>
          <p:cNvPr id="40" name="Text 31"/>
          <p:cNvSpPr/>
          <p:nvPr/>
        </p:nvSpPr>
        <p:spPr>
          <a:xfrm>
            <a:off x="6876288" y="371246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Maintainability</a:t>
            </a:r>
            <a:endParaRPr lang="en-US" sz="1180" dirty="0"/>
          </a:p>
        </p:txBody>
      </p:sp>
      <p:sp>
        <p:nvSpPr>
          <p:cNvPr id="41" name="Text 32"/>
          <p:cNvSpPr/>
          <p:nvPr/>
        </p:nvSpPr>
        <p:spPr>
          <a:xfrm>
            <a:off x="6400800" y="422452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Organized repo • documentation • CI/CD • separation of concerns</a:t>
            </a:r>
            <a:endParaRPr lang="en-US" sz="940" dirty="0"/>
          </a:p>
        </p:txBody>
      </p:sp>
      <p:sp>
        <p:nvSpPr>
          <p:cNvPr id="42" name="Shape 33"/>
          <p:cNvSpPr/>
          <p:nvPr/>
        </p:nvSpPr>
        <p:spPr>
          <a:xfrm>
            <a:off x="9052560" y="3538728"/>
            <a:ext cx="2514600" cy="1627632"/>
          </a:xfrm>
          <a:prstGeom prst="roundRect">
            <a:avLst>
              <a:gd name="adj" fmla="val 4494"/>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43" name="Shape 34"/>
          <p:cNvSpPr/>
          <p:nvPr/>
        </p:nvSpPr>
        <p:spPr>
          <a:xfrm>
            <a:off x="9217152" y="3703320"/>
            <a:ext cx="402336" cy="402336"/>
          </a:xfrm>
          <a:prstGeom prst="ellipse">
            <a:avLst/>
          </a:prstGeom>
          <a:solidFill>
            <a:srgbClr val="E8F8F4"/>
          </a:solidFill>
          <a:ln w="12700">
            <a:solidFill>
              <a:srgbClr val="E8F8F4"/>
            </a:solidFill>
            <a:prstDash val="solid"/>
          </a:ln>
        </p:spPr>
      </p:sp>
      <p:pic>
        <p:nvPicPr>
          <p:cNvPr id="4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17736" y="3803904"/>
            <a:ext cx="201168" cy="201168"/>
          </a:xfrm>
          <a:prstGeom prst="rect">
            <a:avLst/>
          </a:prstGeom>
        </p:spPr>
      </p:pic>
      <p:sp>
        <p:nvSpPr>
          <p:cNvPr id="45" name="Text 35"/>
          <p:cNvSpPr/>
          <p:nvPr/>
        </p:nvSpPr>
        <p:spPr>
          <a:xfrm>
            <a:off x="9710928" y="3712464"/>
            <a:ext cx="1691640" cy="310896"/>
          </a:xfrm>
          <a:prstGeom prst="rect">
            <a:avLst/>
          </a:prstGeom>
          <a:noFill/>
          <a:ln/>
        </p:spPr>
        <p:txBody>
          <a:bodyPr wrap="square" lIns="0" tIns="0" rIns="0" bIns="0" rtlCol="0" anchor="ctr">
            <a:normAutofit/>
          </a:bodyPr>
          <a:lstStyle/>
          <a:p>
            <a:pPr indent="0" marL="0">
              <a:buNone/>
            </a:pPr>
            <a:r>
              <a:rPr lang="en-US" sz="1180" b="1" dirty="0">
                <a:solidFill>
                  <a:srgbClr val="142A37"/>
                </a:solidFill>
                <a:latin typeface="Noto Sans" pitchFamily="34" charset="0"/>
                <a:ea typeface="Noto Sans" pitchFamily="34" charset="-122"/>
                <a:cs typeface="Noto Sans" pitchFamily="34" charset="-120"/>
              </a:rPr>
              <a:t>Reliability</a:t>
            </a:r>
            <a:endParaRPr lang="en-US" sz="1180" dirty="0"/>
          </a:p>
        </p:txBody>
      </p:sp>
      <p:sp>
        <p:nvSpPr>
          <p:cNvPr id="46" name="Text 36"/>
          <p:cNvSpPr/>
          <p:nvPr/>
        </p:nvSpPr>
        <p:spPr>
          <a:xfrm>
            <a:off x="9235440" y="4224528"/>
            <a:ext cx="2148840" cy="786384"/>
          </a:xfrm>
          <a:prstGeom prst="rect">
            <a:avLst/>
          </a:prstGeom>
          <a:noFill/>
          <a:ln/>
        </p:spPr>
        <p:txBody>
          <a:bodyPr wrap="square" lIns="254" tIns="254" rIns="254" bIns="254" rtlCol="0" anchor="t">
            <a:normAutofit/>
          </a:bodyPr>
          <a:lstStyle/>
          <a:p>
            <a:pPr indent="0" marL="0">
              <a:buNone/>
            </a:pPr>
            <a:r>
              <a:rPr lang="en-US" sz="940" dirty="0">
                <a:solidFill>
                  <a:srgbClr val="5F7180"/>
                </a:solidFill>
                <a:latin typeface="Noto Sans" pitchFamily="34" charset="0"/>
                <a:ea typeface="Noto Sans" pitchFamily="34" charset="-122"/>
                <a:cs typeface="Noto Sans" pitchFamily="34" charset="-120"/>
              </a:rPr>
              <a:t>Do not lose history / reports; define backup / restore before production</a:t>
            </a:r>
            <a:endParaRPr lang="en-US" sz="94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Open Decisions / Brainstorm Queue</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These items are explicitly unresolved in the PRD and should become decisions, not hidden assumptions.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DECISIONS</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rot="-60000">
            <a:off x="594360" y="1353312"/>
            <a:ext cx="3337560" cy="1188720"/>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8" name="Text 6"/>
          <p:cNvSpPr/>
          <p:nvPr/>
        </p:nvSpPr>
        <p:spPr>
          <a:xfrm rot="-60000">
            <a:off x="713232" y="146304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Production database</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TBD. Kaggle = dataset source only.</a:t>
            </a:r>
            <a:endParaRPr lang="en-US" sz="1020" dirty="0"/>
          </a:p>
        </p:txBody>
      </p:sp>
      <p:sp>
        <p:nvSpPr>
          <p:cNvPr id="9" name="Shape 7"/>
          <p:cNvSpPr/>
          <p:nvPr/>
        </p:nvSpPr>
        <p:spPr>
          <a:xfrm rot="60000">
            <a:off x="4389120" y="1353312"/>
            <a:ext cx="3337560" cy="1188720"/>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10" name="Text 8"/>
          <p:cNvSpPr/>
          <p:nvPr/>
        </p:nvSpPr>
        <p:spPr>
          <a:xfrm rot="60000">
            <a:off x="4507992" y="146304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Medical reviewer</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Who is the clinician reviewer before any real patient pilot?</a:t>
            </a:r>
            <a:endParaRPr lang="en-US" sz="1020" dirty="0"/>
          </a:p>
        </p:txBody>
      </p:sp>
      <p:sp>
        <p:nvSpPr>
          <p:cNvPr id="11" name="Shape 9"/>
          <p:cNvSpPr/>
          <p:nvPr/>
        </p:nvSpPr>
        <p:spPr>
          <a:xfrm rot="-60000">
            <a:off x="8183880" y="1353312"/>
            <a:ext cx="3337560" cy="1188720"/>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12" name="Text 10"/>
          <p:cNvSpPr/>
          <p:nvPr/>
        </p:nvSpPr>
        <p:spPr>
          <a:xfrm rot="-60000">
            <a:off x="8302752" y="146304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Exact respiratory use case</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Which condition / label / clinical question will the first model predict?</a:t>
            </a:r>
            <a:endParaRPr lang="en-US" sz="1020" dirty="0"/>
          </a:p>
        </p:txBody>
      </p:sp>
      <p:sp>
        <p:nvSpPr>
          <p:cNvPr id="13" name="Shape 11"/>
          <p:cNvSpPr/>
          <p:nvPr/>
        </p:nvSpPr>
        <p:spPr>
          <a:xfrm rot="60000">
            <a:off x="594360" y="2907792"/>
            <a:ext cx="3337560" cy="1188720"/>
          </a:xfrm>
          <a:prstGeom prst="rect">
            <a:avLst/>
          </a:prstGeom>
          <a:solidFill>
            <a:srgbClr val="F0E8FF"/>
          </a:solidFill>
          <a:ln w="12700">
            <a:solidFill>
              <a:srgbClr val="F0E8FF"/>
            </a:solidFill>
            <a:prstDash val="solid"/>
          </a:ln>
          <a:effectLst>
            <a:outerShdw sx="100000" sy="100000" kx="0" ky="0" algn="bl" rotWithShape="0" blurRad="12700" dist="50800" dir="2700000">
              <a:srgbClr val="8596A0">
                <a:alpha val="15000"/>
              </a:srgbClr>
            </a:outerShdw>
          </a:effectLst>
        </p:spPr>
      </p:sp>
      <p:sp>
        <p:nvSpPr>
          <p:cNvPr id="14" name="Text 12"/>
          <p:cNvSpPr/>
          <p:nvPr/>
        </p:nvSpPr>
        <p:spPr>
          <a:xfrm rot="60000">
            <a:off x="713232" y="301752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Legal compliance</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Which Egyptian laws apply? Which other frameworks apply by market?</a:t>
            </a:r>
            <a:endParaRPr lang="en-US" sz="1020" dirty="0"/>
          </a:p>
        </p:txBody>
      </p:sp>
      <p:sp>
        <p:nvSpPr>
          <p:cNvPr id="15" name="Shape 13"/>
          <p:cNvSpPr/>
          <p:nvPr/>
        </p:nvSpPr>
        <p:spPr>
          <a:xfrm rot="-60000">
            <a:off x="4389120" y="2907792"/>
            <a:ext cx="3337560" cy="1188720"/>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16" name="Text 14"/>
          <p:cNvSpPr/>
          <p:nvPr/>
        </p:nvSpPr>
        <p:spPr>
          <a:xfrm rot="-60000">
            <a:off x="4507992" y="301752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Admin access</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How should RBAC split Super Admin / Ops / Clinical QA / Support?</a:t>
            </a:r>
            <a:endParaRPr lang="en-US" sz="1020" dirty="0"/>
          </a:p>
        </p:txBody>
      </p:sp>
      <p:sp>
        <p:nvSpPr>
          <p:cNvPr id="17" name="Shape 15"/>
          <p:cNvSpPr/>
          <p:nvPr/>
        </p:nvSpPr>
        <p:spPr>
          <a:xfrm rot="60000">
            <a:off x="8183880" y="2907792"/>
            <a:ext cx="3337560" cy="1188720"/>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18" name="Text 16"/>
          <p:cNvSpPr/>
          <p:nvPr/>
        </p:nvSpPr>
        <p:spPr>
          <a:xfrm rot="60000">
            <a:off x="8302752" y="301752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File uploads</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When do medical uploads become active, and what file rules apply?</a:t>
            </a:r>
            <a:endParaRPr lang="en-US" sz="1020" dirty="0"/>
          </a:p>
        </p:txBody>
      </p:sp>
      <p:sp>
        <p:nvSpPr>
          <p:cNvPr id="19" name="Shape 17"/>
          <p:cNvSpPr/>
          <p:nvPr/>
        </p:nvSpPr>
        <p:spPr>
          <a:xfrm rot="-60000">
            <a:off x="594360" y="4462272"/>
            <a:ext cx="3337560" cy="1188720"/>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20" name="Text 18"/>
          <p:cNvSpPr/>
          <p:nvPr/>
        </p:nvSpPr>
        <p:spPr>
          <a:xfrm rot="-60000">
            <a:off x="713232" y="457200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API architecture</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When will frontend / backend separation require a formal API layer?</a:t>
            </a:r>
            <a:endParaRPr lang="en-US" sz="1020" dirty="0"/>
          </a:p>
        </p:txBody>
      </p:sp>
      <p:sp>
        <p:nvSpPr>
          <p:cNvPr id="21" name="Shape 19"/>
          <p:cNvSpPr/>
          <p:nvPr/>
        </p:nvSpPr>
        <p:spPr>
          <a:xfrm rot="60000">
            <a:off x="4389120" y="4462272"/>
            <a:ext cx="3337560" cy="1188720"/>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22" name="Text 20"/>
          <p:cNvSpPr/>
          <p:nvPr/>
        </p:nvSpPr>
        <p:spPr>
          <a:xfrm rot="60000">
            <a:off x="4507992" y="457200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Mobile app type</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Native vs responsive web / PWA after the Streamlit demo?</a:t>
            </a:r>
            <a:endParaRPr lang="en-US" sz="1020" dirty="0"/>
          </a:p>
        </p:txBody>
      </p:sp>
      <p:sp>
        <p:nvSpPr>
          <p:cNvPr id="23" name="Shape 21"/>
          <p:cNvSpPr/>
          <p:nvPr/>
        </p:nvSpPr>
        <p:spPr>
          <a:xfrm rot="-60000">
            <a:off x="8183880" y="4462272"/>
            <a:ext cx="3337560" cy="1188720"/>
          </a:xfrm>
          <a:prstGeom prst="rect">
            <a:avLst/>
          </a:prstGeom>
          <a:solidFill>
            <a:srgbClr val="F0E8FF"/>
          </a:solidFill>
          <a:ln w="12700">
            <a:solidFill>
              <a:srgbClr val="F0E8FF"/>
            </a:solidFill>
            <a:prstDash val="solid"/>
          </a:ln>
          <a:effectLst>
            <a:outerShdw sx="100000" sy="100000" kx="0" ky="0" algn="bl" rotWithShape="0" blurRad="12700" dist="50800" dir="2700000">
              <a:srgbClr val="8596A0">
                <a:alpha val="15000"/>
              </a:srgbClr>
            </a:outerShdw>
          </a:effectLst>
        </p:spPr>
      </p:sp>
      <p:sp>
        <p:nvSpPr>
          <p:cNvPr id="24" name="Text 22"/>
          <p:cNvSpPr/>
          <p:nvPr/>
        </p:nvSpPr>
        <p:spPr>
          <a:xfrm rot="-60000">
            <a:off x="8302752" y="4572000"/>
            <a:ext cx="3099816" cy="969264"/>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Payment model</a:t>
            </a:r>
            <a:endParaRPr lang="en-US" sz="1020" dirty="0"/>
          </a:p>
          <a:p>
            <a:pPr algn="ctr" indent="0" marL="0">
              <a:buNone/>
            </a:pPr>
            <a:r>
              <a:rPr lang="en-US" sz="1020" b="1" dirty="0">
                <a:solidFill>
                  <a:srgbClr val="142A37"/>
                </a:solidFill>
                <a:latin typeface="Noto Sans" pitchFamily="34" charset="0"/>
                <a:ea typeface="Noto Sans" pitchFamily="34" charset="-122"/>
                <a:cs typeface="Noto Sans" pitchFamily="34" charset="-120"/>
              </a:rPr>
              <a:t>What is the commercial pricing / business model?</a:t>
            </a:r>
            <a:endParaRPr lang="en-US" sz="102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Medical Disclaimer — MVP</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disclaimer must be visible on result screens and every PDF report — not hidden only in Terms.</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MEDICAL SAFETY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777240" y="1417320"/>
            <a:ext cx="5349240" cy="3383280"/>
          </a:xfrm>
          <a:prstGeom prst="roundRect">
            <a:avLst>
              <a:gd name="adj" fmla="val 2162"/>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8" name="Shape 6"/>
          <p:cNvSpPr/>
          <p:nvPr/>
        </p:nvSpPr>
        <p:spPr>
          <a:xfrm>
            <a:off x="941832" y="1581912"/>
            <a:ext cx="402336" cy="402336"/>
          </a:xfrm>
          <a:prstGeom prst="ellipse">
            <a:avLst/>
          </a:prstGeom>
          <a:solidFill>
            <a:srgbClr val="FDECEF"/>
          </a:solidFill>
          <a:ln w="12700">
            <a:solidFill>
              <a:srgbClr val="FDECEF"/>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2416" y="1682496"/>
            <a:ext cx="201168" cy="201168"/>
          </a:xfrm>
          <a:prstGeom prst="rect">
            <a:avLst/>
          </a:prstGeom>
        </p:spPr>
      </p:pic>
      <p:sp>
        <p:nvSpPr>
          <p:cNvPr id="10" name="Text 7"/>
          <p:cNvSpPr/>
          <p:nvPr/>
        </p:nvSpPr>
        <p:spPr>
          <a:xfrm>
            <a:off x="1435608" y="1591056"/>
            <a:ext cx="4526280" cy="310896"/>
          </a:xfrm>
          <a:prstGeom prst="rect">
            <a:avLst/>
          </a:prstGeom>
          <a:noFill/>
          <a:ln/>
        </p:spPr>
        <p:txBody>
          <a:bodyPr wrap="square" lIns="0" tIns="0" rIns="0" bIns="0" rtlCol="0" anchor="ctr">
            <a:normAutofit/>
          </a:bodyPr>
          <a:lstStyle/>
          <a:p>
            <a:pPr indent="0" marL="0">
              <a:buNone/>
            </a:pPr>
            <a:r>
              <a:rPr lang="en-US" sz="1500" b="1" dirty="0">
                <a:solidFill>
                  <a:srgbClr val="0B3D4B"/>
                </a:solidFill>
                <a:latin typeface="Noto Sans" pitchFamily="34" charset="0"/>
                <a:ea typeface="Noto Sans" pitchFamily="34" charset="-122"/>
                <a:cs typeface="Noto Sans" pitchFamily="34" charset="-120"/>
              </a:rPr>
              <a:t>Arabic wording from PRD</a:t>
            </a:r>
            <a:endParaRPr lang="en-US" sz="1500" dirty="0"/>
          </a:p>
        </p:txBody>
      </p:sp>
      <p:sp>
        <p:nvSpPr>
          <p:cNvPr id="11" name="Text 8"/>
          <p:cNvSpPr/>
          <p:nvPr/>
        </p:nvSpPr>
        <p:spPr>
          <a:xfrm>
            <a:off x="960120" y="2103120"/>
            <a:ext cx="4983480" cy="2542032"/>
          </a:xfrm>
          <a:prstGeom prst="rect">
            <a:avLst/>
          </a:prstGeom>
          <a:noFill/>
          <a:ln/>
        </p:spPr>
        <p:txBody>
          <a:bodyPr wrap="square" lIns="254" tIns="254" rIns="254" bIns="254" rtlCol="0" anchor="t">
            <a:normAutofit/>
          </a:bodyPr>
          <a:lstStyle/>
          <a:p>
            <a:pPr indent="0" marL="0">
              <a:buNone/>
            </a:pPr>
            <a:r>
              <a:rPr lang="en-US" sz="1120" dirty="0">
                <a:solidFill>
                  <a:srgbClr val="142A37"/>
                </a:solidFill>
                <a:latin typeface="Noto Sans" pitchFamily="34" charset="0"/>
                <a:ea typeface="Noto Sans" pitchFamily="34" charset="-122"/>
                <a:cs typeface="Noto Sans" pitchFamily="34" charset="-120"/>
              </a:rPr>
              <a:t>تنبيه طبي</a:t>
            </a:r>
            <a:endParaRPr lang="en-US" sz="1120" dirty="0"/>
          </a:p>
          <a:p>
            <a:pPr indent="0" marL="0">
              <a:buNone/>
            </a:pPr>
            <a:endParaRPr lang="en-US" sz="1120" dirty="0"/>
          </a:p>
          <a:p>
            <a:pPr indent="0" marL="0">
              <a:buNone/>
            </a:pPr>
            <a:r>
              <a:rPr lang="en-US" sz="1120" dirty="0">
                <a:solidFill>
                  <a:srgbClr val="142A37"/>
                </a:solidFill>
                <a:latin typeface="Noto Sans" pitchFamily="34" charset="0"/>
                <a:ea typeface="Noto Sans" pitchFamily="34" charset="-122"/>
                <a:cs typeface="Noto Sans" pitchFamily="34" charset="-120"/>
              </a:rPr>
              <a:t>المعلومات والنتائج المقدمة عبر HealthVibe AI هي لأغراض التوعية ودعم القرار الطبي فقط، ولا تُعد تشخيصًا طبيًا مستقلًا أو بديلًا عن تقييم طبيب مؤهل. يجب مراجعة النتائج مع طبيب قبل اتخاذ أي قرار علاجي. في حالات الطوارئ أو الأعراض الشديدة، يجب طلب الرعاية الطبية العاجلة من الجهات المختصة فورًا.</a:t>
            </a:r>
            <a:endParaRPr lang="en-US" sz="1120" dirty="0"/>
          </a:p>
        </p:txBody>
      </p:sp>
      <p:sp>
        <p:nvSpPr>
          <p:cNvPr id="12" name="Shape 9"/>
          <p:cNvSpPr/>
          <p:nvPr/>
        </p:nvSpPr>
        <p:spPr>
          <a:xfrm>
            <a:off x="6355080" y="1417320"/>
            <a:ext cx="5029200" cy="3383280"/>
          </a:xfrm>
          <a:prstGeom prst="roundRect">
            <a:avLst>
              <a:gd name="adj" fmla="val 2162"/>
            </a:avLst>
          </a:prstGeom>
          <a:solidFill>
            <a:srgbClr val="FFFFFF"/>
          </a:solidFill>
          <a:ln w="13970">
            <a:solidFill>
              <a:srgbClr val="DDE7EA"/>
            </a:solidFill>
            <a:prstDash val="solid"/>
          </a:ln>
          <a:effectLst>
            <a:outerShdw sx="100000" sy="100000" kx="0" ky="0" algn="bl" rotWithShape="0" blurRad="12700" dist="50800" dir="2700000">
              <a:srgbClr val="A7B8BE">
                <a:alpha val="16000"/>
              </a:srgbClr>
            </a:outerShdw>
          </a:effectLst>
        </p:spPr>
      </p:sp>
      <p:sp>
        <p:nvSpPr>
          <p:cNvPr id="13" name="Shape 10"/>
          <p:cNvSpPr/>
          <p:nvPr/>
        </p:nvSpPr>
        <p:spPr>
          <a:xfrm>
            <a:off x="6519672" y="1581912"/>
            <a:ext cx="402336" cy="402336"/>
          </a:xfrm>
          <a:prstGeom prst="ellipse">
            <a:avLst/>
          </a:prstGeom>
          <a:solidFill>
            <a:srgbClr val="EAF2FF"/>
          </a:solidFill>
          <a:ln w="12700">
            <a:solidFill>
              <a:srgbClr val="EAF2FF"/>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0256" y="1682496"/>
            <a:ext cx="201168" cy="201168"/>
          </a:xfrm>
          <a:prstGeom prst="rect">
            <a:avLst/>
          </a:prstGeom>
        </p:spPr>
      </p:pic>
      <p:sp>
        <p:nvSpPr>
          <p:cNvPr id="15" name="Text 11"/>
          <p:cNvSpPr/>
          <p:nvPr/>
        </p:nvSpPr>
        <p:spPr>
          <a:xfrm>
            <a:off x="7013448" y="1591056"/>
            <a:ext cx="4206240" cy="310896"/>
          </a:xfrm>
          <a:prstGeom prst="rect">
            <a:avLst/>
          </a:prstGeom>
          <a:noFill/>
          <a:ln/>
        </p:spPr>
        <p:txBody>
          <a:bodyPr wrap="square" lIns="0" tIns="0" rIns="0" bIns="0" rtlCol="0" anchor="ctr">
            <a:normAutofit/>
          </a:bodyPr>
          <a:lstStyle/>
          <a:p>
            <a:pPr indent="0" marL="0">
              <a:buNone/>
            </a:pPr>
            <a:r>
              <a:rPr lang="en-US" sz="1500" b="1" dirty="0">
                <a:solidFill>
                  <a:srgbClr val="0B3D4B"/>
                </a:solidFill>
                <a:latin typeface="Noto Sans" pitchFamily="34" charset="0"/>
                <a:ea typeface="Noto Sans" pitchFamily="34" charset="-122"/>
                <a:cs typeface="Noto Sans" pitchFamily="34" charset="-120"/>
              </a:rPr>
              <a:t>Suggested English wording</a:t>
            </a:r>
            <a:endParaRPr lang="en-US" sz="1500" dirty="0"/>
          </a:p>
        </p:txBody>
      </p:sp>
      <p:sp>
        <p:nvSpPr>
          <p:cNvPr id="16" name="Text 12"/>
          <p:cNvSpPr/>
          <p:nvPr/>
        </p:nvSpPr>
        <p:spPr>
          <a:xfrm>
            <a:off x="6537960" y="2103120"/>
            <a:ext cx="4663440" cy="2542032"/>
          </a:xfrm>
          <a:prstGeom prst="rect">
            <a:avLst/>
          </a:prstGeom>
          <a:noFill/>
          <a:ln/>
        </p:spPr>
        <p:txBody>
          <a:bodyPr wrap="square" lIns="254" tIns="254" rIns="254" bIns="254" rtlCol="0" anchor="t">
            <a:normAutofit/>
          </a:bodyPr>
          <a:lstStyle/>
          <a:p>
            <a:pPr indent="0" marL="0">
              <a:buNone/>
            </a:pPr>
            <a:r>
              <a:rPr lang="en-US" sz="1120" dirty="0">
                <a:solidFill>
                  <a:srgbClr val="142A37"/>
                </a:solidFill>
                <a:latin typeface="Noto Sans" pitchFamily="34" charset="0"/>
                <a:ea typeface="Noto Sans" pitchFamily="34" charset="-122"/>
                <a:cs typeface="Noto Sans" pitchFamily="34" charset="-120"/>
              </a:rPr>
              <a:t>Medical Disclaimer: HealthVibe AI provides informational and clinical decision-support outputs only. It does not provide an independent medical diagnosis and is not a substitute for evaluation by a qualified healthcare professional. Results should be reviewed by a clinician before treatment decisions are made. In an emergency or with severe symptoms, seek urgent medical care immediately.</a:t>
            </a:r>
            <a:endParaRPr lang="en-US" sz="1120" dirty="0"/>
          </a:p>
        </p:txBody>
      </p:sp>
      <p:sp>
        <p:nvSpPr>
          <p:cNvPr id="17" name="Shape 13"/>
          <p:cNvSpPr/>
          <p:nvPr/>
        </p:nvSpPr>
        <p:spPr>
          <a:xfrm>
            <a:off x="1965960" y="5230368"/>
            <a:ext cx="8366760" cy="566928"/>
          </a:xfrm>
          <a:prstGeom prst="roundRect">
            <a:avLst>
              <a:gd name="adj" fmla="val 16129"/>
            </a:avLst>
          </a:prstGeom>
          <a:solidFill>
            <a:srgbClr val="FFF6E5"/>
          </a:solidFill>
          <a:ln w="12700">
            <a:solidFill>
              <a:srgbClr val="F1D188"/>
            </a:solidFill>
            <a:prstDash val="solid"/>
          </a:ln>
        </p:spPr>
      </p:sp>
      <p:sp>
        <p:nvSpPr>
          <p:cNvPr id="18" name="Text 14"/>
          <p:cNvSpPr/>
          <p:nvPr/>
        </p:nvSpPr>
        <p:spPr>
          <a:xfrm>
            <a:off x="2194560" y="5413248"/>
            <a:ext cx="7909560" cy="201168"/>
          </a:xfrm>
          <a:prstGeom prst="rect">
            <a:avLst/>
          </a:prstGeom>
          <a:noFill/>
          <a:ln/>
        </p:spPr>
        <p:txBody>
          <a:bodyPr wrap="square" lIns="0" tIns="0" rIns="0" bIns="0" rtlCol="0" anchor="ctr">
            <a:normAutofit/>
          </a:bodyPr>
          <a:lstStyle/>
          <a:p>
            <a:pPr algn="ctr" indent="0" marL="0">
              <a:buNone/>
            </a:pPr>
            <a:r>
              <a:rPr lang="en-US" sz="960" b="1" dirty="0">
                <a:solidFill>
                  <a:srgbClr val="A36E13"/>
                </a:solidFill>
                <a:latin typeface="Noto Sans" pitchFamily="34" charset="0"/>
                <a:ea typeface="Noto Sans" pitchFamily="34" charset="-122"/>
                <a:cs typeface="Noto Sans" pitchFamily="34" charset="-120"/>
              </a:rPr>
              <a:t>Final legal wording should be reviewed by a medical / legal professional before commercial launch, especially for new countries.</a:t>
            </a:r>
            <a:endParaRPr lang="en-US" sz="96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Definition of Done — Final Delivery</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The presentation build is ready when the complete Respiratory workflow and delivery assets are demonstrably working.</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DELIVERY</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685800" y="1389888"/>
            <a:ext cx="256032" cy="256032"/>
          </a:xfrm>
          <a:prstGeom prst="ellipse">
            <a:avLst/>
          </a:prstGeom>
          <a:solidFill>
            <a:srgbClr val="EAF8F2"/>
          </a:solidFill>
          <a:ln w="12700">
            <a:solidFill>
              <a:srgbClr val="2FAF7D"/>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808" y="1453896"/>
            <a:ext cx="128016" cy="128016"/>
          </a:xfrm>
          <a:prstGeom prst="rect">
            <a:avLst/>
          </a:prstGeom>
        </p:spPr>
      </p:pic>
      <p:sp>
        <p:nvSpPr>
          <p:cNvPr id="9" name="Text 6"/>
          <p:cNvSpPr/>
          <p:nvPr/>
        </p:nvSpPr>
        <p:spPr>
          <a:xfrm>
            <a:off x="1069848" y="1371600"/>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Deployment link works</a:t>
            </a:r>
            <a:endParaRPr lang="en-US" sz="1020" dirty="0"/>
          </a:p>
        </p:txBody>
      </p:sp>
      <p:sp>
        <p:nvSpPr>
          <p:cNvPr id="10" name="Shape 7"/>
          <p:cNvSpPr/>
          <p:nvPr/>
        </p:nvSpPr>
        <p:spPr>
          <a:xfrm>
            <a:off x="6263640" y="1389888"/>
            <a:ext cx="256032" cy="256032"/>
          </a:xfrm>
          <a:prstGeom prst="ellipse">
            <a:avLst/>
          </a:prstGeom>
          <a:solidFill>
            <a:srgbClr val="EAF8F2"/>
          </a:solidFill>
          <a:ln w="12700">
            <a:solidFill>
              <a:srgbClr val="2FAF7D"/>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7648" y="1453896"/>
            <a:ext cx="128016" cy="128016"/>
          </a:xfrm>
          <a:prstGeom prst="rect">
            <a:avLst/>
          </a:prstGeom>
        </p:spPr>
      </p:pic>
      <p:sp>
        <p:nvSpPr>
          <p:cNvPr id="12" name="Text 8"/>
          <p:cNvSpPr/>
          <p:nvPr/>
        </p:nvSpPr>
        <p:spPr>
          <a:xfrm>
            <a:off x="6647688" y="1371600"/>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Source code is organized on GitHub</a:t>
            </a:r>
            <a:endParaRPr lang="en-US" sz="1020" dirty="0"/>
          </a:p>
        </p:txBody>
      </p:sp>
      <p:sp>
        <p:nvSpPr>
          <p:cNvPr id="13" name="Shape 9"/>
          <p:cNvSpPr/>
          <p:nvPr/>
        </p:nvSpPr>
        <p:spPr>
          <a:xfrm>
            <a:off x="685800" y="2139696"/>
            <a:ext cx="256032" cy="256032"/>
          </a:xfrm>
          <a:prstGeom prst="ellipse">
            <a:avLst/>
          </a:prstGeom>
          <a:solidFill>
            <a:srgbClr val="EAF8F2"/>
          </a:solidFill>
          <a:ln w="12700">
            <a:solidFill>
              <a:srgbClr val="2FAF7D"/>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808" y="2203704"/>
            <a:ext cx="128016" cy="128016"/>
          </a:xfrm>
          <a:prstGeom prst="rect">
            <a:avLst/>
          </a:prstGeom>
        </p:spPr>
      </p:pic>
      <p:sp>
        <p:nvSpPr>
          <p:cNvPr id="15" name="Text 10"/>
          <p:cNvSpPr/>
          <p:nvPr/>
        </p:nvSpPr>
        <p:spPr>
          <a:xfrm>
            <a:off x="1069848" y="2121408"/>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Basic documentation exists</a:t>
            </a:r>
            <a:endParaRPr lang="en-US" sz="1020" dirty="0"/>
          </a:p>
        </p:txBody>
      </p:sp>
      <p:sp>
        <p:nvSpPr>
          <p:cNvPr id="16" name="Shape 11"/>
          <p:cNvSpPr/>
          <p:nvPr/>
        </p:nvSpPr>
        <p:spPr>
          <a:xfrm>
            <a:off x="6263640" y="2139696"/>
            <a:ext cx="256032" cy="256032"/>
          </a:xfrm>
          <a:prstGeom prst="ellipse">
            <a:avLst/>
          </a:prstGeom>
          <a:solidFill>
            <a:srgbClr val="EAF8F2"/>
          </a:solidFill>
          <a:ln w="12700">
            <a:solidFill>
              <a:srgbClr val="2FAF7D"/>
            </a:solidFill>
            <a:prstDash val="solid"/>
          </a:ln>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27648" y="2203704"/>
            <a:ext cx="128016" cy="128016"/>
          </a:xfrm>
          <a:prstGeom prst="rect">
            <a:avLst/>
          </a:prstGeom>
        </p:spPr>
      </p:pic>
      <p:sp>
        <p:nvSpPr>
          <p:cNvPr id="18" name="Text 12"/>
          <p:cNvSpPr/>
          <p:nvPr/>
        </p:nvSpPr>
        <p:spPr>
          <a:xfrm>
            <a:off x="6647688" y="2121408"/>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Critical-flow test cases exist and pass</a:t>
            </a:r>
            <a:endParaRPr lang="en-US" sz="1020" dirty="0"/>
          </a:p>
        </p:txBody>
      </p:sp>
      <p:sp>
        <p:nvSpPr>
          <p:cNvPr id="19" name="Shape 13"/>
          <p:cNvSpPr/>
          <p:nvPr/>
        </p:nvSpPr>
        <p:spPr>
          <a:xfrm>
            <a:off x="685800" y="2889504"/>
            <a:ext cx="256032" cy="256032"/>
          </a:xfrm>
          <a:prstGeom prst="ellipse">
            <a:avLst/>
          </a:prstGeom>
          <a:solidFill>
            <a:srgbClr val="EAF8F2"/>
          </a:solidFill>
          <a:ln w="12700">
            <a:solidFill>
              <a:srgbClr val="2FAF7D"/>
            </a:solidFill>
            <a:prstDash val="solid"/>
          </a:ln>
        </p:spPr>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9808" y="2953512"/>
            <a:ext cx="128016" cy="128016"/>
          </a:xfrm>
          <a:prstGeom prst="rect">
            <a:avLst/>
          </a:prstGeom>
        </p:spPr>
      </p:pic>
      <p:sp>
        <p:nvSpPr>
          <p:cNvPr id="21" name="Text 14"/>
          <p:cNvSpPr/>
          <p:nvPr/>
        </p:nvSpPr>
        <p:spPr>
          <a:xfrm>
            <a:off x="1069848" y="2871216"/>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Demo video is ready</a:t>
            </a:r>
            <a:endParaRPr lang="en-US" sz="1020" dirty="0"/>
          </a:p>
        </p:txBody>
      </p:sp>
      <p:sp>
        <p:nvSpPr>
          <p:cNvPr id="22" name="Shape 15"/>
          <p:cNvSpPr/>
          <p:nvPr/>
        </p:nvSpPr>
        <p:spPr>
          <a:xfrm>
            <a:off x="6263640" y="2889504"/>
            <a:ext cx="256032" cy="256032"/>
          </a:xfrm>
          <a:prstGeom prst="ellipse">
            <a:avLst/>
          </a:prstGeom>
          <a:solidFill>
            <a:srgbClr val="EAF8F2"/>
          </a:solidFill>
          <a:ln w="12700">
            <a:solidFill>
              <a:srgbClr val="2FAF7D"/>
            </a:solidFill>
            <a:prstDash val="solid"/>
          </a:ln>
        </p:spPr>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27648" y="2953512"/>
            <a:ext cx="128016" cy="128016"/>
          </a:xfrm>
          <a:prstGeom prst="rect">
            <a:avLst/>
          </a:prstGeom>
        </p:spPr>
      </p:pic>
      <p:sp>
        <p:nvSpPr>
          <p:cNvPr id="24" name="Text 16"/>
          <p:cNvSpPr/>
          <p:nvPr/>
        </p:nvSpPr>
        <p:spPr>
          <a:xfrm>
            <a:off x="6647688" y="2871216"/>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Respiratory end-to-end works: patient input → doctor review → PDF report</a:t>
            </a:r>
            <a:endParaRPr lang="en-US" sz="1020" dirty="0"/>
          </a:p>
        </p:txBody>
      </p:sp>
      <p:sp>
        <p:nvSpPr>
          <p:cNvPr id="25" name="Shape 17"/>
          <p:cNvSpPr/>
          <p:nvPr/>
        </p:nvSpPr>
        <p:spPr>
          <a:xfrm>
            <a:off x="685800" y="3639312"/>
            <a:ext cx="256032" cy="256032"/>
          </a:xfrm>
          <a:prstGeom prst="ellipse">
            <a:avLst/>
          </a:prstGeom>
          <a:solidFill>
            <a:srgbClr val="EAF8F2"/>
          </a:solidFill>
          <a:ln w="12700">
            <a:solidFill>
              <a:srgbClr val="2FAF7D"/>
            </a:solidFill>
            <a:prstDash val="solid"/>
          </a:ln>
        </p:spPr>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9808" y="3703320"/>
            <a:ext cx="128016" cy="128016"/>
          </a:xfrm>
          <a:prstGeom prst="rect">
            <a:avLst/>
          </a:prstGeom>
        </p:spPr>
      </p:pic>
      <p:sp>
        <p:nvSpPr>
          <p:cNvPr id="27" name="Text 18"/>
          <p:cNvSpPr/>
          <p:nvPr/>
        </p:nvSpPr>
        <p:spPr>
          <a:xfrm>
            <a:off x="1069848" y="3621024"/>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Patient / Doctor / Admin dashboards are clear</a:t>
            </a:r>
            <a:endParaRPr lang="en-US" sz="1020" dirty="0"/>
          </a:p>
        </p:txBody>
      </p:sp>
      <p:sp>
        <p:nvSpPr>
          <p:cNvPr id="28" name="Shape 19"/>
          <p:cNvSpPr/>
          <p:nvPr/>
        </p:nvSpPr>
        <p:spPr>
          <a:xfrm>
            <a:off x="6263640" y="3639312"/>
            <a:ext cx="256032" cy="256032"/>
          </a:xfrm>
          <a:prstGeom prst="ellipse">
            <a:avLst/>
          </a:prstGeom>
          <a:solidFill>
            <a:srgbClr val="EAF8F2"/>
          </a:solidFill>
          <a:ln w="12700">
            <a:solidFill>
              <a:srgbClr val="2FAF7D"/>
            </a:solidFill>
            <a:prstDash val="solid"/>
          </a:ln>
        </p:spPr>
      </p:sp>
      <p:pic>
        <p:nvPicPr>
          <p:cNvPr id="2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27648" y="3703320"/>
            <a:ext cx="128016" cy="128016"/>
          </a:xfrm>
          <a:prstGeom prst="rect">
            <a:avLst/>
          </a:prstGeom>
        </p:spPr>
      </p:pic>
      <p:sp>
        <p:nvSpPr>
          <p:cNvPr id="30" name="Text 20"/>
          <p:cNvSpPr/>
          <p:nvPr/>
        </p:nvSpPr>
        <p:spPr>
          <a:xfrm>
            <a:off x="6647688" y="3621024"/>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Arabic / English work acceptably</a:t>
            </a:r>
            <a:endParaRPr lang="en-US" sz="1020" dirty="0"/>
          </a:p>
        </p:txBody>
      </p:sp>
      <p:sp>
        <p:nvSpPr>
          <p:cNvPr id="31" name="Shape 21"/>
          <p:cNvSpPr/>
          <p:nvPr/>
        </p:nvSpPr>
        <p:spPr>
          <a:xfrm>
            <a:off x="685800" y="4389120"/>
            <a:ext cx="256032" cy="256032"/>
          </a:xfrm>
          <a:prstGeom prst="ellipse">
            <a:avLst/>
          </a:prstGeom>
          <a:solidFill>
            <a:srgbClr val="EAF8F2"/>
          </a:solidFill>
          <a:ln w="12700">
            <a:solidFill>
              <a:srgbClr val="2FAF7D"/>
            </a:solidFill>
            <a:prstDash val="solid"/>
          </a:ln>
        </p:spPr>
      </p:sp>
      <p:pic>
        <p:nvPicPr>
          <p:cNvPr id="3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49808" y="4453128"/>
            <a:ext cx="128016" cy="128016"/>
          </a:xfrm>
          <a:prstGeom prst="rect">
            <a:avLst/>
          </a:prstGeom>
        </p:spPr>
      </p:pic>
      <p:sp>
        <p:nvSpPr>
          <p:cNvPr id="33" name="Text 22"/>
          <p:cNvSpPr/>
          <p:nvPr/>
        </p:nvSpPr>
        <p:spPr>
          <a:xfrm>
            <a:off x="1069848" y="4370832"/>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Model metrics and model version are documented</a:t>
            </a:r>
            <a:endParaRPr lang="en-US" sz="1020" dirty="0"/>
          </a:p>
        </p:txBody>
      </p:sp>
      <p:sp>
        <p:nvSpPr>
          <p:cNvPr id="34" name="Shape 23"/>
          <p:cNvSpPr/>
          <p:nvPr/>
        </p:nvSpPr>
        <p:spPr>
          <a:xfrm>
            <a:off x="6263640" y="4389120"/>
            <a:ext cx="256032" cy="256032"/>
          </a:xfrm>
          <a:prstGeom prst="ellipse">
            <a:avLst/>
          </a:prstGeom>
          <a:solidFill>
            <a:srgbClr val="EAF8F2"/>
          </a:solidFill>
          <a:ln w="12700">
            <a:solidFill>
              <a:srgbClr val="2FAF7D"/>
            </a:solidFill>
            <a:prstDash val="solid"/>
          </a:ln>
        </p:spPr>
      </p:sp>
      <p:pic>
        <p:nvPicPr>
          <p:cNvPr id="35"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327648" y="4453128"/>
            <a:ext cx="128016" cy="128016"/>
          </a:xfrm>
          <a:prstGeom prst="rect">
            <a:avLst/>
          </a:prstGeom>
        </p:spPr>
      </p:pic>
      <p:sp>
        <p:nvSpPr>
          <p:cNvPr id="36" name="Text 24"/>
          <p:cNvSpPr/>
          <p:nvPr/>
        </p:nvSpPr>
        <p:spPr>
          <a:xfrm>
            <a:off x="6647688" y="4370832"/>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Medical disclaimer is visible</a:t>
            </a:r>
            <a:endParaRPr lang="en-US" sz="1020" dirty="0"/>
          </a:p>
        </p:txBody>
      </p:sp>
      <p:sp>
        <p:nvSpPr>
          <p:cNvPr id="37" name="Shape 25"/>
          <p:cNvSpPr/>
          <p:nvPr/>
        </p:nvSpPr>
        <p:spPr>
          <a:xfrm>
            <a:off x="685800" y="5138928"/>
            <a:ext cx="256032" cy="256032"/>
          </a:xfrm>
          <a:prstGeom prst="ellipse">
            <a:avLst/>
          </a:prstGeom>
          <a:solidFill>
            <a:srgbClr val="EAF8F2"/>
          </a:solidFill>
          <a:ln w="12700">
            <a:solidFill>
              <a:srgbClr val="2FAF7D"/>
            </a:solidFill>
            <a:prstDash val="solid"/>
          </a:ln>
        </p:spPr>
      </p:sp>
      <p:pic>
        <p:nvPicPr>
          <p:cNvPr id="3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9808" y="5202936"/>
            <a:ext cx="128016" cy="128016"/>
          </a:xfrm>
          <a:prstGeom prst="rect">
            <a:avLst/>
          </a:prstGeom>
        </p:spPr>
      </p:pic>
      <p:sp>
        <p:nvSpPr>
          <p:cNvPr id="39" name="Text 26"/>
          <p:cNvSpPr/>
          <p:nvPr/>
        </p:nvSpPr>
        <p:spPr>
          <a:xfrm>
            <a:off x="1069848" y="5120640"/>
            <a:ext cx="4800600" cy="301752"/>
          </a:xfrm>
          <a:prstGeom prst="rect">
            <a:avLst/>
          </a:prstGeom>
          <a:noFill/>
          <a:ln/>
        </p:spPr>
        <p:txBody>
          <a:bodyPr wrap="square" lIns="0" tIns="0" rIns="0" bIns="0" rtlCol="0" anchor="ctr">
            <a:normAutofit/>
          </a:bodyPr>
          <a:lstStyle/>
          <a:p>
            <a:pPr indent="0" marL="0">
              <a:buNone/>
            </a:pPr>
            <a:r>
              <a:rPr lang="en-US" sz="1020" b="1" dirty="0">
                <a:solidFill>
                  <a:srgbClr val="142A37"/>
                </a:solidFill>
                <a:latin typeface="Noto Sans" pitchFamily="34" charset="0"/>
                <a:ea typeface="Noto Sans" pitchFamily="34" charset="-122"/>
                <a:cs typeface="Noto Sans" pitchFamily="34" charset="-120"/>
              </a:rPr>
              <a:t>Risks / limitations are clearly presented</a:t>
            </a:r>
            <a:endParaRPr lang="en-US" sz="1020" dirty="0"/>
          </a:p>
        </p:txBody>
      </p:sp>
      <p:sp>
        <p:nvSpPr>
          <p:cNvPr id="40" name="Shape 27"/>
          <p:cNvSpPr/>
          <p:nvPr/>
        </p:nvSpPr>
        <p:spPr>
          <a:xfrm>
            <a:off x="1325880" y="5650992"/>
            <a:ext cx="9555480" cy="530352"/>
          </a:xfrm>
          <a:prstGeom prst="roundRect">
            <a:avLst>
              <a:gd name="adj" fmla="val 20690"/>
            </a:avLst>
          </a:prstGeom>
          <a:solidFill>
            <a:srgbClr val="092B33"/>
          </a:solidFill>
          <a:ln w="12700">
            <a:solidFill>
              <a:srgbClr val="092B33"/>
            </a:solidFill>
            <a:prstDash val="solid"/>
          </a:ln>
        </p:spPr>
      </p:sp>
      <p:sp>
        <p:nvSpPr>
          <p:cNvPr id="41" name="Text 28"/>
          <p:cNvSpPr/>
          <p:nvPr/>
        </p:nvSpPr>
        <p:spPr>
          <a:xfrm>
            <a:off x="1645920" y="5824728"/>
            <a:ext cx="8915400" cy="182880"/>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latin typeface="Noto Sans" pitchFamily="34" charset="0"/>
                <a:ea typeface="Noto Sans" pitchFamily="34" charset="-122"/>
                <a:cs typeface="Noto Sans" pitchFamily="34" charset="-120"/>
              </a:rPr>
              <a:t>Winning strategy: one reliable Respiratory module + complete Patient/Doctor/Admin flow + safe medical report + doctor review + privacy foundation.</a:t>
            </a:r>
            <a:endParaRPr lang="en-US" sz="102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502920"/>
            <a:ext cx="8138160" cy="438912"/>
          </a:xfrm>
          <a:prstGeom prst="rect">
            <a:avLst/>
          </a:prstGeom>
          <a:noFill/>
          <a:ln/>
        </p:spPr>
        <p:txBody>
          <a:bodyPr wrap="square" lIns="0" tIns="0" rIns="0" bIns="0" rtlCol="0" anchor="ctr">
            <a:normAutofit/>
          </a:bodyPr>
          <a:lstStyle/>
          <a:p>
            <a:pPr indent="0" marL="0">
              <a:buNone/>
            </a:pPr>
            <a:r>
              <a:rPr lang="en-US" sz="2500" b="1" dirty="0">
                <a:solidFill>
                  <a:srgbClr val="142A37"/>
                </a:solidFill>
                <a:latin typeface="Noto Sans" pitchFamily="34" charset="0"/>
                <a:ea typeface="Noto Sans" pitchFamily="34" charset="-122"/>
                <a:cs typeface="Noto Sans" pitchFamily="34" charset="-120"/>
              </a:rPr>
              <a:t>Working Brainstorm Canvas</a:t>
            </a:r>
            <a:endParaRPr lang="en-US" sz="2500" dirty="0"/>
          </a:p>
        </p:txBody>
      </p:sp>
      <p:sp>
        <p:nvSpPr>
          <p:cNvPr id="3" name="Text 1"/>
          <p:cNvSpPr/>
          <p:nvPr/>
        </p:nvSpPr>
        <p:spPr>
          <a:xfrm>
            <a:off x="521208" y="987552"/>
            <a:ext cx="8869680" cy="292608"/>
          </a:xfrm>
          <a:prstGeom prst="rect">
            <a:avLst/>
          </a:prstGeom>
          <a:noFill/>
          <a:ln/>
        </p:spPr>
        <p:txBody>
          <a:bodyPr wrap="square" lIns="0" tIns="0" rIns="0" bIns="0" rtlCol="0" anchor="ctr">
            <a:normAutofit/>
          </a:bodyPr>
          <a:lstStyle/>
          <a:p>
            <a:pPr indent="0" marL="0">
              <a:buNone/>
            </a:pPr>
            <a:r>
              <a:rPr lang="en-US" sz="1080" dirty="0">
                <a:solidFill>
                  <a:srgbClr val="5F7180"/>
                </a:solidFill>
                <a:latin typeface="Noto Sans" pitchFamily="34" charset="0"/>
                <a:ea typeface="Noto Sans" pitchFamily="34" charset="-122"/>
                <a:cs typeface="Noto Sans" pitchFamily="34" charset="-120"/>
              </a:rPr>
              <a:t>Use this slide live with the team. Everything below is editable.</a:t>
            </a:r>
            <a:endParaRPr lang="en-US" sz="1080" dirty="0"/>
          </a:p>
        </p:txBody>
      </p:sp>
      <p:sp>
        <p:nvSpPr>
          <p:cNvPr id="4" name="Shape 2"/>
          <p:cNvSpPr/>
          <p:nvPr/>
        </p:nvSpPr>
        <p:spPr>
          <a:xfrm>
            <a:off x="9646920" y="521208"/>
            <a:ext cx="2011680" cy="310896"/>
          </a:xfrm>
          <a:prstGeom prst="roundRect">
            <a:avLst>
              <a:gd name="adj" fmla="val 23529"/>
            </a:avLst>
          </a:prstGeom>
          <a:solidFill>
            <a:srgbClr val="12B8A6"/>
          </a:solidFill>
          <a:ln w="12700">
            <a:solidFill>
              <a:srgbClr val="12B8A6"/>
            </a:solidFill>
            <a:prstDash val="solid"/>
          </a:ln>
        </p:spPr>
      </p:sp>
      <p:sp>
        <p:nvSpPr>
          <p:cNvPr id="5" name="Text 3"/>
          <p:cNvSpPr/>
          <p:nvPr/>
        </p:nvSpPr>
        <p:spPr>
          <a:xfrm>
            <a:off x="9720072" y="585216"/>
            <a:ext cx="1865376" cy="14630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Noto Sans" pitchFamily="34" charset="0"/>
                <a:ea typeface="Noto Sans" pitchFamily="34" charset="-122"/>
                <a:cs typeface="Noto Sans" pitchFamily="34" charset="-120"/>
              </a:rPr>
              <a:t>WORKSHOP</a:t>
            </a:r>
            <a:endParaRPr lang="en-US" sz="850" dirty="0"/>
          </a:p>
        </p:txBody>
      </p:sp>
      <p:sp>
        <p:nvSpPr>
          <p:cNvPr id="6" name="Text 4"/>
          <p:cNvSpPr/>
          <p:nvPr/>
        </p:nvSpPr>
        <p:spPr>
          <a:xfrm>
            <a:off x="8503920" y="6272784"/>
            <a:ext cx="3200400" cy="155448"/>
          </a:xfrm>
          <a:prstGeom prst="rect">
            <a:avLst/>
          </a:prstGeom>
          <a:noFill/>
          <a:ln/>
        </p:spPr>
        <p:txBody>
          <a:bodyPr wrap="square" lIns="0" tIns="0" rIns="0" bIns="0" rtlCol="0" anchor="ctr">
            <a:normAutofit/>
          </a:bodyPr>
          <a:lstStyle/>
          <a:p>
            <a:pPr algn="r" indent="0" marL="0">
              <a:buNone/>
            </a:pPr>
            <a:r>
              <a:rPr lang="en-US" sz="720" dirty="0">
                <a:solidFill>
                  <a:srgbClr val="A0ABB4"/>
                </a:solidFill>
                <a:latin typeface="Noto Sans" pitchFamily="34" charset="0"/>
                <a:ea typeface="Noto Sans" pitchFamily="34" charset="-122"/>
                <a:cs typeface="Noto Sans" pitchFamily="34" charset="-120"/>
              </a:rPr>
              <a:t>Source: HealthVibe AI PRD v1.0</a:t>
            </a:r>
            <a:endParaRPr lang="en-US" sz="720" dirty="0"/>
          </a:p>
        </p:txBody>
      </p:sp>
      <p:sp>
        <p:nvSpPr>
          <p:cNvPr id="7" name="Shape 5"/>
          <p:cNvSpPr/>
          <p:nvPr/>
        </p:nvSpPr>
        <p:spPr>
          <a:xfrm>
            <a:off x="502920" y="1325880"/>
            <a:ext cx="2148840" cy="438912"/>
          </a:xfrm>
          <a:prstGeom prst="roundRect">
            <a:avLst>
              <a:gd name="adj" fmla="val 20833"/>
            </a:avLst>
          </a:prstGeom>
          <a:solidFill>
            <a:srgbClr val="E65B66"/>
          </a:solidFill>
          <a:ln w="12700">
            <a:solidFill>
              <a:srgbClr val="E65B66"/>
            </a:solidFill>
            <a:prstDash val="solid"/>
          </a:ln>
        </p:spPr>
      </p:sp>
      <p:sp>
        <p:nvSpPr>
          <p:cNvPr id="8" name="Text 6"/>
          <p:cNvSpPr/>
          <p:nvPr/>
        </p:nvSpPr>
        <p:spPr>
          <a:xfrm>
            <a:off x="576072" y="1463040"/>
            <a:ext cx="2002536"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pitchFamily="34" charset="0"/>
                <a:ea typeface="Noto Sans" pitchFamily="34" charset="-122"/>
                <a:cs typeface="Noto Sans" pitchFamily="34" charset="-120"/>
              </a:rPr>
              <a:t>PROBLEM</a:t>
            </a:r>
            <a:endParaRPr lang="en-US" sz="950" dirty="0"/>
          </a:p>
        </p:txBody>
      </p:sp>
      <p:sp>
        <p:nvSpPr>
          <p:cNvPr id="9" name="Shape 7"/>
          <p:cNvSpPr/>
          <p:nvPr/>
        </p:nvSpPr>
        <p:spPr>
          <a:xfrm>
            <a:off x="2816352" y="1325880"/>
            <a:ext cx="2148840" cy="438912"/>
          </a:xfrm>
          <a:prstGeom prst="roundRect">
            <a:avLst>
              <a:gd name="adj" fmla="val 20833"/>
            </a:avLst>
          </a:prstGeom>
          <a:solidFill>
            <a:srgbClr val="2F80ED"/>
          </a:solidFill>
          <a:ln w="12700">
            <a:solidFill>
              <a:srgbClr val="2F80ED"/>
            </a:solidFill>
            <a:prstDash val="solid"/>
          </a:ln>
        </p:spPr>
      </p:sp>
      <p:sp>
        <p:nvSpPr>
          <p:cNvPr id="10" name="Text 8"/>
          <p:cNvSpPr/>
          <p:nvPr/>
        </p:nvSpPr>
        <p:spPr>
          <a:xfrm>
            <a:off x="2889504" y="1463040"/>
            <a:ext cx="2002536"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pitchFamily="34" charset="0"/>
                <a:ea typeface="Noto Sans" pitchFamily="34" charset="-122"/>
                <a:cs typeface="Noto Sans" pitchFamily="34" charset="-120"/>
              </a:rPr>
              <a:t>AUDIENCE</a:t>
            </a:r>
            <a:endParaRPr lang="en-US" sz="950" dirty="0"/>
          </a:p>
        </p:txBody>
      </p:sp>
      <p:sp>
        <p:nvSpPr>
          <p:cNvPr id="11" name="Shape 9"/>
          <p:cNvSpPr/>
          <p:nvPr/>
        </p:nvSpPr>
        <p:spPr>
          <a:xfrm>
            <a:off x="5129784" y="1325880"/>
            <a:ext cx="2148840" cy="438912"/>
          </a:xfrm>
          <a:prstGeom prst="roundRect">
            <a:avLst>
              <a:gd name="adj" fmla="val 20833"/>
            </a:avLst>
          </a:prstGeom>
          <a:solidFill>
            <a:srgbClr val="12B8A6"/>
          </a:solidFill>
          <a:ln w="12700">
            <a:solidFill>
              <a:srgbClr val="12B8A6"/>
            </a:solidFill>
            <a:prstDash val="solid"/>
          </a:ln>
        </p:spPr>
      </p:sp>
      <p:sp>
        <p:nvSpPr>
          <p:cNvPr id="12" name="Text 10"/>
          <p:cNvSpPr/>
          <p:nvPr/>
        </p:nvSpPr>
        <p:spPr>
          <a:xfrm>
            <a:off x="5202936" y="1463040"/>
            <a:ext cx="2002536"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pitchFamily="34" charset="0"/>
                <a:ea typeface="Noto Sans" pitchFamily="34" charset="-122"/>
                <a:cs typeface="Noto Sans" pitchFamily="34" charset="-120"/>
              </a:rPr>
              <a:t>MVP / SOLUTION</a:t>
            </a:r>
            <a:endParaRPr lang="en-US" sz="950" dirty="0"/>
          </a:p>
        </p:txBody>
      </p:sp>
      <p:sp>
        <p:nvSpPr>
          <p:cNvPr id="13" name="Shape 11"/>
          <p:cNvSpPr/>
          <p:nvPr/>
        </p:nvSpPr>
        <p:spPr>
          <a:xfrm>
            <a:off x="7443216" y="1325880"/>
            <a:ext cx="2148840" cy="438912"/>
          </a:xfrm>
          <a:prstGeom prst="roundRect">
            <a:avLst>
              <a:gd name="adj" fmla="val 20833"/>
            </a:avLst>
          </a:prstGeom>
          <a:solidFill>
            <a:srgbClr val="2FAF7D"/>
          </a:solidFill>
          <a:ln w="12700">
            <a:solidFill>
              <a:srgbClr val="2FAF7D"/>
            </a:solidFill>
            <a:prstDash val="solid"/>
          </a:ln>
        </p:spPr>
      </p:sp>
      <p:sp>
        <p:nvSpPr>
          <p:cNvPr id="14" name="Text 12"/>
          <p:cNvSpPr/>
          <p:nvPr/>
        </p:nvSpPr>
        <p:spPr>
          <a:xfrm>
            <a:off x="7516368" y="1463040"/>
            <a:ext cx="2002536"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pitchFamily="34" charset="0"/>
                <a:ea typeface="Noto Sans" pitchFamily="34" charset="-122"/>
                <a:cs typeface="Noto Sans" pitchFamily="34" charset="-120"/>
              </a:rPr>
              <a:t>SUCCESS</a:t>
            </a:r>
            <a:endParaRPr lang="en-US" sz="950" dirty="0"/>
          </a:p>
        </p:txBody>
      </p:sp>
      <p:sp>
        <p:nvSpPr>
          <p:cNvPr id="15" name="Shape 13"/>
          <p:cNvSpPr/>
          <p:nvPr/>
        </p:nvSpPr>
        <p:spPr>
          <a:xfrm>
            <a:off x="9756648" y="1325880"/>
            <a:ext cx="1920240" cy="438912"/>
          </a:xfrm>
          <a:prstGeom prst="roundRect">
            <a:avLst>
              <a:gd name="adj" fmla="val 20833"/>
            </a:avLst>
          </a:prstGeom>
          <a:solidFill>
            <a:srgbClr val="F3B33D"/>
          </a:solidFill>
          <a:ln w="12700">
            <a:solidFill>
              <a:srgbClr val="F3B33D"/>
            </a:solidFill>
            <a:prstDash val="solid"/>
          </a:ln>
        </p:spPr>
      </p:sp>
      <p:sp>
        <p:nvSpPr>
          <p:cNvPr id="16" name="Text 14"/>
          <p:cNvSpPr/>
          <p:nvPr/>
        </p:nvSpPr>
        <p:spPr>
          <a:xfrm>
            <a:off x="9829800" y="1463040"/>
            <a:ext cx="1773936"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pitchFamily="34" charset="0"/>
                <a:ea typeface="Noto Sans" pitchFamily="34" charset="-122"/>
                <a:cs typeface="Noto Sans" pitchFamily="34" charset="-120"/>
              </a:rPr>
              <a:t>RISKS / TBD</a:t>
            </a:r>
            <a:endParaRPr lang="en-US" sz="950" dirty="0"/>
          </a:p>
        </p:txBody>
      </p:sp>
      <p:sp>
        <p:nvSpPr>
          <p:cNvPr id="17" name="Shape 15"/>
          <p:cNvSpPr/>
          <p:nvPr/>
        </p:nvSpPr>
        <p:spPr>
          <a:xfrm rot="-60000">
            <a:off x="640080" y="1965960"/>
            <a:ext cx="1737360" cy="804672"/>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18" name="Text 16"/>
          <p:cNvSpPr/>
          <p:nvPr/>
        </p:nvSpPr>
        <p:spPr>
          <a:xfrm rot="-60000">
            <a:off x="758952" y="207568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Waiting time</a:t>
            </a:r>
            <a:endParaRPr lang="en-US" sz="1020" dirty="0"/>
          </a:p>
        </p:txBody>
      </p:sp>
      <p:sp>
        <p:nvSpPr>
          <p:cNvPr id="19" name="Shape 17"/>
          <p:cNvSpPr/>
          <p:nvPr/>
        </p:nvSpPr>
        <p:spPr>
          <a:xfrm rot="60000">
            <a:off x="640080" y="3017520"/>
            <a:ext cx="1737360" cy="804672"/>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20" name="Text 18"/>
          <p:cNvSpPr/>
          <p:nvPr/>
        </p:nvSpPr>
        <p:spPr>
          <a:xfrm rot="60000">
            <a:off x="758952" y="312724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Transport burden</a:t>
            </a:r>
            <a:endParaRPr lang="en-US" sz="1020" dirty="0"/>
          </a:p>
        </p:txBody>
      </p:sp>
      <p:sp>
        <p:nvSpPr>
          <p:cNvPr id="21" name="Shape 19"/>
          <p:cNvSpPr/>
          <p:nvPr/>
        </p:nvSpPr>
        <p:spPr>
          <a:xfrm>
            <a:off x="640080" y="4069080"/>
            <a:ext cx="1737360" cy="804672"/>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22" name="Text 20"/>
          <p:cNvSpPr/>
          <p:nvPr/>
        </p:nvSpPr>
        <p:spPr>
          <a:xfrm>
            <a:off x="758952" y="417880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Follow-up gaps</a:t>
            </a:r>
            <a:endParaRPr lang="en-US" sz="1020" dirty="0"/>
          </a:p>
        </p:txBody>
      </p:sp>
      <p:sp>
        <p:nvSpPr>
          <p:cNvPr id="23" name="Shape 21"/>
          <p:cNvSpPr/>
          <p:nvPr/>
        </p:nvSpPr>
        <p:spPr>
          <a:xfrm rot="-60000">
            <a:off x="640080" y="5120640"/>
            <a:ext cx="1737360" cy="804672"/>
          </a:xfrm>
          <a:prstGeom prst="rect">
            <a:avLst/>
          </a:prstGeom>
          <a:solidFill>
            <a:srgbClr val="FCE1E5"/>
          </a:solidFill>
          <a:ln w="12700">
            <a:solidFill>
              <a:srgbClr val="FCE1E5"/>
            </a:solidFill>
            <a:prstDash val="solid"/>
          </a:ln>
          <a:effectLst>
            <a:outerShdw sx="100000" sy="100000" kx="0" ky="0" algn="bl" rotWithShape="0" blurRad="12700" dist="50800" dir="2700000">
              <a:srgbClr val="8596A0">
                <a:alpha val="15000"/>
              </a:srgbClr>
            </a:outerShdw>
          </a:effectLst>
        </p:spPr>
      </p:sp>
      <p:sp>
        <p:nvSpPr>
          <p:cNvPr id="24" name="Text 22"/>
          <p:cNvSpPr/>
          <p:nvPr/>
        </p:nvSpPr>
        <p:spPr>
          <a:xfrm rot="-60000">
            <a:off x="758952" y="523036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Fragmented data</a:t>
            </a:r>
            <a:endParaRPr lang="en-US" sz="1020" dirty="0"/>
          </a:p>
        </p:txBody>
      </p:sp>
      <p:sp>
        <p:nvSpPr>
          <p:cNvPr id="25" name="Shape 23"/>
          <p:cNvSpPr/>
          <p:nvPr/>
        </p:nvSpPr>
        <p:spPr>
          <a:xfrm rot="60000">
            <a:off x="2944368" y="1965960"/>
            <a:ext cx="1737360" cy="804672"/>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26" name="Text 24"/>
          <p:cNvSpPr/>
          <p:nvPr/>
        </p:nvSpPr>
        <p:spPr>
          <a:xfrm rot="60000">
            <a:off x="3063240" y="207568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Patient</a:t>
            </a:r>
            <a:endParaRPr lang="en-US" sz="1020" dirty="0"/>
          </a:p>
        </p:txBody>
      </p:sp>
      <p:sp>
        <p:nvSpPr>
          <p:cNvPr id="27" name="Shape 25"/>
          <p:cNvSpPr/>
          <p:nvPr/>
        </p:nvSpPr>
        <p:spPr>
          <a:xfrm>
            <a:off x="2944368" y="3017520"/>
            <a:ext cx="1737360" cy="804672"/>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28" name="Text 26"/>
          <p:cNvSpPr/>
          <p:nvPr/>
        </p:nvSpPr>
        <p:spPr>
          <a:xfrm>
            <a:off x="3063240" y="312724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Doctor</a:t>
            </a:r>
            <a:endParaRPr lang="en-US" sz="1020" dirty="0"/>
          </a:p>
        </p:txBody>
      </p:sp>
      <p:sp>
        <p:nvSpPr>
          <p:cNvPr id="29" name="Shape 27"/>
          <p:cNvSpPr/>
          <p:nvPr/>
        </p:nvSpPr>
        <p:spPr>
          <a:xfrm rot="-60000">
            <a:off x="2944368" y="4069080"/>
            <a:ext cx="1737360" cy="804672"/>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30" name="Text 28"/>
          <p:cNvSpPr/>
          <p:nvPr/>
        </p:nvSpPr>
        <p:spPr>
          <a:xfrm rot="-60000">
            <a:off x="3063240" y="417880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Admin</a:t>
            </a:r>
            <a:endParaRPr lang="en-US" sz="1020" dirty="0"/>
          </a:p>
        </p:txBody>
      </p:sp>
      <p:sp>
        <p:nvSpPr>
          <p:cNvPr id="31" name="Shape 29"/>
          <p:cNvSpPr/>
          <p:nvPr/>
        </p:nvSpPr>
        <p:spPr>
          <a:xfrm rot="60000">
            <a:off x="2944368" y="5120640"/>
            <a:ext cx="1737360" cy="804672"/>
          </a:xfrm>
          <a:prstGeom prst="rect">
            <a:avLst/>
          </a:prstGeom>
          <a:solidFill>
            <a:srgbClr val="DDEBFF"/>
          </a:solidFill>
          <a:ln w="12700">
            <a:solidFill>
              <a:srgbClr val="DDEBFF"/>
            </a:solidFill>
            <a:prstDash val="solid"/>
          </a:ln>
          <a:effectLst>
            <a:outerShdw sx="100000" sy="100000" kx="0" ky="0" algn="bl" rotWithShape="0" blurRad="12700" dist="50800" dir="2700000">
              <a:srgbClr val="8596A0">
                <a:alpha val="15000"/>
              </a:srgbClr>
            </a:outerShdw>
          </a:effectLst>
        </p:spPr>
      </p:sp>
      <p:sp>
        <p:nvSpPr>
          <p:cNvPr id="32" name="Text 30"/>
          <p:cNvSpPr/>
          <p:nvPr/>
        </p:nvSpPr>
        <p:spPr>
          <a:xfrm rot="60000">
            <a:off x="3063240" y="523036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Clinic / Hospital</a:t>
            </a:r>
            <a:endParaRPr lang="en-US" sz="1020" dirty="0"/>
          </a:p>
        </p:txBody>
      </p:sp>
      <p:sp>
        <p:nvSpPr>
          <p:cNvPr id="33" name="Shape 31"/>
          <p:cNvSpPr/>
          <p:nvPr/>
        </p:nvSpPr>
        <p:spPr>
          <a:xfrm>
            <a:off x="5257800" y="1965960"/>
            <a:ext cx="1737360" cy="804672"/>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34" name="Text 32"/>
          <p:cNvSpPr/>
          <p:nvPr/>
        </p:nvSpPr>
        <p:spPr>
          <a:xfrm>
            <a:off x="5376672" y="207568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Respiratory module</a:t>
            </a:r>
            <a:endParaRPr lang="en-US" sz="1020" dirty="0"/>
          </a:p>
        </p:txBody>
      </p:sp>
      <p:sp>
        <p:nvSpPr>
          <p:cNvPr id="35" name="Shape 33"/>
          <p:cNvSpPr/>
          <p:nvPr/>
        </p:nvSpPr>
        <p:spPr>
          <a:xfrm rot="-60000">
            <a:off x="5257800" y="3017520"/>
            <a:ext cx="1737360" cy="804672"/>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36" name="Text 34"/>
          <p:cNvSpPr/>
          <p:nvPr/>
        </p:nvSpPr>
        <p:spPr>
          <a:xfrm rot="-60000">
            <a:off x="5376672" y="312724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Doctor review</a:t>
            </a:r>
            <a:endParaRPr lang="en-US" sz="1020" dirty="0"/>
          </a:p>
        </p:txBody>
      </p:sp>
      <p:sp>
        <p:nvSpPr>
          <p:cNvPr id="37" name="Shape 35"/>
          <p:cNvSpPr/>
          <p:nvPr/>
        </p:nvSpPr>
        <p:spPr>
          <a:xfrm rot="60000">
            <a:off x="5257800" y="4069080"/>
            <a:ext cx="1737360" cy="804672"/>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38" name="Text 36"/>
          <p:cNvSpPr/>
          <p:nvPr/>
        </p:nvSpPr>
        <p:spPr>
          <a:xfrm rot="60000">
            <a:off x="5376672" y="417880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PDF report</a:t>
            </a:r>
            <a:endParaRPr lang="en-US" sz="1020" dirty="0"/>
          </a:p>
        </p:txBody>
      </p:sp>
      <p:sp>
        <p:nvSpPr>
          <p:cNvPr id="39" name="Shape 37"/>
          <p:cNvSpPr/>
          <p:nvPr/>
        </p:nvSpPr>
        <p:spPr>
          <a:xfrm>
            <a:off x="5257800" y="5120640"/>
            <a:ext cx="1737360" cy="804672"/>
          </a:xfrm>
          <a:prstGeom prst="rect">
            <a:avLst/>
          </a:prstGeom>
          <a:solidFill>
            <a:srgbClr val="DFF8F0"/>
          </a:solidFill>
          <a:ln w="12700">
            <a:solidFill>
              <a:srgbClr val="DFF8F0"/>
            </a:solidFill>
            <a:prstDash val="solid"/>
          </a:ln>
          <a:effectLst>
            <a:outerShdw sx="100000" sy="100000" kx="0" ky="0" algn="bl" rotWithShape="0" blurRad="12700" dist="50800" dir="2700000">
              <a:srgbClr val="8596A0">
                <a:alpha val="15000"/>
              </a:srgbClr>
            </a:outerShdw>
          </a:effectLst>
        </p:spPr>
      </p:sp>
      <p:sp>
        <p:nvSpPr>
          <p:cNvPr id="40" name="Text 38"/>
          <p:cNvSpPr/>
          <p:nvPr/>
        </p:nvSpPr>
        <p:spPr>
          <a:xfrm>
            <a:off x="5376672" y="523036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History</a:t>
            </a:r>
            <a:endParaRPr lang="en-US" sz="1020" dirty="0"/>
          </a:p>
        </p:txBody>
      </p:sp>
      <p:sp>
        <p:nvSpPr>
          <p:cNvPr id="41" name="Shape 39"/>
          <p:cNvSpPr/>
          <p:nvPr/>
        </p:nvSpPr>
        <p:spPr>
          <a:xfrm rot="-60000">
            <a:off x="7571232" y="1965960"/>
            <a:ext cx="1737360" cy="804672"/>
          </a:xfrm>
          <a:prstGeom prst="rect">
            <a:avLst/>
          </a:prstGeom>
          <a:solidFill>
            <a:srgbClr val="EAF8F2"/>
          </a:solidFill>
          <a:ln w="12700">
            <a:solidFill>
              <a:srgbClr val="EAF8F2"/>
            </a:solidFill>
            <a:prstDash val="solid"/>
          </a:ln>
          <a:effectLst>
            <a:outerShdw sx="100000" sy="100000" kx="0" ky="0" algn="bl" rotWithShape="0" blurRad="12700" dist="50800" dir="2700000">
              <a:srgbClr val="8596A0">
                <a:alpha val="15000"/>
              </a:srgbClr>
            </a:outerShdw>
          </a:effectLst>
        </p:spPr>
      </p:sp>
      <p:sp>
        <p:nvSpPr>
          <p:cNvPr id="42" name="Text 40"/>
          <p:cNvSpPr/>
          <p:nvPr/>
        </p:nvSpPr>
        <p:spPr>
          <a:xfrm rot="-60000">
            <a:off x="7690104" y="207568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Usable UX</a:t>
            </a:r>
            <a:endParaRPr lang="en-US" sz="1020" dirty="0"/>
          </a:p>
        </p:txBody>
      </p:sp>
      <p:sp>
        <p:nvSpPr>
          <p:cNvPr id="43" name="Shape 41"/>
          <p:cNvSpPr/>
          <p:nvPr/>
        </p:nvSpPr>
        <p:spPr>
          <a:xfrm rot="60000">
            <a:off x="7571232" y="3017520"/>
            <a:ext cx="1737360" cy="804672"/>
          </a:xfrm>
          <a:prstGeom prst="rect">
            <a:avLst/>
          </a:prstGeom>
          <a:solidFill>
            <a:srgbClr val="EAF8F2"/>
          </a:solidFill>
          <a:ln w="12700">
            <a:solidFill>
              <a:srgbClr val="EAF8F2"/>
            </a:solidFill>
            <a:prstDash val="solid"/>
          </a:ln>
          <a:effectLst>
            <a:outerShdw sx="100000" sy="100000" kx="0" ky="0" algn="bl" rotWithShape="0" blurRad="12700" dist="50800" dir="2700000">
              <a:srgbClr val="8596A0">
                <a:alpha val="15000"/>
              </a:srgbClr>
            </a:outerShdw>
          </a:effectLst>
        </p:spPr>
      </p:sp>
      <p:sp>
        <p:nvSpPr>
          <p:cNvPr id="44" name="Text 42"/>
          <p:cNvSpPr/>
          <p:nvPr/>
        </p:nvSpPr>
        <p:spPr>
          <a:xfrm rot="60000">
            <a:off x="7690104" y="312724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Validated model</a:t>
            </a:r>
            <a:endParaRPr lang="en-US" sz="1020" dirty="0"/>
          </a:p>
        </p:txBody>
      </p:sp>
      <p:sp>
        <p:nvSpPr>
          <p:cNvPr id="45" name="Shape 43"/>
          <p:cNvSpPr/>
          <p:nvPr/>
        </p:nvSpPr>
        <p:spPr>
          <a:xfrm>
            <a:off x="7571232" y="4069080"/>
            <a:ext cx="1737360" cy="804672"/>
          </a:xfrm>
          <a:prstGeom prst="rect">
            <a:avLst/>
          </a:prstGeom>
          <a:solidFill>
            <a:srgbClr val="EAF8F2"/>
          </a:solidFill>
          <a:ln w="12700">
            <a:solidFill>
              <a:srgbClr val="EAF8F2"/>
            </a:solidFill>
            <a:prstDash val="solid"/>
          </a:ln>
          <a:effectLst>
            <a:outerShdw sx="100000" sy="100000" kx="0" ky="0" algn="bl" rotWithShape="0" blurRad="12700" dist="50800" dir="2700000">
              <a:srgbClr val="8596A0">
                <a:alpha val="15000"/>
              </a:srgbClr>
            </a:outerShdw>
          </a:effectLst>
        </p:spPr>
      </p:sp>
      <p:sp>
        <p:nvSpPr>
          <p:cNvPr id="46" name="Text 44"/>
          <p:cNvSpPr/>
          <p:nvPr/>
        </p:nvSpPr>
        <p:spPr>
          <a:xfrm>
            <a:off x="7690104" y="417880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On-time demo</a:t>
            </a:r>
            <a:endParaRPr lang="en-US" sz="1020" dirty="0"/>
          </a:p>
        </p:txBody>
      </p:sp>
      <p:sp>
        <p:nvSpPr>
          <p:cNvPr id="47" name="Shape 45"/>
          <p:cNvSpPr/>
          <p:nvPr/>
        </p:nvSpPr>
        <p:spPr>
          <a:xfrm rot="-60000">
            <a:off x="7571232" y="5120640"/>
            <a:ext cx="1737360" cy="804672"/>
          </a:xfrm>
          <a:prstGeom prst="rect">
            <a:avLst/>
          </a:prstGeom>
          <a:solidFill>
            <a:srgbClr val="EAF8F2"/>
          </a:solidFill>
          <a:ln w="12700">
            <a:solidFill>
              <a:srgbClr val="EAF8F2"/>
            </a:solidFill>
            <a:prstDash val="solid"/>
          </a:ln>
          <a:effectLst>
            <a:outerShdw sx="100000" sy="100000" kx="0" ky="0" algn="bl" rotWithShape="0" blurRad="12700" dist="50800" dir="2700000">
              <a:srgbClr val="8596A0">
                <a:alpha val="15000"/>
              </a:srgbClr>
            </a:outerShdw>
          </a:effectLst>
        </p:spPr>
      </p:sp>
      <p:sp>
        <p:nvSpPr>
          <p:cNvPr id="48" name="Text 46"/>
          <p:cNvSpPr/>
          <p:nvPr/>
        </p:nvSpPr>
        <p:spPr>
          <a:xfrm rot="-60000">
            <a:off x="7690104" y="523036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Pilot feedback</a:t>
            </a:r>
            <a:endParaRPr lang="en-US" sz="1020" dirty="0"/>
          </a:p>
        </p:txBody>
      </p:sp>
      <p:sp>
        <p:nvSpPr>
          <p:cNvPr id="49" name="Shape 47"/>
          <p:cNvSpPr/>
          <p:nvPr/>
        </p:nvSpPr>
        <p:spPr>
          <a:xfrm rot="60000">
            <a:off x="9875520" y="1965960"/>
            <a:ext cx="1737360" cy="804672"/>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50" name="Text 48"/>
          <p:cNvSpPr/>
          <p:nvPr/>
        </p:nvSpPr>
        <p:spPr>
          <a:xfrm rot="60000">
            <a:off x="9994392" y="207568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Wrong AI result</a:t>
            </a:r>
            <a:endParaRPr lang="en-US" sz="1020" dirty="0"/>
          </a:p>
        </p:txBody>
      </p:sp>
      <p:sp>
        <p:nvSpPr>
          <p:cNvPr id="51" name="Shape 49"/>
          <p:cNvSpPr/>
          <p:nvPr/>
        </p:nvSpPr>
        <p:spPr>
          <a:xfrm>
            <a:off x="9875520" y="3017520"/>
            <a:ext cx="1737360" cy="804672"/>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52" name="Text 50"/>
          <p:cNvSpPr/>
          <p:nvPr/>
        </p:nvSpPr>
        <p:spPr>
          <a:xfrm>
            <a:off x="9994392" y="312724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Medical reviewer?</a:t>
            </a:r>
            <a:endParaRPr lang="en-US" sz="1020" dirty="0"/>
          </a:p>
        </p:txBody>
      </p:sp>
      <p:sp>
        <p:nvSpPr>
          <p:cNvPr id="53" name="Shape 51"/>
          <p:cNvSpPr/>
          <p:nvPr/>
        </p:nvSpPr>
        <p:spPr>
          <a:xfrm rot="-60000">
            <a:off x="9875520" y="4069080"/>
            <a:ext cx="1737360" cy="804672"/>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54" name="Text 52"/>
          <p:cNvSpPr/>
          <p:nvPr/>
        </p:nvSpPr>
        <p:spPr>
          <a:xfrm rot="-60000">
            <a:off x="9994392" y="417880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Production DB?</a:t>
            </a:r>
            <a:endParaRPr lang="en-US" sz="1020" dirty="0"/>
          </a:p>
        </p:txBody>
      </p:sp>
      <p:sp>
        <p:nvSpPr>
          <p:cNvPr id="55" name="Shape 53"/>
          <p:cNvSpPr/>
          <p:nvPr/>
        </p:nvSpPr>
        <p:spPr>
          <a:xfrm rot="60000">
            <a:off x="9875520" y="5120640"/>
            <a:ext cx="1737360" cy="804672"/>
          </a:xfrm>
          <a:prstGeom prst="rect">
            <a:avLst/>
          </a:prstGeom>
          <a:solidFill>
            <a:srgbClr val="FFF0B8"/>
          </a:solidFill>
          <a:ln w="12700">
            <a:solidFill>
              <a:srgbClr val="FFF0B8"/>
            </a:solidFill>
            <a:prstDash val="solid"/>
          </a:ln>
          <a:effectLst>
            <a:outerShdw sx="100000" sy="100000" kx="0" ky="0" algn="bl" rotWithShape="0" blurRad="12700" dist="50800" dir="2700000">
              <a:srgbClr val="8596A0">
                <a:alpha val="15000"/>
              </a:srgbClr>
            </a:outerShdw>
          </a:effectLst>
        </p:spPr>
      </p:sp>
      <p:sp>
        <p:nvSpPr>
          <p:cNvPr id="56" name="Text 54"/>
          <p:cNvSpPr/>
          <p:nvPr/>
        </p:nvSpPr>
        <p:spPr>
          <a:xfrm rot="60000">
            <a:off x="9994392" y="5230368"/>
            <a:ext cx="1499616" cy="585216"/>
          </a:xfrm>
          <a:prstGeom prst="rect">
            <a:avLst/>
          </a:prstGeom>
          <a:noFill/>
          <a:ln/>
        </p:spPr>
        <p:txBody>
          <a:bodyPr wrap="square" lIns="254" tIns="254" rIns="254" bIns="254" rtlCol="0" anchor="ctr">
            <a:normAutofit/>
          </a:bodyPr>
          <a:lstStyle/>
          <a:p>
            <a:pPr algn="ctr" indent="0" marL="0">
              <a:buNone/>
            </a:pPr>
            <a:r>
              <a:rPr lang="en-US" sz="1020" b="1" dirty="0">
                <a:solidFill>
                  <a:srgbClr val="142A37"/>
                </a:solidFill>
                <a:latin typeface="Noto Sans" pitchFamily="34" charset="0"/>
                <a:ea typeface="Noto Sans" pitchFamily="34" charset="-122"/>
                <a:cs typeface="Noto Sans" pitchFamily="34" charset="-120"/>
              </a:rPr>
              <a:t>Exact use case?</a:t>
            </a:r>
            <a:endParaRPr lang="en-US" sz="1020" dirty="0"/>
          </a:p>
        </p:txBody>
      </p:sp>
      <p:sp>
        <p:nvSpPr>
          <p:cNvPr id="57" name="Text 55"/>
          <p:cNvSpPr/>
          <p:nvPr/>
        </p:nvSpPr>
        <p:spPr>
          <a:xfrm>
            <a:off x="960120" y="6053328"/>
            <a:ext cx="10241280" cy="256032"/>
          </a:xfrm>
          <a:prstGeom prst="rect">
            <a:avLst/>
          </a:prstGeom>
          <a:noFill/>
          <a:ln/>
        </p:spPr>
        <p:txBody>
          <a:bodyPr wrap="square" lIns="0" tIns="0" rIns="0" bIns="0" rtlCol="0" anchor="ctr">
            <a:normAutofit/>
          </a:bodyPr>
          <a:lstStyle/>
          <a:p>
            <a:pPr algn="ctr" indent="0" marL="0">
              <a:buNone/>
            </a:pPr>
            <a:r>
              <a:rPr lang="en-US" sz="950" b="1" dirty="0">
                <a:solidFill>
                  <a:srgbClr val="0B3D4B"/>
                </a:solidFill>
                <a:latin typeface="Noto Sans" pitchFamily="34" charset="0"/>
                <a:ea typeface="Noto Sans" pitchFamily="34" charset="-122"/>
                <a:cs typeface="Noto Sans" pitchFamily="34" charset="-120"/>
              </a:rPr>
              <a:t>Workshop rule: do not add a feature unless the team can point to the user problem it solves and define how the MVP will verify that value.</a:t>
            </a:r>
            <a:endParaRPr lang="en-US" sz="950" dirty="0"/>
          </a:p>
        </p:txBody>
      </p:sp>
      <p:sp>
        <p:nvSpPr>
          <p:cNvPr id="25" name="Slide Number Placeholder 0"/>
          <p:cNvSpPr>
            <a:spLocks noGrp="1"/>
          </p:cNvSpPr>
          <p:nvPr>
            <p:ph type="sldNum" sz="quarter" idx="4294967295"/>
          </p:nvPr>
        </p:nvSpPr>
        <p:spPr>
          <a:xfrm>
            <a:off x="11475720" y="6473952"/>
            <a:ext cx="256032"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7A6"/>
                </a:solidFill>
                <a:latin typeface="Noto Sans"/>
                <a:ea typeface="Noto Sans"/>
                <a:cs typeface="Noto Sans"/>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HealthVibe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HealthVibe AI — Product Brainstorm &amp; Alignment</dc:title>
  <dc:subject>HealthVibe AI Product Brainstorm</dc:subject>
  <dc:creator>OpenAI</dc:creator>
  <cp:lastModifiedBy>OpenAI</cp:lastModifiedBy>
  <cp:revision>1</cp:revision>
  <dcterms:created xsi:type="dcterms:W3CDTF">2026-09-19T22:38:51Z</dcterms:created>
  <dcterms:modified xsi:type="dcterms:W3CDTF">2026-09-19T22:38:51Z</dcterms:modified>
</cp:coreProperties>
</file>